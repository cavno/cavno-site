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5" r:id="rId3"/>
    <p:sldId id="257" r:id="rId4"/>
    <p:sldId id="258" r:id="rId5"/>
    <p:sldId id="259" r:id="rId6"/>
    <p:sldId id="260" r:id="rId7"/>
    <p:sldId id="261" r:id="rId8"/>
    <p:sldId id="264" r:id="rId10"/>
    <p:sldId id="262" r:id="rId11"/>
    <p:sldId id="263" r:id="rId12"/>
    <p:sldId id="25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image" Target="../media/image15.png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image" Target="../media/image14.png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image" Target="../media/image18.png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image" Target="../media/image17.png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image" Target="../media/image16.png"/><Relationship Id="rId10" Type="http://schemas.openxmlformats.org/officeDocument/2006/relationships/tags" Target="../tags/tag75.xml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image" Target="../media/image21.png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image" Target="../media/image20.png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9" Type="http://schemas.openxmlformats.org/officeDocument/2006/relationships/tags" Target="../tags/tag94.xml"/><Relationship Id="rId18" Type="http://schemas.openxmlformats.org/officeDocument/2006/relationships/tags" Target="../tags/tag93.xml"/><Relationship Id="rId17" Type="http://schemas.openxmlformats.org/officeDocument/2006/relationships/image" Target="../media/image24.png"/><Relationship Id="rId16" Type="http://schemas.openxmlformats.org/officeDocument/2006/relationships/tags" Target="../tags/tag92.xml"/><Relationship Id="rId15" Type="http://schemas.openxmlformats.org/officeDocument/2006/relationships/tags" Target="../tags/tag91.xml"/><Relationship Id="rId14" Type="http://schemas.openxmlformats.org/officeDocument/2006/relationships/image" Target="../media/image23.png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image" Target="../media/image22.png"/><Relationship Id="rId10" Type="http://schemas.openxmlformats.org/officeDocument/2006/relationships/tags" Target="../tags/tag88.xml"/><Relationship Id="rId1" Type="http://schemas.openxmlformats.org/officeDocument/2006/relationships/tags" Target="../tags/tag8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image" Target="../media/image27.png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image" Target="../media/image26.png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9" Type="http://schemas.openxmlformats.org/officeDocument/2006/relationships/tags" Target="../tags/tag107.xml"/><Relationship Id="rId18" Type="http://schemas.openxmlformats.org/officeDocument/2006/relationships/tags" Target="../tags/tag106.xml"/><Relationship Id="rId17" Type="http://schemas.openxmlformats.org/officeDocument/2006/relationships/image" Target="../media/image30.png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image" Target="../media/image29.png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image" Target="../media/image28.png"/><Relationship Id="rId10" Type="http://schemas.openxmlformats.org/officeDocument/2006/relationships/tags" Target="../tags/tag101.xml"/><Relationship Id="rId1" Type="http://schemas.openxmlformats.org/officeDocument/2006/relationships/tags" Target="../tags/tag9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image" Target="../media/image33.png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image" Target="../media/image32.png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9" Type="http://schemas.openxmlformats.org/officeDocument/2006/relationships/tags" Target="../tags/tag120.xml"/><Relationship Id="rId18" Type="http://schemas.openxmlformats.org/officeDocument/2006/relationships/tags" Target="../tags/tag119.xml"/><Relationship Id="rId17" Type="http://schemas.openxmlformats.org/officeDocument/2006/relationships/image" Target="../media/image36.png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image" Target="../media/image35.png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image" Target="../media/image34.png"/><Relationship Id="rId10" Type="http://schemas.openxmlformats.org/officeDocument/2006/relationships/tags" Target="../tags/tag114.xml"/><Relationship Id="rId1" Type="http://schemas.openxmlformats.org/officeDocument/2006/relationships/tags" Target="../tags/tag10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image" Target="../media/image39.png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image" Target="../media/image38.png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1" Type="http://schemas.openxmlformats.org/officeDocument/2006/relationships/notesSlide" Target="../notesSlides/notesSlide3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9" Type="http://schemas.openxmlformats.org/officeDocument/2006/relationships/tags" Target="../tags/tag133.xml"/><Relationship Id="rId18" Type="http://schemas.openxmlformats.org/officeDocument/2006/relationships/tags" Target="../tags/tag132.xml"/><Relationship Id="rId17" Type="http://schemas.openxmlformats.org/officeDocument/2006/relationships/image" Target="../media/image42.png"/><Relationship Id="rId16" Type="http://schemas.openxmlformats.org/officeDocument/2006/relationships/tags" Target="../tags/tag131.xml"/><Relationship Id="rId15" Type="http://schemas.openxmlformats.org/officeDocument/2006/relationships/tags" Target="../tags/tag130.xml"/><Relationship Id="rId14" Type="http://schemas.openxmlformats.org/officeDocument/2006/relationships/image" Target="../media/image41.png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image" Target="../media/image40.png"/><Relationship Id="rId10" Type="http://schemas.openxmlformats.org/officeDocument/2006/relationships/tags" Target="../tags/tag127.xml"/><Relationship Id="rId1" Type="http://schemas.openxmlformats.org/officeDocument/2006/relationships/tags" Target="../tags/tag12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image" Target="../media/image45.png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image" Target="../media/image44.png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9" Type="http://schemas.openxmlformats.org/officeDocument/2006/relationships/tags" Target="../tags/tag146.xml"/><Relationship Id="rId18" Type="http://schemas.openxmlformats.org/officeDocument/2006/relationships/tags" Target="../tags/tag145.xml"/><Relationship Id="rId17" Type="http://schemas.openxmlformats.org/officeDocument/2006/relationships/image" Target="../media/image48.png"/><Relationship Id="rId16" Type="http://schemas.openxmlformats.org/officeDocument/2006/relationships/tags" Target="../tags/tag144.xml"/><Relationship Id="rId15" Type="http://schemas.openxmlformats.org/officeDocument/2006/relationships/tags" Target="../tags/tag143.xml"/><Relationship Id="rId14" Type="http://schemas.openxmlformats.org/officeDocument/2006/relationships/image" Target="../media/image47.png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image" Target="../media/image46.png"/><Relationship Id="rId10" Type="http://schemas.openxmlformats.org/officeDocument/2006/relationships/tags" Target="../tags/tag140.xml"/><Relationship Id="rId1" Type="http://schemas.openxmlformats.org/officeDocument/2006/relationships/tags" Target="../tags/tag1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52855" y="840105"/>
            <a:ext cx="9799320" cy="1174115"/>
          </a:xfrm>
        </p:spPr>
        <p:txBody>
          <a:bodyPr/>
          <a:p>
            <a:r>
              <a:rPr lang="zh-CN" altLang="en-US"/>
              <a:t>色弱检测图特征记忆法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252855" y="2782570"/>
            <a:ext cx="9799320" cy="3592195"/>
          </a:xfrm>
        </p:spPr>
        <p:txBody>
          <a:bodyPr>
            <a:normAutofit fontScale="25000"/>
          </a:bodyPr>
          <a:p>
            <a:pPr algn="l"/>
            <a:r>
              <a:rPr lang="zh-CN" altLang="en-US" sz="4800"/>
              <a:t>教你高效背诵技巧资料，</a:t>
            </a:r>
            <a:r>
              <a:rPr lang="en-US" altLang="zh-CN" sz="4800"/>
              <a:t>3</a:t>
            </a:r>
            <a:r>
              <a:rPr lang="zh-CN" altLang="en-US" sz="4800"/>
              <a:t>天过考！精华总结版资料全给你！绝非普通电子版色觉图网上资料普通，技巧不全，全靠稀里糊涂的自己摸索，一个月也背不完跟我来，直接背完这共</a:t>
            </a:r>
            <a:r>
              <a:rPr lang="en-US" altLang="zh-CN" sz="4800"/>
              <a:t>48</a:t>
            </a:r>
            <a:r>
              <a:rPr lang="zh-CN" altLang="en-US" sz="4800"/>
              <a:t>张图！</a:t>
            </a:r>
            <a:endParaRPr lang="zh-CN" altLang="en-US" sz="4800"/>
          </a:p>
          <a:p>
            <a:pPr algn="l"/>
            <a:endParaRPr lang="zh-CN" altLang="en-US" sz="4800"/>
          </a:p>
          <a:p>
            <a:pPr algn="l"/>
            <a:r>
              <a:rPr lang="zh-CN" altLang="en-US" sz="4800" b="1"/>
              <a:t>简单</a:t>
            </a:r>
            <a:r>
              <a:rPr lang="en-US" altLang="zh-CN" sz="4800" b="1"/>
              <a:t>18</a:t>
            </a:r>
            <a:r>
              <a:rPr lang="zh-CN" altLang="en-US" sz="4800" b="1"/>
              <a:t>张</a:t>
            </a:r>
            <a:endParaRPr lang="zh-CN" altLang="en-US" sz="4800" b="1"/>
          </a:p>
          <a:p>
            <a:pPr algn="l"/>
            <a:r>
              <a:rPr lang="zh-CN" altLang="en-US" sz="4800" b="1">
                <a:sym typeface="+mn-ea"/>
              </a:rPr>
              <a:t>数字记忆</a:t>
            </a:r>
            <a:r>
              <a:rPr lang="en-US" altLang="zh-CN" sz="4800" b="1">
                <a:sym typeface="+mn-ea"/>
              </a:rPr>
              <a:t>6</a:t>
            </a:r>
            <a:r>
              <a:rPr lang="zh-CN" altLang="en-US" sz="4800" b="1">
                <a:sym typeface="+mn-ea"/>
              </a:rPr>
              <a:t>张</a:t>
            </a:r>
            <a:endParaRPr lang="zh-CN" altLang="en-US" sz="4800" b="1">
              <a:sym typeface="+mn-ea"/>
            </a:endParaRPr>
          </a:p>
          <a:p>
            <a:pPr algn="l"/>
            <a:r>
              <a:rPr lang="zh-CN" altLang="en-US" sz="4800" b="1"/>
              <a:t>特征记忆</a:t>
            </a:r>
            <a:r>
              <a:rPr lang="en-US" altLang="zh-CN" sz="4800" b="1"/>
              <a:t>24</a:t>
            </a:r>
            <a:r>
              <a:rPr lang="zh-CN" altLang="en-US" sz="4800" b="1"/>
              <a:t>张</a:t>
            </a:r>
            <a:endParaRPr lang="zh-CN" altLang="en-US" sz="4800" b="1"/>
          </a:p>
          <a:p>
            <a:pPr algn="l"/>
            <a:endParaRPr lang="zh-CN" altLang="en-US" sz="4800"/>
          </a:p>
          <a:p>
            <a:pPr algn="l"/>
            <a:r>
              <a:rPr lang="zh-CN" altLang="en-US" sz="4800"/>
              <a:t>实测平均</a:t>
            </a:r>
            <a:r>
              <a:rPr lang="en-US" altLang="zh-CN" sz="4800"/>
              <a:t>3</a:t>
            </a:r>
            <a:r>
              <a:rPr lang="zh-CN" altLang="en-US" sz="4800"/>
              <a:t>天实战通过！</a:t>
            </a:r>
            <a:endParaRPr lang="zh-CN" altLang="en-US" sz="4800"/>
          </a:p>
          <a:p>
            <a:pPr algn="l"/>
            <a:endParaRPr lang="zh-CN" altLang="en-US" sz="4800"/>
          </a:p>
          <a:p>
            <a:pPr algn="l"/>
            <a:r>
              <a:rPr lang="zh-CN" altLang="en-US" sz="4800"/>
              <a:t>备注：高清</a:t>
            </a:r>
            <a:r>
              <a:rPr lang="zh-CN" altLang="en-US" sz="4800">
                <a:sym typeface="+mn-ea"/>
              </a:rPr>
              <a:t>色弱检测图</a:t>
            </a:r>
            <a:r>
              <a:rPr lang="en-US" altLang="zh-CN" sz="4800">
                <a:sym typeface="+mn-ea"/>
              </a:rPr>
              <a:t>---</a:t>
            </a:r>
            <a:r>
              <a:rPr lang="zh-CN" altLang="en-US" sz="4800">
                <a:sym typeface="+mn-ea"/>
              </a:rPr>
              <a:t>微信小程序搜索优学色弱背图</a:t>
            </a:r>
            <a:endParaRPr lang="zh-CN" altLang="en-US" sz="4800"/>
          </a:p>
          <a:p>
            <a:pPr algn="l"/>
            <a:endParaRPr lang="zh-CN" altLang="en-US" sz="4800"/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196340" y="1965960"/>
            <a:ext cx="9799320" cy="521335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rmAutofit fontScale="90000"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/>
              <a:t>（第</a:t>
            </a:r>
            <a:r>
              <a:rPr lang="en-US" altLang="zh-CN" sz="2800"/>
              <a:t>6</a:t>
            </a:r>
            <a:r>
              <a:rPr lang="zh-CN" altLang="en-US" sz="2800"/>
              <a:t>套）</a:t>
            </a:r>
            <a:endParaRPr lang="zh-CN" altLang="en-US" sz="2800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微信图片_202507292203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775" y="593725"/>
            <a:ext cx="2452370" cy="1867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1845" y="12705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简单图</a:t>
            </a:r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---</a:t>
            </a:r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直接记</a:t>
            </a:r>
            <a:endParaRPr lang="zh-CN" altLang="en-US" sz="18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1775" y="2650490"/>
            <a:ext cx="226250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</a:rPr>
              <a:t>909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</a:rPr>
              <a:t>，色弱可直接看到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</a:rPr>
              <a:t>909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7" name="图片 6" descr="微信图片_202507292208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593725"/>
            <a:ext cx="2510790" cy="18916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709160" y="2650490"/>
            <a:ext cx="271462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</a:rPr>
              <a:t>29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</a:rPr>
              <a:t>，看黑色部分，色弱可直接看到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</a:rPr>
              <a:t>29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9" name="图片 8" descr="微信图片_202507292210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160" y="593725"/>
            <a:ext cx="2482850" cy="189103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773160" y="2650405"/>
            <a:ext cx="4064000" cy="24511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</a:rPr>
              <a:t>答案：熊猫，色弱可直接看到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</a:rPr>
              <a:t>熊猫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1" name="图片 10" descr="微信图片_202507292219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312160"/>
            <a:ext cx="2517140" cy="192976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709160" y="5428615"/>
            <a:ext cx="271462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</a:rPr>
              <a:t>答案：三角形和圆形，看黑色部分，色弱可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直接看到三角形和圆形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 descr="微信图片_202507292222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3160" y="3312160"/>
            <a:ext cx="2559050" cy="195770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773160" y="5428615"/>
            <a:ext cx="271462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</a:rPr>
              <a:t>答案：燕子，看黑色部分，色弱可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直接看到燕子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5" name="图片 14" descr="微信图片_202507292224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775" y="3312160"/>
            <a:ext cx="2542540" cy="19297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31775" y="5428615"/>
            <a:ext cx="271462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</a:rPr>
              <a:t>答案：两个五角星，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色弱可直接看到两个五角星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:/Users/Mayn/Desktop/微信图片_20250729222807.png微信图片_20250729222807"/>
          <p:cNvPicPr>
            <a:picLocks noChangeAspect="1"/>
          </p:cNvPicPr>
          <p:nvPr/>
        </p:nvPicPr>
        <p:blipFill>
          <a:blip r:embed="rId1"/>
          <a:srcRect t="13" b="13"/>
          <a:stretch>
            <a:fillRect/>
          </a:stretch>
        </p:blipFill>
        <p:spPr>
          <a:xfrm>
            <a:off x="231775" y="593725"/>
            <a:ext cx="2452370" cy="1867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1845" y="12705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简单图</a:t>
            </a:r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---</a:t>
            </a:r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直接记</a:t>
            </a:r>
            <a:endParaRPr lang="zh-CN" altLang="en-US" sz="18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1775" y="2650490"/>
            <a:ext cx="226250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</a:rPr>
              <a:t>答案：红色，色弱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</a:rPr>
              <a:t>直接可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</a:rPr>
              <a:t>分辨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7" name="图片 6" descr="C:/Users/Mayn/Desktop/微信图片_20250729222813.png微信图片_20250729222813"/>
          <p:cNvPicPr>
            <a:picLocks noChangeAspect="1"/>
          </p:cNvPicPr>
          <p:nvPr/>
        </p:nvPicPr>
        <p:blipFill>
          <a:blip r:embed="rId2"/>
          <a:srcRect t="430" b="430"/>
          <a:stretch>
            <a:fillRect/>
          </a:stretch>
        </p:blipFill>
        <p:spPr>
          <a:xfrm>
            <a:off x="4709160" y="593725"/>
            <a:ext cx="2510790" cy="18916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709160" y="2650490"/>
            <a:ext cx="271462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黄色，色弱直接可分辨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9" name="图片 8" descr="C:/Users/Mayn/Desktop/微信图片_20250729222818.png微信图片_20250729222818"/>
          <p:cNvPicPr>
            <a:picLocks noChangeAspect="1"/>
          </p:cNvPicPr>
          <p:nvPr/>
        </p:nvPicPr>
        <p:blipFill>
          <a:blip r:embed="rId3"/>
          <a:srcRect l="67" r="67"/>
          <a:stretch>
            <a:fillRect/>
          </a:stretch>
        </p:blipFill>
        <p:spPr>
          <a:xfrm>
            <a:off x="8773160" y="593725"/>
            <a:ext cx="2482850" cy="189103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773160" y="2650405"/>
            <a:ext cx="4064000" cy="24511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蓝色，色弱直接可分辨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1" name="图片 10" descr="C:/Users/Mayn/Desktop/微信图片_20250729222828.png微信图片_20250729222828"/>
          <p:cNvPicPr>
            <a:picLocks noChangeAspect="1"/>
          </p:cNvPicPr>
          <p:nvPr/>
        </p:nvPicPr>
        <p:blipFill>
          <a:blip r:embed="rId4"/>
          <a:srcRect l="395" r="395"/>
          <a:stretch>
            <a:fillRect/>
          </a:stretch>
        </p:blipFill>
        <p:spPr>
          <a:xfrm>
            <a:off x="4709160" y="3312160"/>
            <a:ext cx="2517140" cy="192976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709160" y="5428615"/>
            <a:ext cx="271462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紫色，色弱直接可分辨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 descr="C:/Users/Mayn/Desktop/微信图片_20250729223154.png微信图片_20250729223154"/>
          <p:cNvPicPr>
            <a:picLocks noChangeAspect="1"/>
          </p:cNvPicPr>
          <p:nvPr/>
        </p:nvPicPr>
        <p:blipFill>
          <a:blip r:embed="rId5"/>
          <a:srcRect t="50" b="50"/>
          <a:stretch>
            <a:fillRect/>
          </a:stretch>
        </p:blipFill>
        <p:spPr>
          <a:xfrm>
            <a:off x="8773160" y="3312160"/>
            <a:ext cx="2559050" cy="195770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773160" y="5428615"/>
            <a:ext cx="271462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</a:rPr>
              <a:t>86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</a:rPr>
              <a:t>，看黑色部分，色弱可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直接看到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86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，不要被红色的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9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所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迷惑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5" name="图片 14" descr="C:/Users/Mayn/Desktop/微信图片_20250729222823.png微信图片_20250729222823"/>
          <p:cNvPicPr>
            <a:picLocks noChangeAspect="1"/>
          </p:cNvPicPr>
          <p:nvPr/>
        </p:nvPicPr>
        <p:blipFill>
          <a:blip r:embed="rId6"/>
          <a:srcRect t="175" b="175"/>
          <a:stretch>
            <a:fillRect/>
          </a:stretch>
        </p:blipFill>
        <p:spPr>
          <a:xfrm>
            <a:off x="231775" y="3312160"/>
            <a:ext cx="2542540" cy="19297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31775" y="5428615"/>
            <a:ext cx="271462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绿色，色弱直接可分辨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:/Users/Mayn/Desktop/微信图片_20250729223329.png微信图片_2025072922332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21" r="221"/>
          <a:stretch>
            <a:fillRect/>
          </a:stretch>
        </p:blipFill>
        <p:spPr>
          <a:xfrm>
            <a:off x="231775" y="593725"/>
            <a:ext cx="2452370" cy="1867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1845" y="12705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简单图</a:t>
            </a:r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---</a:t>
            </a:r>
            <a:r>
              <a:rPr lang="zh-CN" altLang="en-US" sz="1800" b="1">
                <a:latin typeface="Arial" panose="020B0604020202020204" pitchFamily="34" charset="0"/>
                <a:ea typeface="微软雅黑" panose="020B0503020204020204" charset="-122"/>
              </a:rPr>
              <a:t>直接记</a:t>
            </a:r>
            <a:endParaRPr lang="zh-CN" altLang="en-US" sz="18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31775" y="2650490"/>
            <a:ext cx="226250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答案：壶，看绿色部分，色弱可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直接看到壶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7" name="图片 6" descr="C:/Users/Mayn/Desktop/微信图片_20250729223600.png微信图片_2025072922360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379" b="379"/>
          <a:stretch>
            <a:fillRect/>
          </a:stretch>
        </p:blipFill>
        <p:spPr>
          <a:xfrm>
            <a:off x="4709160" y="593725"/>
            <a:ext cx="2510790" cy="189166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4709160" y="2650490"/>
            <a:ext cx="271462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21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，色弱可直接看到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21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9" name="图片 8" descr="C:/Users/Mayn/Desktop/微信图片_20250729223605.png微信图片_2025072922360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217" b="217"/>
          <a:stretch>
            <a:fillRect/>
          </a:stretch>
        </p:blipFill>
        <p:spPr>
          <a:xfrm>
            <a:off x="8773160" y="593725"/>
            <a:ext cx="2482850" cy="18910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773160" y="2650405"/>
            <a:ext cx="4064000" cy="24511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52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，色弱可直接看到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52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1" name="图片 10" descr="C:/Users/Mayn/Desktop/微信图片_20250729223613.png微信图片_2025072922361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280" r="280"/>
          <a:stretch>
            <a:fillRect/>
          </a:stretch>
        </p:blipFill>
        <p:spPr>
          <a:xfrm>
            <a:off x="4709160" y="3312160"/>
            <a:ext cx="2517140" cy="192976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4709160" y="5428615"/>
            <a:ext cx="271462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答案：两个圆，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色弱直接可分辨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 descr="C:/Users/Mayn/Desktop/微信图片_20250729223617.png微信图片_20250729223617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l="616" r="616"/>
          <a:stretch>
            <a:fillRect/>
          </a:stretch>
        </p:blipFill>
        <p:spPr>
          <a:xfrm>
            <a:off x="8773160" y="3312160"/>
            <a:ext cx="2559050" cy="195770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5"/>
            </p:custDataLst>
          </p:nvPr>
        </p:nvSpPr>
        <p:spPr>
          <a:xfrm>
            <a:off x="8773160" y="5428615"/>
            <a:ext cx="271462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</a:rPr>
              <a:t>答案：正方形和圆形，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色弱直接可分辨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5" name="图片 14" descr="C:/Users/Mayn/Desktop/微信图片_20250729223610.png微信图片_2025072922361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t="649" b="649"/>
          <a:stretch>
            <a:fillRect/>
          </a:stretch>
        </p:blipFill>
        <p:spPr>
          <a:xfrm>
            <a:off x="231775" y="3312160"/>
            <a:ext cx="2542540" cy="192976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231775" y="5428615"/>
            <a:ext cx="271462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69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，色弱可直接看到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69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:/Users/Mayn/Desktop/微信图片_20250729224327.png微信图片_2025072922432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21" r="221"/>
          <a:stretch>
            <a:fillRect/>
          </a:stretch>
        </p:blipFill>
        <p:spPr>
          <a:xfrm>
            <a:off x="231775" y="593725"/>
            <a:ext cx="2452370" cy="1867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1845" y="12705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b="1">
                <a:sym typeface="+mn-ea"/>
              </a:rPr>
              <a:t>数字记忆</a:t>
            </a:r>
            <a:r>
              <a:rPr lang="en-US" altLang="zh-CN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---</a:t>
            </a:r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记特定</a:t>
            </a:r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数字</a:t>
            </a:r>
            <a:endParaRPr lang="zh-CN" altLang="en-US" b="1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31775" y="2650490"/>
            <a:ext cx="226250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88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，色弱的人看到的是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66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看到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66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记成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88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就行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7" name="图片 6" descr="C:/Users/Mayn/Desktop/微信图片_20250729224943.png微信图片_2025072922494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594" b="594"/>
          <a:stretch>
            <a:fillRect/>
          </a:stretch>
        </p:blipFill>
        <p:spPr>
          <a:xfrm>
            <a:off x="4709160" y="593725"/>
            <a:ext cx="2510790" cy="189166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4709160" y="2650490"/>
            <a:ext cx="271462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162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，看到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就看蓝色框框部分，如果有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个红色就是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162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9" name="图片 8" descr="C:/Users/Mayn/Desktop/微信图片_20250729224949.png微信图片_2025072922494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217" b="217"/>
          <a:stretch>
            <a:fillRect/>
          </a:stretch>
        </p:blipFill>
        <p:spPr>
          <a:xfrm>
            <a:off x="8773160" y="593725"/>
            <a:ext cx="2482850" cy="18910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773160" y="2651125"/>
            <a:ext cx="2482215" cy="3981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268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看到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就看蓝色框框部分，如果有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个红色就是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268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图片 10" descr="C:/Users/Mayn/Desktop/微信图片_20250729224354.png微信图片_2025072922435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2336" r="2336"/>
          <a:stretch>
            <a:fillRect/>
          </a:stretch>
        </p:blipFill>
        <p:spPr>
          <a:xfrm>
            <a:off x="4709160" y="3312160"/>
            <a:ext cx="2517140" cy="192976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4709160" y="5428615"/>
            <a:ext cx="271462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602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，色弱的人看到的是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98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，看到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98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记成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602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就行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 descr="C:/Users/Mayn/Desktop/微信图片_20250729224401.png微信图片_2025072922440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t="1117" b="1117"/>
          <a:stretch>
            <a:fillRect/>
          </a:stretch>
        </p:blipFill>
        <p:spPr>
          <a:xfrm>
            <a:off x="8773160" y="3312160"/>
            <a:ext cx="2559050" cy="195770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5"/>
            </p:custDataLst>
          </p:nvPr>
        </p:nvSpPr>
        <p:spPr>
          <a:xfrm>
            <a:off x="8773160" y="5428615"/>
            <a:ext cx="271462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985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，色弱的人看到的是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8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，看到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8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记成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985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就行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5" name="图片 14" descr="C:/Users/Mayn/Desktop/微信图片_20250729224348.png微信图片_20250729224348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t="175" b="175"/>
          <a:stretch>
            <a:fillRect/>
          </a:stretch>
        </p:blipFill>
        <p:spPr>
          <a:xfrm>
            <a:off x="231775" y="3312160"/>
            <a:ext cx="2542540" cy="192976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231775" y="5428615"/>
            <a:ext cx="271462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56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，色弱的人看到的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，看到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记成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56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就行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:/Users/Mayn/Desktop/微信图片_20250730112916.png微信图片_202507301129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754" r="2754"/>
          <a:stretch>
            <a:fillRect/>
          </a:stretch>
        </p:blipFill>
        <p:spPr>
          <a:xfrm>
            <a:off x="231775" y="593725"/>
            <a:ext cx="2452370" cy="1867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1845" y="127055"/>
            <a:ext cx="4064000" cy="64516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b="1">
                <a:sym typeface="+mn-ea"/>
              </a:rPr>
              <a:t>特征记忆</a:t>
            </a:r>
            <a:r>
              <a:rPr lang="en-US" altLang="zh-CN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---</a:t>
            </a:r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记特殊图案</a:t>
            </a:r>
            <a:endParaRPr lang="zh-CN" altLang="en-US" b="1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31775" y="2572385"/>
            <a:ext cx="2262505" cy="553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答案：牛，色弱的人看到的是鸡，看到鸡的图有两张，鸡头离顶部较远的图是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牛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7" name="图片 6" descr="C:/Users/Mayn/Desktop/微信图片_20250730112926.png微信图片_2025073011292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4381" r="4381"/>
          <a:stretch>
            <a:fillRect/>
          </a:stretch>
        </p:blipFill>
        <p:spPr>
          <a:xfrm>
            <a:off x="4709160" y="593725"/>
            <a:ext cx="2510790" cy="189166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4709160" y="2650490"/>
            <a:ext cx="271462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答案：羊，色弱的人看到的是鸡，看到鸡的图有两张，鸡头离顶部较近的图是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羊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9" name="图片 8" descr="C:/Users/Mayn/Desktop/微信图片_20250730113652.png微信图片_2025073011365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102" b="102"/>
          <a:stretch>
            <a:fillRect/>
          </a:stretch>
        </p:blipFill>
        <p:spPr>
          <a:xfrm>
            <a:off x="8773160" y="593725"/>
            <a:ext cx="2482850" cy="18910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773160" y="2651125"/>
            <a:ext cx="2482215" cy="3981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答案：圆和剪刀，色弱的人只看得到圆，剪刀比较模糊，当看到蓝色的圆就记成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圆和剪刀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就行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图片 10" descr="C:/Users/Mayn/Desktop/微信图片_20250730115733.png微信图片_2025073011573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2484" r="2484"/>
          <a:stretch>
            <a:fillRect/>
          </a:stretch>
        </p:blipFill>
        <p:spPr>
          <a:xfrm>
            <a:off x="4709160" y="3312160"/>
            <a:ext cx="2517140" cy="192976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4709160" y="5428615"/>
            <a:ext cx="2714625" cy="70675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899/022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，色弱的人能看到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个不同的区域，代表这有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个数字，这样的图有两张，看蓝色框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个区域交接地方，横线为不连续直线为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899/022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3" name="图片 12" descr="C:/Users/Mayn/Desktop/微信图片_20250730122755.png微信图片_2025073012275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l="827" r="827"/>
          <a:stretch>
            <a:fillRect/>
          </a:stretch>
        </p:blipFill>
        <p:spPr>
          <a:xfrm>
            <a:off x="8773160" y="3312160"/>
            <a:ext cx="2559050" cy="195770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5"/>
            </p:custDataLst>
          </p:nvPr>
        </p:nvSpPr>
        <p:spPr>
          <a:xfrm>
            <a:off x="8773160" y="5428615"/>
            <a:ext cx="2714625" cy="553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0/9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，色弱的人能看到图片被一条斜线分为左右两部分，只有看到被斜线分为两部分的图，就是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0/9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5" name="图片 14" descr="C:/Users/Mayn/Desktop/微信图片_20250730115539.png微信图片_20250730115539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l="609" r="609"/>
          <a:stretch>
            <a:fillRect/>
          </a:stretch>
        </p:blipFill>
        <p:spPr>
          <a:xfrm>
            <a:off x="231775" y="3312160"/>
            <a:ext cx="2542540" cy="192976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231775" y="5428615"/>
            <a:ext cx="2714625" cy="70675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621/989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，色弱的人能看到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个不同的区域，代表这有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个数字，这样的图有两张，看蓝色框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个区域交接地方，横线为连续直线为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621/989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:/Users/Mayn/Desktop/微信图片_20250801110602.png微信图片_2025080111060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459" r="459"/>
          <a:stretch>
            <a:fillRect/>
          </a:stretch>
        </p:blipFill>
        <p:spPr>
          <a:xfrm>
            <a:off x="231775" y="593725"/>
            <a:ext cx="2452370" cy="1867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1845" y="12705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b="1">
                <a:sym typeface="+mn-ea"/>
              </a:rPr>
              <a:t>特征记忆</a:t>
            </a:r>
            <a:r>
              <a:rPr lang="en-US" altLang="zh-CN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---</a:t>
            </a:r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记特定位置（左</a:t>
            </a:r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上角）</a:t>
            </a:r>
            <a:endParaRPr lang="zh-CN" altLang="en-US" b="1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31775" y="2572385"/>
            <a:ext cx="2262505" cy="553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69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，色弱的人看不到任何的数字，记住左上角出现一个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小绿色的等腰三角形，就是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69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7" name="图片 6" descr="C:/Users/Mayn/Desktop/微信图片_20250801111359.png微信图片_2025080111135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69" r="369"/>
          <a:stretch>
            <a:fillRect/>
          </a:stretch>
        </p:blipFill>
        <p:spPr>
          <a:xfrm>
            <a:off x="4709160" y="593725"/>
            <a:ext cx="2510790" cy="189166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4709160" y="2650490"/>
            <a:ext cx="271462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60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，色弱的人看不到任何的数字，记住左上角出现一个黄色的大四边形，就是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60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9" name="图片 8" descr="C:/Users/Mayn/Desktop/微信图片_20250801120109.png微信图片_2025080112010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294" b="294"/>
          <a:stretch>
            <a:fillRect/>
          </a:stretch>
        </p:blipFill>
        <p:spPr>
          <a:xfrm>
            <a:off x="8773160" y="593725"/>
            <a:ext cx="2482850" cy="18910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773160" y="2651125"/>
            <a:ext cx="2482215" cy="3981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522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，色弱的人看不到任何的数字，记住左上角出现一个锥形，就是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522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图片 10" descr="C:/Users/Mayn/Desktop/微信图片_20250801112131.png微信图片_2025080111213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3126" r="3126"/>
          <a:stretch>
            <a:fillRect/>
          </a:stretch>
        </p:blipFill>
        <p:spPr>
          <a:xfrm>
            <a:off x="4709160" y="3312160"/>
            <a:ext cx="2517140" cy="192976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4709160" y="5428615"/>
            <a:ext cx="2714625" cy="553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916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，色弱的人看不到任何的数字，记住左上角出现两个绿色的三角形（一个大的一个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小的），就是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916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3" name="图片 12" descr="C:/Users/Mayn/Desktop/微信图片_20250804105202.png微信图片_2025080410520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t="186" b="186"/>
          <a:stretch>
            <a:fillRect/>
          </a:stretch>
        </p:blipFill>
        <p:spPr>
          <a:xfrm>
            <a:off x="8773160" y="3312160"/>
            <a:ext cx="2559050" cy="195770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5"/>
            </p:custDataLst>
          </p:nvPr>
        </p:nvSpPr>
        <p:spPr>
          <a:xfrm>
            <a:off x="8773160" y="5428615"/>
            <a:ext cx="2714625" cy="553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8609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，色弱的人看不到任何的数字，记住左上角有两个像叉子一样的图案，如蓝色框框所示，记成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8609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5" name="图片 14" descr="C:/Users/Mayn/Desktop/微信图片_20250801112131.png微信图片_2025080111213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l="2994" r="2994"/>
          <a:stretch>
            <a:fillRect/>
          </a:stretch>
        </p:blipFill>
        <p:spPr>
          <a:xfrm>
            <a:off x="231775" y="3312160"/>
            <a:ext cx="2542540" cy="192976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231775" y="5428615"/>
            <a:ext cx="2714625" cy="553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825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，色弱的人看不到任何的数字，记住左上角出现一个大的绿色的三角形，就是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825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:/Users/Mayn/Desktop/微信图片_20250801145828.png微信图片_202508011458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816" b="816"/>
          <a:stretch>
            <a:fillRect/>
          </a:stretch>
        </p:blipFill>
        <p:spPr>
          <a:xfrm>
            <a:off x="231775" y="593725"/>
            <a:ext cx="2452370" cy="1867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1845" y="12705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b="1">
                <a:sym typeface="+mn-ea"/>
              </a:rPr>
              <a:t>特征记忆</a:t>
            </a:r>
            <a:r>
              <a:rPr lang="en-US" altLang="zh-CN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---</a:t>
            </a:r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记特定位置（左上角）</a:t>
            </a:r>
            <a:endParaRPr lang="zh-CN" altLang="en-US" sz="18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31775" y="2572385"/>
            <a:ext cx="2262505" cy="553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6289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，色弱的人看不到任何的数字，记住左上边有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个绿色的三角形，就是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6289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7" name="图片 6" descr="C:/Users/Mayn/Desktop/微信图片_20250801150453.png微信图片_2025080115045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1340" b="1340"/>
          <a:stretch>
            <a:fillRect/>
          </a:stretch>
        </p:blipFill>
        <p:spPr>
          <a:xfrm>
            <a:off x="4709160" y="593725"/>
            <a:ext cx="2510790" cy="189166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4709160" y="2650490"/>
            <a:ext cx="271462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6098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色弱的人看不到任何的数字，记住左上边有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个绿色的三角形，就是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6098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9" name="图片 8" descr="C:/Users/Mayn/Desktop/微信图片_20250801150704.png微信图片_2025080115070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192" b="192"/>
          <a:stretch>
            <a:fillRect/>
          </a:stretch>
        </p:blipFill>
        <p:spPr>
          <a:xfrm>
            <a:off x="8773160" y="593725"/>
            <a:ext cx="2482850" cy="18910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849995" y="2651125"/>
            <a:ext cx="2482215" cy="3981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2901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，色弱的人看不到任何的数字，记住左上边有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个蓝色的三角形，就是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2901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图片 10" descr="C:/Users/Mayn/Desktop/微信图片_20250801163133.png微信图片_2025080116313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1185" r="1185"/>
          <a:stretch>
            <a:fillRect/>
          </a:stretch>
        </p:blipFill>
        <p:spPr>
          <a:xfrm>
            <a:off x="4709160" y="3312160"/>
            <a:ext cx="2517140" cy="192976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4709160" y="5428615"/>
            <a:ext cx="2714625" cy="70675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答案：三角形和正方形，色弱的人看的到左右两部分颜色不太一样，当这种情况可以看右边绿色的横线是完整的，没有断开，这种情况就是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三角形和正方形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3" name="图片 12" descr="C:/Users/Mayn/Desktop/微信图片_20250801163402.png微信图片_2025080116340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t="372" b="372"/>
          <a:stretch>
            <a:fillRect/>
          </a:stretch>
        </p:blipFill>
        <p:spPr>
          <a:xfrm>
            <a:off x="8773160" y="3312160"/>
            <a:ext cx="2559050" cy="195770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5"/>
            </p:custDataLst>
          </p:nvPr>
        </p:nvSpPr>
        <p:spPr>
          <a:xfrm>
            <a:off x="8773160" y="5428615"/>
            <a:ext cx="2714625" cy="553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58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，色弱的人看的到左右两部分颜色不太一样，当这种情况可以看右边绿色的横线是不完整的，有断开，这种情况就是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58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5" name="图片 14" descr="C:/Users/Mayn/Desktop/微信图片_20250804151016.png微信图片_2025080415101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l="987" r="987"/>
          <a:stretch>
            <a:fillRect/>
          </a:stretch>
        </p:blipFill>
        <p:spPr>
          <a:xfrm>
            <a:off x="231775" y="3312160"/>
            <a:ext cx="2542540" cy="192976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231775" y="5428615"/>
            <a:ext cx="271462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答案：鹅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，色弱的人看不到任何的数字，记住左上边有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个浅绿色的三角形，就是鹅</a:t>
            </a:r>
            <a:endParaRPr lang="en-US" altLang="zh-CN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:/Users/Mayn/Desktop/微信图片_20250801160117.png微信图片_202508011601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094" r="3094"/>
          <a:stretch>
            <a:fillRect/>
          </a:stretch>
        </p:blipFill>
        <p:spPr>
          <a:xfrm>
            <a:off x="231775" y="593725"/>
            <a:ext cx="2452370" cy="1867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1845" y="12705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b="1">
                <a:sym typeface="+mn-ea"/>
              </a:rPr>
              <a:t>特征记忆</a:t>
            </a:r>
            <a:r>
              <a:rPr lang="en-US" altLang="zh-CN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---</a:t>
            </a:r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记特定位置（中心</a:t>
            </a:r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位置）</a:t>
            </a:r>
            <a:endParaRPr lang="zh-CN" altLang="en-US" sz="18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31775" y="2572385"/>
            <a:ext cx="2262505" cy="553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答案：蜻蜓，看到图片中心红色周围是粉色，那就是蜻蜓，色弱的人认真看也看得出来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7" name="图片 6" descr="C:/Users/Mayn/Desktop/微信图片_20250801160924.png微信图片_2025080116092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430" b="430"/>
          <a:stretch>
            <a:fillRect/>
          </a:stretch>
        </p:blipFill>
        <p:spPr>
          <a:xfrm>
            <a:off x="4709160" y="593725"/>
            <a:ext cx="2510790" cy="189166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4709160" y="2650490"/>
            <a:ext cx="2714625" cy="553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答案：金鱼，看到图片中心红色周围是亮绿色，那就是金鱼，色弱的人认真看也看得出来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9" name="图片 8" descr="C:/Users/Mayn/Desktop/微信图片_20250801161301.png微信图片_2025080116130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422" b="422"/>
          <a:stretch>
            <a:fillRect/>
          </a:stretch>
        </p:blipFill>
        <p:spPr>
          <a:xfrm>
            <a:off x="8773160" y="593725"/>
            <a:ext cx="2482850" cy="18910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849995" y="2651125"/>
            <a:ext cx="2482215" cy="3981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答案：兔子，色弱的人看不出来是兔子，但我们能看到一个尖尖的兔耳朵，记住这个尖尖的部分，就是兔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图片 10" descr="C:/Users/Mayn/Desktop/微信图片_20250804111634.png微信图片_2025080411163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494" r="494"/>
          <a:stretch>
            <a:fillRect/>
          </a:stretch>
        </p:blipFill>
        <p:spPr>
          <a:xfrm>
            <a:off x="4709160" y="3312160"/>
            <a:ext cx="2517140" cy="192976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4709160" y="5428615"/>
            <a:ext cx="2714625" cy="553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628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，色弱的人看不到任何的数字，记住右上角有个像回旋镖一样的图案，如蓝色框框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所示，记成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628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3" name="图片 12" descr="C:/Users/Mayn/Desktop/微信图片_20250801154436.png微信图片_2025080115443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l="568" r="568"/>
          <a:stretch>
            <a:fillRect/>
          </a:stretch>
        </p:blipFill>
        <p:spPr>
          <a:xfrm>
            <a:off x="8773160" y="3312160"/>
            <a:ext cx="2559050" cy="195770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5"/>
            </p:custDataLst>
          </p:nvPr>
        </p:nvSpPr>
        <p:spPr>
          <a:xfrm>
            <a:off x="8773160" y="5428615"/>
            <a:ext cx="2714625" cy="553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答案：一个圆，色弱的人也能隐约看到一个红色的圆，如果看到图片中有很多处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个红色连在一起，就是圆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5" name="图片 14" descr="C:/Users/Mayn/Desktop/微信图片_20250801162339.png微信图片_20250801162339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t="50" b="50"/>
          <a:stretch>
            <a:fillRect/>
          </a:stretch>
        </p:blipFill>
        <p:spPr>
          <a:xfrm>
            <a:off x="231775" y="3312160"/>
            <a:ext cx="2542540" cy="192976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231775" y="5428615"/>
            <a:ext cx="271462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答案：蝴蝶，色弱的人看不出来是蝴蝶，但我们能看到蝴蝶的头，</a:t>
            </a:r>
            <a:r>
              <a:rPr lang="en-US" altLang="zh-CN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0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个红色像一个叉子</a:t>
            </a:r>
            <a:endParaRPr lang="zh-CN" altLang="en-US" sz="10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198880" y="884555"/>
            <a:ext cx="9799320" cy="4658995"/>
          </a:xfrm>
        </p:spPr>
        <p:txBody>
          <a:bodyPr>
            <a:normAutofit/>
          </a:bodyPr>
          <a:p>
            <a:pPr algn="l"/>
            <a:r>
              <a:rPr lang="zh-CN" altLang="en-US" sz="1800"/>
              <a:t>注意事项：</a:t>
            </a:r>
            <a:endParaRPr lang="zh-CN" altLang="en-US" sz="1800"/>
          </a:p>
          <a:p>
            <a:pPr algn="l"/>
            <a:endParaRPr lang="en-US" altLang="zh-CN" sz="1200"/>
          </a:p>
          <a:p>
            <a:pPr algn="l"/>
            <a:r>
              <a:rPr lang="en-US" altLang="zh-CN" sz="1200"/>
              <a:t>1.</a:t>
            </a:r>
            <a:r>
              <a:rPr lang="zh-CN" altLang="en-US" sz="1200">
                <a:sym typeface="+mn-ea"/>
              </a:rPr>
              <a:t>高清</a:t>
            </a:r>
            <a:r>
              <a:rPr lang="zh-CN" altLang="en-US" sz="1200">
                <a:sym typeface="+mn-ea"/>
              </a:rPr>
              <a:t>色弱检测图可以在微信小程序（优学色弱背图）查看；</a:t>
            </a:r>
            <a:endParaRPr lang="zh-CN" altLang="en-US" sz="1200">
              <a:sym typeface="+mn-ea"/>
            </a:endParaRPr>
          </a:p>
          <a:p>
            <a:pPr algn="l"/>
            <a:br>
              <a:rPr lang="zh-CN" altLang="en-US" sz="1200">
                <a:sym typeface="+mn-ea"/>
              </a:rPr>
            </a:br>
            <a:r>
              <a:rPr lang="en-US" altLang="zh-CN" sz="1200">
                <a:sym typeface="+mn-ea"/>
              </a:rPr>
              <a:t>2.</a:t>
            </a:r>
            <a:r>
              <a:rPr lang="zh-CN" altLang="en-US" sz="1200">
                <a:sym typeface="+mn-ea"/>
              </a:rPr>
              <a:t>在小程序看图时可以左右拖动调整透明度查看，可以提高色色彩辨识度；</a:t>
            </a:r>
            <a:endParaRPr lang="zh-CN" altLang="en-US" sz="1200">
              <a:sym typeface="+mn-ea"/>
            </a:endParaRPr>
          </a:p>
          <a:p>
            <a:pPr algn="l"/>
            <a:br>
              <a:rPr lang="zh-CN" altLang="en-US" sz="1200">
                <a:sym typeface="+mn-ea"/>
              </a:rPr>
            </a:br>
            <a:r>
              <a:rPr lang="en-US" altLang="zh-CN" sz="1200">
                <a:sym typeface="+mn-ea"/>
              </a:rPr>
              <a:t>3.</a:t>
            </a:r>
            <a:r>
              <a:rPr lang="zh-CN" altLang="en-US" sz="1200">
                <a:sym typeface="+mn-ea"/>
              </a:rPr>
              <a:t>医院体检时，医生可能回把图片反过来让你查看，比如背图是</a:t>
            </a:r>
            <a:r>
              <a:rPr lang="en-US" altLang="zh-CN" sz="1200">
                <a:sym typeface="+mn-ea"/>
              </a:rPr>
              <a:t>162</a:t>
            </a:r>
            <a:r>
              <a:rPr lang="zh-CN" altLang="en-US" sz="1200">
                <a:sym typeface="+mn-ea"/>
              </a:rPr>
              <a:t>，医生让你看的图是</a:t>
            </a:r>
            <a:r>
              <a:rPr lang="en-US" altLang="zh-CN" sz="1200">
                <a:sym typeface="+mn-ea"/>
              </a:rPr>
              <a:t>291</a:t>
            </a:r>
            <a:r>
              <a:rPr lang="zh-CN" altLang="en-US" sz="1200">
                <a:sym typeface="+mn-ea"/>
              </a:rPr>
              <a:t>；</a:t>
            </a:r>
            <a:endParaRPr lang="zh-CN" altLang="en-US" sz="1200">
              <a:sym typeface="+mn-ea"/>
            </a:endParaRPr>
          </a:p>
          <a:p>
            <a:pPr algn="l"/>
            <a:br>
              <a:rPr lang="zh-CN" altLang="en-US" sz="1200">
                <a:sym typeface="+mn-ea"/>
              </a:rPr>
            </a:br>
            <a:r>
              <a:rPr lang="en-US" altLang="zh-CN" sz="1200">
                <a:sym typeface="+mn-ea"/>
              </a:rPr>
              <a:t>4.</a:t>
            </a:r>
            <a:r>
              <a:rPr lang="zh-CN" altLang="en-US" sz="1200">
                <a:sym typeface="+mn-ea"/>
              </a:rPr>
              <a:t>当你觉得你背熟了以后，可以叫你的家人</a:t>
            </a:r>
            <a:r>
              <a:rPr lang="en-US" altLang="zh-CN" sz="1200">
                <a:sym typeface="+mn-ea"/>
              </a:rPr>
              <a:t>/</a:t>
            </a:r>
            <a:r>
              <a:rPr lang="zh-CN" altLang="en-US" sz="1200">
                <a:sym typeface="+mn-ea"/>
              </a:rPr>
              <a:t>朋友选一些图给你测试（图片也可以反过来），多测试几次就很熟悉了</a:t>
            </a:r>
            <a:endParaRPr lang="zh-CN" altLang="en-US" sz="1200">
              <a:sym typeface="+mn-ea"/>
            </a:endParaRPr>
          </a:p>
          <a:p>
            <a:pPr algn="l"/>
            <a:br>
              <a:rPr lang="zh-CN" altLang="en-US" sz="1200">
                <a:sym typeface="+mn-ea"/>
              </a:rPr>
            </a:br>
            <a:r>
              <a:rPr lang="en-US" altLang="zh-CN" sz="1200">
                <a:sym typeface="+mn-ea"/>
              </a:rPr>
              <a:t>5.</a:t>
            </a:r>
            <a:r>
              <a:rPr lang="zh-CN" altLang="en-US" sz="1200">
                <a:sym typeface="+mn-ea"/>
              </a:rPr>
              <a:t>体检前可以看看远处（单一色彩），可以提高色彩辨识度也能让眼睛休息</a:t>
            </a:r>
            <a:br>
              <a:rPr lang="zh-CN" altLang="en-US" sz="1200">
                <a:sym typeface="+mn-ea"/>
              </a:rPr>
            </a:br>
            <a:endParaRPr lang="zh-CN" altLang="en-US" sz="1200">
              <a:sym typeface="+mn-ea"/>
            </a:endParaRPr>
          </a:p>
          <a:p>
            <a:pPr algn="l"/>
            <a:r>
              <a:rPr lang="en-US" altLang="zh-CN" sz="1200">
                <a:sym typeface="+mn-ea"/>
              </a:rPr>
              <a:t>6.</a:t>
            </a:r>
            <a:r>
              <a:rPr lang="zh-CN" altLang="en-US" sz="1200">
                <a:sym typeface="+mn-ea"/>
              </a:rPr>
              <a:t>看图顺序：</a:t>
            </a:r>
            <a:r>
              <a:rPr lang="zh-CN" altLang="en-US" sz="1200">
                <a:sym typeface="+mn-ea"/>
              </a:rPr>
              <a:t>能否看直接看清楚</a:t>
            </a:r>
            <a:r>
              <a:rPr lang="en-US" altLang="zh-CN" sz="1200">
                <a:sym typeface="+mn-ea"/>
              </a:rPr>
              <a:t>---</a:t>
            </a:r>
            <a:r>
              <a:rPr lang="zh-CN" altLang="en-US" sz="1200">
                <a:sym typeface="+mn-ea"/>
              </a:rPr>
              <a:t>是否有特殊数字</a:t>
            </a:r>
            <a:r>
              <a:rPr lang="en-US" altLang="zh-CN" sz="1200">
                <a:sym typeface="+mn-ea"/>
              </a:rPr>
              <a:t>---</a:t>
            </a:r>
            <a:r>
              <a:rPr lang="zh-CN" altLang="en-US" sz="1200">
                <a:sym typeface="+mn-ea"/>
              </a:rPr>
              <a:t>是否有特殊图案</a:t>
            </a:r>
            <a:r>
              <a:rPr lang="en-US" altLang="zh-CN" sz="1200">
                <a:sym typeface="+mn-ea"/>
              </a:rPr>
              <a:t>---</a:t>
            </a:r>
            <a:r>
              <a:rPr lang="zh-CN" altLang="en-US" sz="1200">
                <a:sym typeface="+mn-ea"/>
              </a:rPr>
              <a:t>看图片左上角位置</a:t>
            </a:r>
            <a:r>
              <a:rPr lang="en-US" altLang="zh-CN" sz="1200">
                <a:sym typeface="+mn-ea"/>
              </a:rPr>
              <a:t>---</a:t>
            </a:r>
            <a:r>
              <a:rPr lang="zh-CN" altLang="en-US" sz="1200">
                <a:sym typeface="+mn-ea"/>
              </a:rPr>
              <a:t>看图片中心角位置</a:t>
            </a:r>
            <a:endParaRPr lang="zh-CN" altLang="en-US" sz="12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70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71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72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73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74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75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76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77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78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79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80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83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84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85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86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87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88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89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90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91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92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93.xml><?xml version="1.0" encoding="utf-8"?>
<p:tagLst xmlns:p="http://schemas.openxmlformats.org/presentationml/2006/main">
  <p:tag name="KSO_WM_DIAGRAM_VIRTUALLY_FRAME" val="{&quot;height&quot;:412.1,&quot;left&quot;:18.25,&quot;top&quot;:46.75,&quot;width&quot;:992.55}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96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97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98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99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00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01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02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03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04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05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06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DIAGRAM_VIRTUALLY_FRAME" val="{&quot;height&quot;:424.25,&quot;left&quot;:18.25,&quot;top&quot;:46.75,&quot;width&quot;:992.55}"/>
</p:tagLst>
</file>

<file path=ppt/tags/tag109.xml><?xml version="1.0" encoding="utf-8"?>
<p:tagLst xmlns:p="http://schemas.openxmlformats.org/presentationml/2006/main">
  <p:tag name="KSO_WM_DIAGRAM_VIRTUALLY_FRAME" val="{&quot;height&quot;:424.25,&quot;left&quot;:18.25,&quot;top&quot;:46.75,&quot;width&quot;:992.55}"/>
</p:tagLst>
</file>

<file path=ppt/tags/tag110.xml><?xml version="1.0" encoding="utf-8"?>
<p:tagLst xmlns:p="http://schemas.openxmlformats.org/presentationml/2006/main">
  <p:tag name="KSO_WM_DIAGRAM_VIRTUALLY_FRAME" val="{&quot;height&quot;:424.25,&quot;left&quot;:18.25,&quot;top&quot;:46.75,&quot;width&quot;:992.55}"/>
</p:tagLst>
</file>

<file path=ppt/tags/tag111.xml><?xml version="1.0" encoding="utf-8"?>
<p:tagLst xmlns:p="http://schemas.openxmlformats.org/presentationml/2006/main">
  <p:tag name="KSO_WM_DIAGRAM_VIRTUALLY_FRAME" val="{&quot;height&quot;:424.25,&quot;left&quot;:18.25,&quot;top&quot;:46.75,&quot;width&quot;:992.55}"/>
</p:tagLst>
</file>

<file path=ppt/tags/tag112.xml><?xml version="1.0" encoding="utf-8"?>
<p:tagLst xmlns:p="http://schemas.openxmlformats.org/presentationml/2006/main">
  <p:tag name="KSO_WM_DIAGRAM_VIRTUALLY_FRAME" val="{&quot;height&quot;:424.25,&quot;left&quot;:18.25,&quot;top&quot;:46.75,&quot;width&quot;:992.55}"/>
</p:tagLst>
</file>

<file path=ppt/tags/tag113.xml><?xml version="1.0" encoding="utf-8"?>
<p:tagLst xmlns:p="http://schemas.openxmlformats.org/presentationml/2006/main">
  <p:tag name="KSO_WM_DIAGRAM_VIRTUALLY_FRAME" val="{&quot;height&quot;:424.25,&quot;left&quot;:18.25,&quot;top&quot;:46.75,&quot;width&quot;:992.55}"/>
</p:tagLst>
</file>

<file path=ppt/tags/tag114.xml><?xml version="1.0" encoding="utf-8"?>
<p:tagLst xmlns:p="http://schemas.openxmlformats.org/presentationml/2006/main">
  <p:tag name="KSO_WM_DIAGRAM_VIRTUALLY_FRAME" val="{&quot;height&quot;:424.25,&quot;left&quot;:18.25,&quot;top&quot;:46.75,&quot;width&quot;:992.55}"/>
</p:tagLst>
</file>

<file path=ppt/tags/tag115.xml><?xml version="1.0" encoding="utf-8"?>
<p:tagLst xmlns:p="http://schemas.openxmlformats.org/presentationml/2006/main">
  <p:tag name="KSO_WM_DIAGRAM_VIRTUALLY_FRAME" val="{&quot;height&quot;:424.25,&quot;left&quot;:18.25,&quot;top&quot;:46.75,&quot;width&quot;:992.55}"/>
</p:tagLst>
</file>

<file path=ppt/tags/tag116.xml><?xml version="1.0" encoding="utf-8"?>
<p:tagLst xmlns:p="http://schemas.openxmlformats.org/presentationml/2006/main">
  <p:tag name="KSO_WM_DIAGRAM_VIRTUALLY_FRAME" val="{&quot;height&quot;:424.25,&quot;left&quot;:18.25,&quot;top&quot;:46.75,&quot;width&quot;:992.55}"/>
</p:tagLst>
</file>

<file path=ppt/tags/tag117.xml><?xml version="1.0" encoding="utf-8"?>
<p:tagLst xmlns:p="http://schemas.openxmlformats.org/presentationml/2006/main">
  <p:tag name="KSO_WM_DIAGRAM_VIRTUALLY_FRAME" val="{&quot;height&quot;:424.25,&quot;left&quot;:18.25,&quot;top&quot;:46.75,&quot;width&quot;:992.55}"/>
</p:tagLst>
</file>

<file path=ppt/tags/tag118.xml><?xml version="1.0" encoding="utf-8"?>
<p:tagLst xmlns:p="http://schemas.openxmlformats.org/presentationml/2006/main">
  <p:tag name="KSO_WM_DIAGRAM_VIRTUALLY_FRAME" val="{&quot;height&quot;:424.25,&quot;left&quot;:18.25,&quot;top&quot;:46.75,&quot;width&quot;:992.55}"/>
</p:tagLst>
</file>

<file path=ppt/tags/tag119.xml><?xml version="1.0" encoding="utf-8"?>
<p:tagLst xmlns:p="http://schemas.openxmlformats.org/presentationml/2006/main">
  <p:tag name="KSO_WM_DIAGRAM_VIRTUALLY_FRAME" val="{&quot;height&quot;:424.25,&quot;left&quot;:18.25,&quot;top&quot;:46.75,&quot;width&quot;:992.55}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22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23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24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25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26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27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28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29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30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31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32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35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36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37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38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39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40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41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42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43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44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45.xml><?xml version="1.0" encoding="utf-8"?>
<p:tagLst xmlns:p="http://schemas.openxmlformats.org/presentationml/2006/main">
  <p:tag name="KSO_WM_DIAGRAM_VIRTUALLY_FRAME" val="{&quot;height&quot;:436.35,&quot;left&quot;:18.25,&quot;top&quot;:46.75,&quot;width&quot;:992.55}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2116</Words>
  <Application>WPS 演示</Application>
  <PresentationFormat>宽屏</PresentationFormat>
  <Paragraphs>139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色弱检测图特征记忆法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%E4%BD%95%E5%8F%91%E5%BC%BA</cp:lastModifiedBy>
  <cp:revision>160</cp:revision>
  <dcterms:created xsi:type="dcterms:W3CDTF">2019-06-19T02:08:00Z</dcterms:created>
  <dcterms:modified xsi:type="dcterms:W3CDTF">2025-08-05T08:40:43Z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87DA52D8723A4400933034FE67CFDA8C_11</vt:lpwstr>
  </property>
</Properties>
</file>