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652" r:id="rId3"/>
    <p:sldId id="654" r:id="rId4"/>
    <p:sldId id="655" r:id="rId5"/>
  </p:sldIdLst>
  <p:sldSz cx="12192000" cy="6858000"/>
  <p:notesSz cx="9144000" cy="6858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A7"/>
    <a:srgbClr val="AD2D2D"/>
    <a:srgbClr val="0070C0"/>
    <a:srgbClr val="FFFFFF"/>
    <a:srgbClr val="FFD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93" d="100"/>
          <a:sy n="93" d="100"/>
        </p:scale>
        <p:origin x="-132" y="-1134"/>
      </p:cViewPr>
      <p:guideLst>
        <p:guide orient="horz" pos="2160"/>
        <p:guide pos="37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1562C9-D1D7-41F1-AA2A-B1961229F07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850D2-B7D3-4387-8F63-665DFC42E84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71" y="1122363"/>
            <a:ext cx="914442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71" y="3602038"/>
            <a:ext cx="914442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89" y="1709739"/>
            <a:ext cx="105160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89" y="4589464"/>
            <a:ext cx="1051608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38" y="1825625"/>
            <a:ext cx="518184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487" y="1825625"/>
            <a:ext cx="518184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27" y="365126"/>
            <a:ext cx="10516087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27" y="1681163"/>
            <a:ext cx="51580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27" y="2505075"/>
            <a:ext cx="515802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486" y="1681163"/>
            <a:ext cx="518342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486" y="2505075"/>
            <a:ext cx="5183429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365125"/>
            <a:ext cx="10516235" cy="469900"/>
          </a:xfrm>
        </p:spPr>
        <p:txBody>
          <a:bodyPr>
            <a:noAutofit/>
          </a:bodyPr>
          <a:lstStyle>
            <a:lvl1pPr>
              <a:defRPr sz="2400" b="1">
                <a:solidFill>
                  <a:srgbClr val="0054A7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27" y="457200"/>
            <a:ext cx="39324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429" y="987426"/>
            <a:ext cx="617248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27" y="2057400"/>
            <a:ext cx="39324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27" y="457200"/>
            <a:ext cx="39324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9" y="987426"/>
            <a:ext cx="61724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27" y="2057400"/>
            <a:ext cx="39324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305" y="365125"/>
            <a:ext cx="2629022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38" y="365125"/>
            <a:ext cx="773465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39" y="365126"/>
            <a:ext cx="105160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39" y="1825625"/>
            <a:ext cx="105160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38" y="6356351"/>
            <a:ext cx="27433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788" y="6356351"/>
            <a:ext cx="4114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001" y="6356351"/>
            <a:ext cx="27433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799465"/>
            <a:ext cx="10516235" cy="469900"/>
          </a:xfrm>
        </p:spPr>
        <p:txBody>
          <a:bodyPr/>
          <a:p>
            <a:r>
              <a:rPr lang="zh-CN" altLang="en-US" sz="1800"/>
              <a:t>本体论：世界的二分</a:t>
            </a:r>
            <a:endParaRPr lang="zh-CN" altLang="en-US" sz="1800"/>
          </a:p>
        </p:txBody>
      </p:sp>
      <p:sp>
        <p:nvSpPr>
          <p:cNvPr id="3" name="标题 3"/>
          <p:cNvSpPr>
            <a:spLocks noGrp="1"/>
          </p:cNvSpPr>
          <p:nvPr/>
        </p:nvSpPr>
        <p:spPr>
          <a:xfrm>
            <a:off x="472440" y="1323658"/>
            <a:ext cx="1467485" cy="73723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必然性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自由意志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标题 3"/>
          <p:cNvSpPr>
            <a:spLocks noGrp="1"/>
          </p:cNvSpPr>
          <p:nvPr/>
        </p:nvSpPr>
        <p:spPr>
          <a:xfrm>
            <a:off x="1885950" y="1323658"/>
            <a:ext cx="1467485" cy="73723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神圣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世俗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标题 3"/>
          <p:cNvSpPr>
            <a:spLocks noGrp="1"/>
          </p:cNvSpPr>
          <p:nvPr/>
        </p:nvSpPr>
        <p:spPr>
          <a:xfrm>
            <a:off x="3033395" y="1323658"/>
            <a:ext cx="1795780" cy="73723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超自然（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奇迹）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自然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自然法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标题 3"/>
          <p:cNvSpPr>
            <a:spLocks noGrp="1"/>
          </p:cNvSpPr>
          <p:nvPr/>
        </p:nvSpPr>
        <p:spPr>
          <a:xfrm>
            <a:off x="5032375" y="1323975"/>
            <a:ext cx="3395980" cy="106045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灵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魂（目的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因）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理念形式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形体（动力因）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规律、真理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标题 3"/>
          <p:cNvSpPr>
            <a:spLocks noGrp="1"/>
          </p:cNvSpPr>
          <p:nvPr/>
        </p:nvSpPr>
        <p:spPr>
          <a:xfrm>
            <a:off x="472440" y="2370773"/>
            <a:ext cx="1751965" cy="73723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物自体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现象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标题 3"/>
          <p:cNvSpPr>
            <a:spLocks noGrp="1"/>
          </p:cNvSpPr>
          <p:nvPr/>
        </p:nvSpPr>
        <p:spPr>
          <a:xfrm>
            <a:off x="7804150" y="1958023"/>
            <a:ext cx="1751965" cy="73723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标题 3"/>
          <p:cNvSpPr>
            <a:spLocks noGrp="1"/>
          </p:cNvSpPr>
          <p:nvPr/>
        </p:nvSpPr>
        <p:spPr>
          <a:xfrm>
            <a:off x="1873250" y="2370773"/>
            <a:ext cx="2247900" cy="7372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形而上世界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经验界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意见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模仿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标题 3"/>
          <p:cNvSpPr>
            <a:spLocks noGrp="1"/>
          </p:cNvSpPr>
          <p:nvPr/>
        </p:nvSpPr>
        <p:spPr>
          <a:xfrm>
            <a:off x="8260715" y="1327150"/>
            <a:ext cx="3639185" cy="7372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唯实和唯名的延续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自然规律本身的偶然性和必然性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标题 3"/>
          <p:cNvSpPr>
            <a:spLocks noGrp="1"/>
          </p:cNvSpPr>
          <p:nvPr/>
        </p:nvSpPr>
        <p:spPr>
          <a:xfrm>
            <a:off x="3954780" y="2370773"/>
            <a:ext cx="1751965" cy="73723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无限圆满的上帝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有限的现世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标题 3"/>
          <p:cNvSpPr>
            <a:spLocks noGrp="1"/>
          </p:cNvSpPr>
          <p:nvPr/>
        </p:nvSpPr>
        <p:spPr>
          <a:xfrm>
            <a:off x="5910580" y="2370773"/>
            <a:ext cx="1848485" cy="7372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逻辑必然性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经验事实或然性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标题 3"/>
          <p:cNvSpPr>
            <a:spLocks noGrp="1"/>
          </p:cNvSpPr>
          <p:nvPr/>
        </p:nvSpPr>
        <p:spPr>
          <a:xfrm>
            <a:off x="8159750" y="2370773"/>
            <a:ext cx="3657600" cy="7372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巴门尼德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休谟、康德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维特根斯坦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可思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可认识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可说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328295" y="3274060"/>
            <a:ext cx="11664950" cy="15240"/>
          </a:xfrm>
          <a:prstGeom prst="line">
            <a:avLst/>
          </a:prstGeom>
          <a:ln w="19050">
            <a:solidFill>
              <a:srgbClr val="0054A7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标题 1"/>
          <p:cNvSpPr>
            <a:spLocks noGrp="1"/>
          </p:cNvSpPr>
          <p:nvPr/>
        </p:nvSpPr>
        <p:spPr>
          <a:xfrm>
            <a:off x="523875" y="3382010"/>
            <a:ext cx="10516235" cy="469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1800">
                <a:sym typeface="+mn-ea"/>
              </a:rPr>
              <a:t>认识论</a:t>
            </a:r>
            <a:endParaRPr lang="zh-CN" altLang="en-US" sz="1800">
              <a:sym typeface="+mn-ea"/>
            </a:endParaRPr>
          </a:p>
        </p:txBody>
      </p:sp>
      <p:sp>
        <p:nvSpPr>
          <p:cNvPr id="17" name="标题 3"/>
          <p:cNvSpPr>
            <a:spLocks noGrp="1"/>
          </p:cNvSpPr>
          <p:nvPr/>
        </p:nvSpPr>
        <p:spPr>
          <a:xfrm>
            <a:off x="328295" y="3863658"/>
            <a:ext cx="2754630" cy="73723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防无穷倒退</a:t>
            </a:r>
            <a:endParaRPr lang="zh-CN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（第一原理、阿基米德点)</a:t>
            </a:r>
            <a:endParaRPr lang="zh-CN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标题 3"/>
          <p:cNvSpPr>
            <a:spLocks noGrp="1"/>
          </p:cNvSpPr>
          <p:nvPr/>
        </p:nvSpPr>
        <p:spPr>
          <a:xfrm>
            <a:off x="3522980" y="3771265"/>
            <a:ext cx="2754630" cy="92202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理性、客观、演绎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经验、主观、归纳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标题 3"/>
          <p:cNvSpPr>
            <a:spLocks noGrp="1"/>
          </p:cNvSpPr>
          <p:nvPr/>
        </p:nvSpPr>
        <p:spPr>
          <a:xfrm>
            <a:off x="6107430" y="3863658"/>
            <a:ext cx="1770380" cy="7372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天赋观念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感觉印象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标题 3"/>
          <p:cNvSpPr>
            <a:spLocks noGrp="1"/>
          </p:cNvSpPr>
          <p:nvPr/>
        </p:nvSpPr>
        <p:spPr>
          <a:xfrm>
            <a:off x="8061325" y="3863023"/>
            <a:ext cx="3239770" cy="73723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先天、先验、先天综合判断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经验、后天（印象、观念、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直观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标题 3"/>
          <p:cNvSpPr>
            <a:spLocks noGrp="1"/>
          </p:cNvSpPr>
          <p:nvPr/>
        </p:nvSpPr>
        <p:spPr>
          <a:xfrm>
            <a:off x="328295" y="4765040"/>
            <a:ext cx="3194685" cy="106045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信仰先于理性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哲学是神学的婢女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判断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过往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论证，认知来源怀疑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标题 3"/>
          <p:cNvSpPr>
            <a:spLocks noGrp="1"/>
          </p:cNvSpPr>
          <p:nvPr/>
        </p:nvSpPr>
        <p:spPr>
          <a:xfrm>
            <a:off x="3522980" y="4765040"/>
            <a:ext cx="4445000" cy="7372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因果关系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心理联想、想象力的作用（休谟、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Kant 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胡塞尔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标题 3"/>
          <p:cNvSpPr>
            <a:spLocks noGrp="1"/>
          </p:cNvSpPr>
          <p:nvPr/>
        </p:nvSpPr>
        <p:spPr>
          <a:xfrm>
            <a:off x="8061325" y="4765040"/>
            <a:ext cx="1875155" cy="736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逻辑的必然性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经验事实或然性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标题 3"/>
          <p:cNvSpPr>
            <a:spLocks noGrp="1"/>
          </p:cNvSpPr>
          <p:nvPr/>
        </p:nvSpPr>
        <p:spPr>
          <a:xfrm>
            <a:off x="10068560" y="4765040"/>
            <a:ext cx="1872615" cy="7372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概念范畴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感觉材料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标题 3"/>
          <p:cNvSpPr>
            <a:spLocks noGrp="1"/>
          </p:cNvSpPr>
          <p:nvPr/>
        </p:nvSpPr>
        <p:spPr>
          <a:xfrm>
            <a:off x="10068560" y="5783580"/>
            <a:ext cx="2038350" cy="7372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观念关系的知识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事实存在的知识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标题 3"/>
          <p:cNvSpPr>
            <a:spLocks noGrp="1"/>
          </p:cNvSpPr>
          <p:nvPr/>
        </p:nvSpPr>
        <p:spPr>
          <a:xfrm>
            <a:off x="3522980" y="5783580"/>
            <a:ext cx="3273425" cy="744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理性、情感孰先？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观念是天赋的，还是后天的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" name="标题 3"/>
          <p:cNvSpPr>
            <a:spLocks noGrp="1"/>
          </p:cNvSpPr>
          <p:nvPr/>
        </p:nvSpPr>
        <p:spPr>
          <a:xfrm>
            <a:off x="8061325" y="5783580"/>
            <a:ext cx="2754630" cy="7181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直观（时间、空间）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神秘体验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2440" y="27051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rPr>
              <a:t>近代哲学与启蒙思想的核心问题域及核心概念</a:t>
            </a:r>
            <a:endParaRPr lang="zh-CN" altLang="en-US" sz="20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788035"/>
            <a:ext cx="10516235" cy="469900"/>
          </a:xfrm>
        </p:spPr>
        <p:txBody>
          <a:bodyPr vert="horz" lIns="91440" tIns="45720" rIns="91440" bIns="45720" rtlCol="0" anchor="ctr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800">
                <a:sym typeface="+mn-ea"/>
              </a:rPr>
              <a:t>身心关系（自我认识）</a:t>
            </a:r>
            <a:endParaRPr lang="zh-CN" altLang="en-US" sz="1800">
              <a:sym typeface="+mn-ea"/>
            </a:endParaRPr>
          </a:p>
        </p:txBody>
      </p:sp>
      <p:sp>
        <p:nvSpPr>
          <p:cNvPr id="6" name="标题 3"/>
          <p:cNvSpPr>
            <a:spLocks noGrp="1"/>
          </p:cNvSpPr>
          <p:nvPr/>
        </p:nvSpPr>
        <p:spPr>
          <a:xfrm>
            <a:off x="523875" y="1106805"/>
            <a:ext cx="5688330" cy="41402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二元论、一元论、消解论（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贝克莱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休谟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标题 3"/>
          <p:cNvSpPr>
            <a:spLocks noGrp="1"/>
          </p:cNvSpPr>
          <p:nvPr/>
        </p:nvSpPr>
        <p:spPr>
          <a:xfrm>
            <a:off x="5161280" y="1268413"/>
            <a:ext cx="2261235" cy="7372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 fontAlgn="auto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休谟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自我实体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fontAlgn="auto">
              <a:lnSpc>
                <a:spcPct val="100000"/>
              </a:lnSpc>
              <a:buClrTx/>
              <a:buSzTx/>
              <a:buFont typeface="Arial" panose="020B0604020202020204" pitchFamily="34" charset="0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↓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fontAlgn="auto">
              <a:lnSpc>
                <a:spcPct val="100000"/>
              </a:lnSpc>
              <a:buClrTx/>
              <a:buSzTx/>
              <a:buFont typeface="Arial" panose="020B0604020202020204" pitchFamily="34" charset="0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觉束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标题 3"/>
          <p:cNvSpPr>
            <a:spLocks noGrp="1"/>
          </p:cNvSpPr>
          <p:nvPr/>
        </p:nvSpPr>
        <p:spPr>
          <a:xfrm>
            <a:off x="7604760" y="1268413"/>
            <a:ext cx="2618105" cy="7372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 fontAlgn="auto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贝克莱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物质实体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fontAlgn="auto">
              <a:lnSpc>
                <a:spcPct val="100000"/>
              </a:lnSpc>
              <a:buClrTx/>
              <a:buSzTx/>
              <a:buFont typeface="Arial" panose="020B0604020202020204" pitchFamily="34" charset="0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↓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fontAlgn="auto">
              <a:lnSpc>
                <a:spcPct val="100000"/>
              </a:lnSpc>
              <a:buClrTx/>
              <a:buSzTx/>
              <a:buFont typeface="Arial" panose="020B0604020202020204" pitchFamily="34" charset="0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感知集合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263525" y="2029460"/>
            <a:ext cx="11664950" cy="15240"/>
          </a:xfrm>
          <a:prstGeom prst="line">
            <a:avLst/>
          </a:prstGeom>
          <a:ln w="19050">
            <a:solidFill>
              <a:srgbClr val="0054A7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/>
        </p:nvSpPr>
        <p:spPr>
          <a:xfrm>
            <a:off x="523875" y="2057400"/>
            <a:ext cx="10516235" cy="469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1800">
                <a:sym typeface="+mn-ea"/>
              </a:rPr>
              <a:t>伦理学、价值观</a:t>
            </a:r>
            <a:endParaRPr lang="zh-CN" altLang="en-US" sz="1800">
              <a:sym typeface="+mn-ea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24510" y="2369185"/>
            <a:ext cx="11307445" cy="4370705"/>
            <a:chOff x="826" y="3959"/>
            <a:chExt cx="17807" cy="6883"/>
          </a:xfrm>
        </p:grpSpPr>
        <p:sp>
          <p:nvSpPr>
            <p:cNvPr id="9" name="标题 3"/>
            <p:cNvSpPr>
              <a:spLocks noGrp="1"/>
            </p:cNvSpPr>
            <p:nvPr/>
          </p:nvSpPr>
          <p:spPr>
            <a:xfrm>
              <a:off x="13103" y="3959"/>
              <a:ext cx="5530" cy="3706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rgbClr val="0054A7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 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理性主义伦理学（斯多葛主义、柏拉图）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（自然本性、</a:t>
              </a:r>
              <a:r>
                <a:rPr lang="en-US" alt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Logos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、神）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 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德性论（亚里士多德、自然）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3. 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情感主义伦理学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4. 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义务论（理性）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5. 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功利主义</a:t>
              </a:r>
              <a:r>
                <a:rPr lang="en-US" alt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实用主义、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结果导向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6. 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价值论伦理学（权力意志、价值层次）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826" y="4068"/>
              <a:ext cx="16945" cy="6431"/>
              <a:chOff x="826" y="3840"/>
              <a:chExt cx="16945" cy="6431"/>
            </a:xfrm>
          </p:grpSpPr>
          <p:sp>
            <p:nvSpPr>
              <p:cNvPr id="4" name="标题 3"/>
              <p:cNvSpPr>
                <a:spLocks noGrp="1"/>
              </p:cNvSpPr>
              <p:nvPr/>
            </p:nvSpPr>
            <p:spPr>
              <a:xfrm>
                <a:off x="826" y="3840"/>
                <a:ext cx="16945" cy="64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rgbClr val="0054A7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50000"/>
                  </a:lnSpc>
                  <a:buFont typeface="Arial" panose="020B0604020202020204" pitchFamily="34" charset="0"/>
                </a:pPr>
                <a:r>
                  <a:rPr lang="en-US" altLang="zh-CN" sz="14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D  </a:t>
                </a:r>
                <a:r>
                  <a:rPr lang="zh-CN" altLang="en-US" sz="14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自由</a:t>
                </a:r>
                <a:endPara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 fontAlgn="auto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——</a:t>
                </a:r>
                <a:r>
                  <a:rPr lang="zh-CN" altLang="en-US" sz="14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对必然性的认识</a:t>
                </a:r>
                <a:endPara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fontAlgn="auto">
                  <a:lnSpc>
                    <a:spcPct val="150000"/>
                  </a:lnSpc>
                  <a:buFont typeface="Arial" panose="020B0604020202020204" pitchFamily="34" charset="0"/>
                </a:pPr>
                <a:r>
                  <a:rPr lang="en-US" altLang="zh-CN" sz="1400" b="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——</a:t>
                </a:r>
                <a:r>
                  <a:rPr lang="zh-CN" altLang="en-US" sz="14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自我立法、自律</a:t>
                </a:r>
                <a:endPara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fontAlgn="auto">
                  <a:lnSpc>
                    <a:spcPct val="150000"/>
                  </a:lnSpc>
                  <a:buFont typeface="Arial" panose="020B0604020202020204" pitchFamily="34" charset="0"/>
                </a:pPr>
                <a:r>
                  <a:rPr lang="en-US" altLang="zh-CN" sz="1400" b="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——</a:t>
                </a:r>
                <a:r>
                  <a:rPr lang="zh-CN" altLang="en-US" sz="14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为所欲为、放纵声色</a:t>
                </a:r>
                <a:endPara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en-US" altLang="zh-CN" sz="1400" b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——</a:t>
                </a:r>
                <a:r>
                  <a:rPr lang="zh-CN" altLang="en-US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不被奴役、免于胁迫、解放</a:t>
                </a:r>
                <a:endPara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1400" b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——</a:t>
                </a:r>
                <a:r>
                  <a:rPr lang="zh-CN" altLang="en-US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宁静、不动心</a:t>
                </a:r>
                <a:endPara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indent="0" fontAlgn="auto">
                  <a:lnSpc>
                    <a:spcPct val="150000"/>
                  </a:lnSpc>
                </a:pPr>
                <a:endPara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5318" y="5665"/>
                <a:ext cx="7166" cy="268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>
                  <a:lnSpc>
                    <a:spcPct val="150000"/>
                  </a:lnSpc>
                </a:pPr>
                <a:r>
                  <a:rPr lang="zh-CN" altLang="en-US" sz="14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——</a:t>
                </a:r>
                <a:r>
                  <a:rPr lang="zh-CN" altLang="en-US" sz="1400" b="1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依从德性、本真、天性、自然</a:t>
                </a:r>
                <a:endPara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50000"/>
                  </a:lnSpc>
                  <a:buFont typeface="Arial" panose="020B0604020202020204" pitchFamily="34" charset="0"/>
                </a:pPr>
                <a:r>
                  <a:rPr lang="en-US" altLang="zh-CN" sz="14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——</a:t>
                </a:r>
                <a:r>
                  <a:rPr lang="zh-CN" altLang="en-US" sz="1400" b="1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理性驾驭激情、欲望</a:t>
                </a:r>
                <a:endPara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50000"/>
                  </a:lnSpc>
                  <a:buFont typeface="Arial" panose="020B0604020202020204" pitchFamily="34" charset="0"/>
                </a:pPr>
                <a:r>
                  <a:rPr lang="en-US" altLang="zh-CN" sz="14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——</a:t>
                </a:r>
                <a:r>
                  <a:rPr lang="zh-CN" altLang="en-US" sz="1400" b="1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听从内心（情感、知觉、良知</a:t>
                </a:r>
                <a:r>
                  <a:rPr lang="en-US" altLang="zh-CN" sz="1400" b="1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……</a:t>
                </a:r>
                <a:r>
                  <a:rPr lang="zh-CN" altLang="en-US" sz="1400" b="1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），跟着感觉走</a:t>
                </a:r>
                <a:endPara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50000"/>
                  </a:lnSpc>
                  <a:buFont typeface="Arial" panose="020B0604020202020204" pitchFamily="34" charset="0"/>
                </a:pPr>
                <a:r>
                  <a:rPr lang="en-US" altLang="zh-CN" sz="14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——</a:t>
                </a:r>
                <a:r>
                  <a:rPr lang="zh-CN" altLang="en-US" sz="1400" b="1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顿悟、神秘直观、与神合一</a:t>
                </a:r>
                <a:endPara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50000"/>
                  </a:lnSpc>
                  <a:buFont typeface="Arial" panose="020B0604020202020204" pitchFamily="34" charset="0"/>
                </a:pPr>
                <a:r>
                  <a:rPr lang="en-US" altLang="zh-CN" sz="14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——</a:t>
                </a:r>
                <a:r>
                  <a:rPr lang="zh-CN" altLang="en-US" sz="1400" b="1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属灵的，依圣灵而行，从罪中得到救赎</a:t>
                </a:r>
                <a:endPara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20" name="文本框 19"/>
            <p:cNvSpPr txBox="1"/>
            <p:nvPr/>
          </p:nvSpPr>
          <p:spPr>
            <a:xfrm>
              <a:off x="826" y="8581"/>
              <a:ext cx="9600" cy="2261"/>
            </a:xfrm>
            <a:prstGeom prst="rect">
              <a:avLst/>
            </a:prstGeom>
            <a:noFill/>
          </p:spPr>
          <p:txBody>
            <a:bodyPr wrap="square" rtlCol="0" anchor="t" anchorCtr="0">
              <a:noAutofit/>
            </a:bodyPr>
            <a:p>
              <a:pPr algn="l">
                <a:lnSpc>
                  <a:spcPct val="150000"/>
                </a:lnSpc>
              </a:pPr>
              <a:r>
                <a:rPr lang="en-US" altLang="zh-CN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E  </a:t>
              </a:r>
              <a:r>
                <a: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自我膨胀，原子个人主义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50000"/>
                </a:lnSpc>
                <a:buFont typeface="Arial" panose="020B0604020202020204" pitchFamily="34" charset="0"/>
              </a:pPr>
              <a:r>
                <a: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 </a:t>
              </a:r>
              <a:r>
                <a: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理性裁决</a:t>
              </a:r>
              <a:r>
                <a:rPr lang="en-US" altLang="zh-CN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→</a:t>
              </a:r>
              <a:r>
                <a: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个体裁决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50000"/>
                </a:lnSpc>
                <a:buFont typeface="Arial" panose="020B0604020202020204" pitchFamily="34" charset="0"/>
              </a:pPr>
              <a:r>
                <a: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 </a:t>
              </a:r>
              <a:r>
                <a: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跪拜着向上帝祷告，以求救赎的人成为新的上帝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   </a:t>
              </a:r>
              <a:r>
                <a: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个体自由与社群价值</a:t>
              </a:r>
              <a:endPara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826" y="3959"/>
              <a:ext cx="9600" cy="167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</a:pPr>
              <a:r>
                <a:rPr lang="en-US" altLang="zh-CN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  </a:t>
              </a:r>
              <a:r>
                <a: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理性、</a:t>
              </a:r>
              <a:r>
                <a:rPr lang="en-US" altLang="zh-CN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Logos</a:t>
              </a:r>
              <a:r>
                <a: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、斯多葛主义、宇宙理性、宇宙必然性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</a:pPr>
              <a:r>
                <a: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B  情感（主观、相对性）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C  </a:t>
              </a:r>
              <a:r>
                <a: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事实与价值二分，</a:t>
              </a:r>
              <a:r>
                <a:rPr lang="en-US" altLang="zh-CN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“</a:t>
              </a:r>
              <a:r>
                <a: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是</a:t>
              </a:r>
              <a:r>
                <a:rPr lang="en-US" altLang="zh-CN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”</a:t>
              </a:r>
              <a:r>
                <a: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推不出</a:t>
              </a:r>
              <a:r>
                <a:rPr lang="en-US" altLang="zh-CN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“</a:t>
              </a:r>
              <a:r>
                <a: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应当</a:t>
              </a:r>
              <a:r>
                <a:rPr lang="en-US" altLang="zh-CN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”</a:t>
              </a:r>
              <a:r>
                <a: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，</a:t>
              </a:r>
              <a:r>
                <a:rPr lang="en-US" altLang="zh-CN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Physis</a:t>
              </a:r>
              <a:r>
                <a:rPr lang="zh-CN" altLang="en-US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与</a:t>
              </a:r>
              <a:r>
                <a:rPr lang="en-US" altLang="zh-CN" sz="14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Nomos</a:t>
              </a:r>
              <a:endParaRPr lang="en-US" alt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472440" y="27051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rPr>
              <a:t>近代哲学与启蒙思想的核心问题域及核心概念</a:t>
            </a:r>
            <a:endParaRPr lang="zh-CN" altLang="en-US" sz="20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3875" y="833755"/>
            <a:ext cx="10516235" cy="469900"/>
          </a:xfrm>
        </p:spPr>
        <p:txBody>
          <a:bodyPr vert="horz" lIns="91440" tIns="45720" rIns="91440" bIns="45720" rtlCol="0" anchor="ctr">
            <a:noAutofit/>
          </a:bodyPr>
          <a:p>
            <a:pPr lvl="0" algn="l">
              <a:buClrTx/>
              <a:buSzTx/>
              <a:buFontTx/>
            </a:pPr>
            <a:r>
              <a:rPr 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政治学、社会秩序</a:t>
            </a:r>
            <a:endParaRPr lang="zh-CN" altLang="en-US" sz="1800">
              <a:sym typeface="+mn-ea"/>
            </a:endParaRPr>
          </a:p>
        </p:txBody>
      </p:sp>
      <p:sp>
        <p:nvSpPr>
          <p:cNvPr id="8" name="标题 3"/>
          <p:cNvSpPr>
            <a:spLocks noGrp="1"/>
          </p:cNvSpPr>
          <p:nvPr/>
        </p:nvSpPr>
        <p:spPr>
          <a:xfrm>
            <a:off x="523875" y="1429068"/>
            <a:ext cx="244729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Maat/Me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11425" y="1429068"/>
            <a:ext cx="6096000" cy="7372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神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/Logos/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宇宙、理性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自然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约定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理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想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现实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实用主义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功利主义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390525" y="2212975"/>
            <a:ext cx="11664950" cy="15240"/>
          </a:xfrm>
          <a:prstGeom prst="line">
            <a:avLst/>
          </a:prstGeom>
          <a:ln w="19050">
            <a:solidFill>
              <a:srgbClr val="0054A7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标题 4"/>
          <p:cNvSpPr>
            <a:spLocks noGrp="1"/>
          </p:cNvSpPr>
          <p:nvPr/>
        </p:nvSpPr>
        <p:spPr>
          <a:xfrm>
            <a:off x="523875" y="2303780"/>
            <a:ext cx="1972310" cy="469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1800">
                <a:sym typeface="+mn-ea"/>
              </a:rPr>
              <a:t>三大法则的分裂</a:t>
            </a:r>
            <a:endParaRPr lang="zh-CN" altLang="en-US" sz="1800">
              <a:sym typeface="+mn-ea"/>
            </a:endParaRPr>
          </a:p>
        </p:txBody>
      </p:sp>
      <p:sp>
        <p:nvSpPr>
          <p:cNvPr id="11" name="标题 3"/>
          <p:cNvSpPr>
            <a:spLocks noGrp="1"/>
          </p:cNvSpPr>
          <p:nvPr/>
        </p:nvSpPr>
        <p:spPr>
          <a:xfrm>
            <a:off x="2511425" y="2250123"/>
            <a:ext cx="4729480" cy="106045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自然宇宙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社会秩序（政治、法律、公共领域）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个体道德（宗教和人领域、偏好、自我立法）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845820" y="3425825"/>
            <a:ext cx="10144125" cy="1717040"/>
            <a:chOff x="4122" y="5283"/>
            <a:chExt cx="15975" cy="2704"/>
          </a:xfrm>
        </p:grpSpPr>
        <p:sp>
          <p:nvSpPr>
            <p:cNvPr id="12" name="标题 3"/>
            <p:cNvSpPr>
              <a:spLocks noGrp="1"/>
            </p:cNvSpPr>
            <p:nvPr/>
          </p:nvSpPr>
          <p:spPr>
            <a:xfrm>
              <a:off x="4122" y="6399"/>
              <a:ext cx="1871" cy="6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rgbClr val="0054A7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命运</a:t>
              </a:r>
              <a:r>
                <a:rPr lang="en-US" alt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上帝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标题 3"/>
            <p:cNvSpPr>
              <a:spLocks noGrp="1"/>
            </p:cNvSpPr>
            <p:nvPr/>
          </p:nvSpPr>
          <p:spPr>
            <a:xfrm>
              <a:off x="6722" y="5283"/>
              <a:ext cx="4397" cy="26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rgbClr val="0054A7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sz="1400" b="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天国</a:t>
              </a:r>
              <a:r>
                <a:rPr lang="en-US" alt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endPara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 b="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自然法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 b="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律法、君权神授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 b="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个体救赎、道路、生命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 b="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真理、真知、</a:t>
              </a:r>
              <a:r>
                <a:rPr lang="en-US" alt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Logos</a:t>
              </a:r>
              <a:endPara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标题 3"/>
            <p:cNvSpPr>
              <a:spLocks noGrp="1"/>
            </p:cNvSpPr>
            <p:nvPr/>
          </p:nvSpPr>
          <p:spPr>
            <a:xfrm>
              <a:off x="10835" y="5299"/>
              <a:ext cx="9262" cy="26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rgbClr val="0054A7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超自然（不可经验）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→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自然科学（无奇迹）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→</a:t>
              </a:r>
              <a:r>
                <a:rPr 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社会契约论、政教分离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→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伦理学及宗教（理性、德性论、义务</a:t>
              </a:r>
              <a:r>
                <a:rPr lang="en-US" alt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论、功利主义、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情感主义</a:t>
              </a:r>
              <a:r>
                <a:rPr lang="en-US" alt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……</a:t>
              </a:r>
              <a:r>
                <a:rPr lang="zh-CN" altLang="en-US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</a:t>
              </a:r>
              <a:endPara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  <a:buFont typeface="Arial" panose="020B0604020202020204" pitchFamily="34" charset="0"/>
              </a:pPr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→</a:t>
              </a:r>
              <a:r>
                <a:rPr lang="zh-CN" sz="14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先验论、构造论</a:t>
              </a:r>
              <a:endParaRPr 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6" name="标题 3"/>
          <p:cNvSpPr>
            <a:spLocks noGrp="1"/>
          </p:cNvSpPr>
          <p:nvPr/>
        </p:nvSpPr>
        <p:spPr>
          <a:xfrm>
            <a:off x="2511425" y="5247640"/>
            <a:ext cx="201676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50000"/>
              </a:lnSpc>
              <a:buFont typeface="Arial" panose="020B0604020202020204" pitchFamily="34" charset="0"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到冲撞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zh-CN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511425" y="5884545"/>
            <a:ext cx="609600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政治、宗教、美学、艺术文学、历史观、经济学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390525" y="5777230"/>
            <a:ext cx="11664950" cy="15240"/>
          </a:xfrm>
          <a:prstGeom prst="line">
            <a:avLst/>
          </a:prstGeom>
          <a:ln w="19050">
            <a:solidFill>
              <a:srgbClr val="0054A7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标题 4"/>
          <p:cNvSpPr>
            <a:spLocks noGrp="1"/>
          </p:cNvSpPr>
          <p:nvPr/>
        </p:nvSpPr>
        <p:spPr>
          <a:xfrm>
            <a:off x="523875" y="5908675"/>
            <a:ext cx="761365" cy="469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1800">
                <a:sym typeface="+mn-ea"/>
              </a:rPr>
              <a:t>其他</a:t>
            </a:r>
            <a:endParaRPr lang="zh-CN" altLang="en-US" sz="18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2440" y="27051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rPr>
              <a:t>近代哲学与启蒙思想的核心问题域及核心概念</a:t>
            </a:r>
            <a:endParaRPr lang="zh-CN" altLang="en-US" sz="20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DM3YmUzODhiYTU1YWFkNTFhNDM4NjQ5M2M3NWNkMTUifQ=="/>
  <p:tag name="resource_record_key" val="{&quot;29&quot;:[50000076,50000031,50053104,50000199,50049413],&quot;65&quot;:[40492928],&quot;70&quot;:[3312594,3426356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1264</Words>
  <Application>WPS 演示</Application>
  <PresentationFormat>自定义</PresentationFormat>
  <Paragraphs>155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本体论：世界的二分</vt:lpstr>
      <vt:lpstr>身心关系（自我认识）</vt:lpstr>
      <vt:lpstr>政治学、社会秩序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钟欣-HG32118</dc:creator>
  <cp:lastModifiedBy>皇左文策</cp:lastModifiedBy>
  <cp:revision>396</cp:revision>
  <dcterms:created xsi:type="dcterms:W3CDTF">2023-04-20T03:20:00Z</dcterms:created>
  <dcterms:modified xsi:type="dcterms:W3CDTF">2026-07-03T09:03:28Z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003603101C954376BF6735367069A657_13</vt:lpwstr>
  </property>
  <property fmtid="{D5CDD505-2E9C-101B-9397-08002B2CF9AE}" pid="3" name="KSOProductBuildVer">
    <vt:lpwstr>2052-12.1.0.26895</vt:lpwstr>
  </property>
</Properties>
</file>