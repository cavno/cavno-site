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49" r:id="rId3"/>
    <p:sldId id="554" r:id="rId5"/>
    <p:sldId id="571" r:id="rId6"/>
    <p:sldId id="572" r:id="rId7"/>
    <p:sldId id="573" r:id="rId8"/>
    <p:sldId id="574" r:id="rId9"/>
    <p:sldId id="575" r:id="rId10"/>
    <p:sldId id="576" r:id="rId11"/>
    <p:sldId id="577" r:id="rId12"/>
    <p:sldId id="578" r:id="rId13"/>
    <p:sldId id="579" r:id="rId14"/>
    <p:sldId id="580" r:id="rId15"/>
    <p:sldId id="581" r:id="rId16"/>
    <p:sldId id="582" r:id="rId17"/>
    <p:sldId id="583" r:id="rId18"/>
    <p:sldId id="584" r:id="rId19"/>
    <p:sldId id="585" r:id="rId20"/>
    <p:sldId id="588" r:id="rId21"/>
    <p:sldId id="587" r:id="rId22"/>
    <p:sldId id="589" r:id="rId23"/>
    <p:sldId id="590" r:id="rId24"/>
    <p:sldId id="591" r:id="rId25"/>
    <p:sldId id="592" r:id="rId26"/>
    <p:sldId id="593" r:id="rId27"/>
    <p:sldId id="274" r:id="rId28"/>
  </p:sldIdLst>
  <p:sldSz cx="12192000" cy="6858000"/>
  <p:notesSz cx="9144000" cy="6858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A7"/>
    <a:srgbClr val="FFFFFF"/>
    <a:srgbClr val="0070C0"/>
    <a:srgbClr val="AD2D2D"/>
    <a:srgbClr val="FFD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F837627-1ABE-4DA3-9284-A35E9730AB2B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</a:tblStyle>
  <a:tblStyle styleId="{D73BCC71-8B8C-4C69-954C-324250698293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93" d="100"/>
          <a:sy n="93" d="100"/>
        </p:scale>
        <p:origin x="-132" y="-1134"/>
      </p:cViewPr>
      <p:guideLst>
        <p:guide orient="horz" pos="2209"/>
        <p:guide pos="36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19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562C9-D1D7-41F1-AA2A-B1961229F0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1" y="1122363"/>
            <a:ext cx="91444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1" y="3602038"/>
            <a:ext cx="91444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89" y="1709739"/>
            <a:ext cx="105160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89" y="4589464"/>
            <a:ext cx="105160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38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487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365126"/>
            <a:ext cx="1051608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27" y="1681163"/>
            <a:ext cx="51580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27" y="2505075"/>
            <a:ext cx="515802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486" y="1681163"/>
            <a:ext cx="518342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486" y="2505075"/>
            <a:ext cx="518342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305" y="365125"/>
            <a:ext cx="2629022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38" y="365125"/>
            <a:ext cx="773465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39" y="365126"/>
            <a:ext cx="10516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39" y="1825625"/>
            <a:ext cx="10516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38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788" y="6356351"/>
            <a:ext cx="4114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001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tags" Target="../tags/tag6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19.xml"/><Relationship Id="rId25" Type="http://schemas.openxmlformats.org/officeDocument/2006/relationships/image" Target="../media/image10.svg"/><Relationship Id="rId24" Type="http://schemas.openxmlformats.org/officeDocument/2006/relationships/image" Target="../media/image9.png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image" Target="../media/image8.svg"/><Relationship Id="rId2" Type="http://schemas.openxmlformats.org/officeDocument/2006/relationships/tags" Target="../tags/tag5.xml"/><Relationship Id="rId19" Type="http://schemas.openxmlformats.org/officeDocument/2006/relationships/image" Target="../media/image7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image" Target="../media/image4.sv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6.xml"/><Relationship Id="rId10" Type="http://schemas.openxmlformats.org/officeDocument/2006/relationships/image" Target="../media/image14.svg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21.png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tags" Target="../tags/tag40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35.png"/><Relationship Id="rId17" Type="http://schemas.openxmlformats.org/officeDocument/2006/relationships/tags" Target="../tags/tag47.xml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tags" Target="../tags/tag44.xml"/><Relationship Id="rId1" Type="http://schemas.openxmlformats.org/officeDocument/2006/relationships/tags" Target="../tags/tag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1.xml"/><Relationship Id="rId2" Type="http://schemas.openxmlformats.org/officeDocument/2006/relationships/image" Target="../media/image37.jpeg"/><Relationship Id="rId1" Type="http://schemas.openxmlformats.org/officeDocument/2006/relationships/tags" Target="../tags/tag5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58.xml"/><Relationship Id="rId10" Type="http://schemas.openxmlformats.org/officeDocument/2006/relationships/image" Target="../media/image41.svg"/><Relationship Id="rId1" Type="http://schemas.openxmlformats.org/officeDocument/2006/relationships/tags" Target="../tags/tag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63.xml"/><Relationship Id="rId29" Type="http://schemas.openxmlformats.org/officeDocument/2006/relationships/image" Target="../media/image63.svg"/><Relationship Id="rId28" Type="http://schemas.openxmlformats.org/officeDocument/2006/relationships/image" Target="../media/image62.png"/><Relationship Id="rId27" Type="http://schemas.openxmlformats.org/officeDocument/2006/relationships/tags" Target="../tags/tag77.xml"/><Relationship Id="rId26" Type="http://schemas.openxmlformats.org/officeDocument/2006/relationships/tags" Target="../tags/tag76.xml"/><Relationship Id="rId25" Type="http://schemas.openxmlformats.org/officeDocument/2006/relationships/tags" Target="../tags/tag75.xml"/><Relationship Id="rId24" Type="http://schemas.openxmlformats.org/officeDocument/2006/relationships/image" Target="../media/image61.svg"/><Relationship Id="rId23" Type="http://schemas.openxmlformats.org/officeDocument/2006/relationships/image" Target="../media/image60.png"/><Relationship Id="rId22" Type="http://schemas.openxmlformats.org/officeDocument/2006/relationships/tags" Target="../tags/tag74.xml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tags" Target="../tags/tag62.xml"/><Relationship Id="rId19" Type="http://schemas.openxmlformats.org/officeDocument/2006/relationships/image" Target="../media/image59.svg"/><Relationship Id="rId18" Type="http://schemas.openxmlformats.org/officeDocument/2006/relationships/image" Target="../media/image58.png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image" Target="../media/image57.svg"/><Relationship Id="rId13" Type="http://schemas.openxmlformats.org/officeDocument/2006/relationships/image" Target="../media/image56.png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image" Target="../media/image55.svg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svg"/><Relationship Id="rId8" Type="http://schemas.openxmlformats.org/officeDocument/2006/relationships/image" Target="../media/image70.png"/><Relationship Id="rId7" Type="http://schemas.openxmlformats.org/officeDocument/2006/relationships/image" Target="../media/image69.sv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75.svg"/><Relationship Id="rId12" Type="http://schemas.openxmlformats.org/officeDocument/2006/relationships/image" Target="../media/image74.png"/><Relationship Id="rId11" Type="http://schemas.openxmlformats.org/officeDocument/2006/relationships/image" Target="../media/image73.svg"/><Relationship Id="rId10" Type="http://schemas.openxmlformats.org/officeDocument/2006/relationships/image" Target="../media/image72.png"/><Relationship Id="rId1" Type="http://schemas.openxmlformats.org/officeDocument/2006/relationships/tags" Target="../tags/tag8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svg"/><Relationship Id="rId7" Type="http://schemas.openxmlformats.org/officeDocument/2006/relationships/image" Target="../media/image54.png"/><Relationship Id="rId6" Type="http://schemas.openxmlformats.org/officeDocument/2006/relationships/image" Target="../media/image51.svg"/><Relationship Id="rId5" Type="http://schemas.openxmlformats.org/officeDocument/2006/relationships/image" Target="../media/image77.png"/><Relationship Id="rId4" Type="http://schemas.openxmlformats.org/officeDocument/2006/relationships/image" Target="../media/image47.svg"/><Relationship Id="rId3" Type="http://schemas.openxmlformats.org/officeDocument/2006/relationships/image" Target="../media/image76.png"/><Relationship Id="rId2" Type="http://schemas.openxmlformats.org/officeDocument/2006/relationships/tags" Target="../tags/tag84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85.png"/><Relationship Id="rId14" Type="http://schemas.openxmlformats.org/officeDocument/2006/relationships/image" Target="../media/image84.png"/><Relationship Id="rId13" Type="http://schemas.openxmlformats.org/officeDocument/2006/relationships/image" Target="../media/image83.png"/><Relationship Id="rId12" Type="http://schemas.openxmlformats.org/officeDocument/2006/relationships/image" Target="../media/image82.svg"/><Relationship Id="rId11" Type="http://schemas.openxmlformats.org/officeDocument/2006/relationships/image" Target="../media/image81.png"/><Relationship Id="rId10" Type="http://schemas.openxmlformats.org/officeDocument/2006/relationships/image" Target="../media/image80.svg"/><Relationship Id="rId1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8.xml"/><Relationship Id="rId1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中标题文字位置"/>
          <p:cNvSpPr txBox="1"/>
          <p:nvPr>
            <p:custDataLst>
              <p:tags r:id="rId1"/>
            </p:custDataLst>
          </p:nvPr>
        </p:nvSpPr>
        <p:spPr>
          <a:xfrm>
            <a:off x="1106112" y="1648814"/>
            <a:ext cx="9979775" cy="2172335"/>
          </a:xfrm>
          <a:prstGeom prst="rect">
            <a:avLst/>
          </a:prstGeom>
          <a:ln w="12700">
            <a:miter lim="400000"/>
          </a:ln>
        </p:spPr>
        <p:txBody>
          <a:bodyPr wrap="square" lIns="48204" tIns="48204" rIns="48204" bIns="48204" anchor="ctr">
            <a:spAutoFit/>
          </a:bodyPr>
          <a:lstStyle>
            <a:lvl1pPr defTabSz="457200">
              <a:defRPr sz="9000">
                <a:solidFill>
                  <a:srgbClr val="FFFFFF"/>
                </a:solidFill>
                <a:latin typeface="FZYouH_510M"/>
                <a:ea typeface="FZYouH_510M"/>
                <a:cs typeface="FZYouH_510M"/>
                <a:sym typeface="FZYouH_510M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54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西方哲学史考察十讲之二</a:t>
            </a:r>
            <a:endParaRPr lang="zh-CN" altLang="en-US" sz="5400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36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 </a:t>
            </a:r>
            <a:r>
              <a:rPr lang="zh-CN" altLang="en-US" sz="36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神话与宗教</a:t>
            </a:r>
            <a:endParaRPr lang="zh-CN" altLang="en-US" sz="3600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中标题文字位置"/>
          <p:cNvSpPr txBox="1"/>
          <p:nvPr>
            <p:custDataLst>
              <p:tags r:id="rId2"/>
            </p:custDataLst>
          </p:nvPr>
        </p:nvSpPr>
        <p:spPr>
          <a:xfrm>
            <a:off x="4274223" y="4694047"/>
            <a:ext cx="3646882" cy="1202690"/>
          </a:xfrm>
          <a:prstGeom prst="rect">
            <a:avLst/>
          </a:prstGeom>
          <a:ln w="12700">
            <a:miter lim="400000"/>
          </a:ln>
        </p:spPr>
        <p:txBody>
          <a:bodyPr wrap="square" lIns="48204" tIns="48204" rIns="48204" bIns="48204" anchor="ctr">
            <a:spAutoFit/>
          </a:bodyPr>
          <a:lstStyle>
            <a:lvl1pPr defTabSz="457200">
              <a:defRPr sz="9000">
                <a:solidFill>
                  <a:srgbClr val="FFFFFF"/>
                </a:solidFill>
                <a:latin typeface="FZYouH_510M"/>
                <a:ea typeface="FZYouH_510M"/>
                <a:cs typeface="FZYouH_510M"/>
                <a:sym typeface="FZYouH_510M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梅春雷</a:t>
            </a:r>
            <a:endParaRPr lang="zh-CN" altLang="en-US" sz="2400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2400" dirty="0" err="1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2026.4.11</a:t>
            </a:r>
            <a:endParaRPr lang="en-US" altLang="zh-CN" sz="2400" dirty="0" err="1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2320" y="91630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Mythos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）是最早的人类世界观形式，是人类在远古时期（远早于有文字记载的历史，大约在旧石器时代晚期至新石器时代）用来解释自然现象、人类起源、生死、社会秩序与超自然力量的叙事性、象征性、拟人化的思想形式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2320" y="1688465"/>
            <a:ext cx="4309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神话通常是非理性的、情感驱动的、以故事为核心的，比如：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02835" y="1688465"/>
            <a:ext cx="6779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古希腊的《神谱》（赫西俄德）讲述诸神的诞生与宇宙的形成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中国的盘古开天地、女娲造人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《圣经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创世纪》在犹太教传统之前也有更古老的近东神话背景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印度的《梨俱吠陀》中也有大量关于宇宙起源的神话诗篇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2320" y="288734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结论：神话确实是人类最早的世界解释方式，早于有组织的宗教和哲学。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75920" y="3803650"/>
            <a:ext cx="11307445" cy="31115"/>
          </a:xfrm>
          <a:prstGeom prst="line">
            <a:avLst/>
          </a:prstGeom>
          <a:ln w="19050">
            <a:solidFill>
              <a:srgbClr val="0054A7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790700" y="3255645"/>
            <a:ext cx="861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Myth)--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象征性、叙事性、情感性、集体性的原始思维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2320" y="4014470"/>
            <a:ext cx="10901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神话史诗：信仰与意义的叙事表达，帮助人们理解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为什么我们要这样做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（如为什么要祭祀某个图腾），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从而增强信仰的情感认同与文化连续性。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神话是对世界起源、人类诞生、自然现象、神灵行为等问题的故事化解释，它为图腾、巫术、仪式等提供了意义背景与文化逻辑。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史诗则是神话的扩展与文学化，常以英雄人物为中心，融合神灵干预、超自然事件，反映民族信仰与价值观。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2320" y="5008245"/>
            <a:ext cx="67798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神话的功能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史诗的特点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认知发展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一、神话史诗时代的历史背景（远古至前哲学时期，约公元前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3000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–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公元前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8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世纪）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471295"/>
            <a:ext cx="558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chemeClr val="accent1">
                <a:lumMod val="50000"/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636395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1471295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时间范围：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新石器时代晚期</a:t>
            </a:r>
            <a:r>
              <a:rPr lang="en-US" altLang="zh-CN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-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青铜时代</a:t>
            </a:r>
            <a:endParaRPr lang="zh-CN" alt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2360295"/>
            <a:ext cx="558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chemeClr val="accent1">
                <a:lumMod val="50000"/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252539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1460500" y="2360295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社会结构：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从部落联盟</a:t>
            </a:r>
            <a:r>
              <a:rPr lang="en-US" altLang="zh-CN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-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城邦</a:t>
            </a:r>
            <a:r>
              <a:rPr lang="en-US" altLang="zh-CN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-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王国</a:t>
            </a:r>
            <a:r>
              <a:rPr lang="en-US" altLang="zh-CN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-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国家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，阶级分化明显（祭司、统治者、自由民）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762000" y="3249295"/>
            <a:ext cx="558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chemeClr val="accent1">
                <a:lumMod val="50000"/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3414395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1460500" y="3249295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经济基础：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农业为主，辅以畜牧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渔猎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、手工业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，形成定居村落与城邦文明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7"/>
            </p:custDataLst>
          </p:nvPr>
        </p:nvSpPr>
        <p:spPr>
          <a:xfrm>
            <a:off x="762000" y="4138295"/>
            <a:ext cx="558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chemeClr val="accent1">
                <a:lumMod val="50000"/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2500" y="4303395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21"/>
            </p:custDataLst>
          </p:nvPr>
        </p:nvSpPr>
        <p:spPr>
          <a:xfrm>
            <a:off x="1460500" y="4138295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宗教活动：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祭祀占卜维系社会团结，祭司阶层成为人神沟通的桥梁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6"/>
          <p:cNvSpPr/>
          <p:nvPr>
            <p:custDataLst>
              <p:tags r:id="rId22"/>
            </p:custDataLst>
          </p:nvPr>
        </p:nvSpPr>
        <p:spPr>
          <a:xfrm>
            <a:off x="762000" y="5027295"/>
            <a:ext cx="558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chemeClr val="accent1">
                <a:lumMod val="50000"/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52500" y="5192395"/>
            <a:ext cx="406400" cy="406400"/>
          </a:xfrm>
          <a:prstGeom prst="rect">
            <a:avLst/>
          </a:prstGeom>
        </p:spPr>
      </p:pic>
      <p:sp>
        <p:nvSpPr>
          <p:cNvPr id="19" name="AutoShape 18"/>
          <p:cNvSpPr/>
          <p:nvPr>
            <p:custDataLst>
              <p:tags r:id="rId26"/>
            </p:custDataLst>
          </p:nvPr>
        </p:nvSpPr>
        <p:spPr>
          <a:xfrm>
            <a:off x="1460500" y="5027295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神灵体系：</a:t>
            </a:r>
            <a:r>
              <a:rPr lang="en-US" sz="14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各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部落保护神编入神谱，形成主次分明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、责任角色清晰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神谱体系或转向一神论</a:t>
            </a:r>
            <a:endParaRPr lang="zh-CN" alt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17360" y="1455420"/>
            <a:ext cx="28778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巫术到神话到宗教的过渡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17360" y="1823720"/>
            <a:ext cx="52285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一）从操控巫术到祈求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/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敬畏神灵：信仰对象升华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．巫术的局限性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．神灵观念的出现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二）从多元神话到统一神学：信仰内容的系统化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．神话的多样化与地方性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．神话的整合与升华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69430" y="3958590"/>
            <a:ext cx="522859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神话所面临的根本问题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世界的起源与秩序（存在与本原）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人类的起源、神人关系（人的本质）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人类的命运与神意（自由与必然）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善恶、生死、正义（伦理与宗教的基础）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4"/>
          <p:cNvSpPr/>
          <p:nvPr>
            <p:custDataLst>
              <p:tags r:id="rId1"/>
            </p:custDataLst>
          </p:nvPr>
        </p:nvSpPr>
        <p:spPr>
          <a:xfrm>
            <a:off x="6325235" y="1846580"/>
            <a:ext cx="5104765" cy="2583815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TextBox 2"/>
          <p:cNvSpPr txBox="1"/>
          <p:nvPr>
            <p:custDataLst>
              <p:tags r:id="rId2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二、世界及人类的起源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601345" y="1846580"/>
            <a:ext cx="5104765" cy="2583815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文本框 7"/>
          <p:cNvSpPr txBox="1"/>
          <p:nvPr/>
        </p:nvSpPr>
        <p:spPr>
          <a:xfrm>
            <a:off x="676910" y="110172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古巴比伦《吉尔伽美什史诗》：探讨死亡、友谊、不朽，反映了人对生命有限性与超越死亡的永恒渴望；（犹太文化及古希腊文化的源头之一）。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《埃努玛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埃利什》，这部作品又名《巴比伦创世史诗》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或《七表诗》，是古代美索不达米亚最重要的创世文献。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13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951990"/>
            <a:ext cx="304800" cy="304800"/>
          </a:xfrm>
          <a:prstGeom prst="rect">
            <a:avLst/>
          </a:prstGeom>
        </p:spPr>
      </p:pic>
      <p:sp>
        <p:nvSpPr>
          <p:cNvPr id="14" name="AutoShape 6"/>
          <p:cNvSpPr/>
          <p:nvPr>
            <p:custDataLst>
              <p:tags r:id="rId7"/>
            </p:custDataLst>
          </p:nvPr>
        </p:nvSpPr>
        <p:spPr>
          <a:xfrm>
            <a:off x="1143000" y="191389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关于世界起源（宇宙的创造）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6910" y="2256790"/>
            <a:ext cx="48304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《埃努玛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埃利什》开篇描述了宇宙从原始水渊中诞生的过程：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*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原始神祇的出现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*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诸神世代与冲突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*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马尔杜克创世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创世逻辑：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世界是从原始混沌（提亚马特）的尸体中被秩序化的，体现了巴比伦的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混沌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秩序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宇宙观。马尔杜克的胜利确立了神界的权力结构，并为人类创造铺平道路。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463030" y="1913890"/>
            <a:ext cx="4829810" cy="2410460"/>
            <a:chOff x="11354" y="3014"/>
            <a:chExt cx="7606" cy="3796"/>
          </a:xfrm>
        </p:grpSpPr>
        <p:pic>
          <p:nvPicPr>
            <p:cNvPr id="17" name="Picture 1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354" y="3074"/>
              <a:ext cx="480" cy="480"/>
            </a:xfrm>
            <a:prstGeom prst="rect">
              <a:avLst/>
            </a:prstGeom>
          </p:spPr>
        </p:pic>
        <p:sp>
          <p:nvSpPr>
            <p:cNvPr id="18" name="AutoShape 6"/>
            <p:cNvSpPr/>
            <p:nvPr>
              <p:custDataLst>
                <p:tags r:id="rId11"/>
              </p:custDataLst>
            </p:nvPr>
          </p:nvSpPr>
          <p:spPr>
            <a:xfrm>
              <a:off x="11931" y="3014"/>
              <a:ext cx="41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关于人类起源</a:t>
              </a:r>
              <a:endPara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354" y="3614"/>
              <a:ext cx="7607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人类起源记载在第六表，是诸神在创世后的后续行动：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*</a:t>
              </a: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人类的创造目的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*</a:t>
              </a: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人类的材料与过程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关键原文（简化版）：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“</a:t>
              </a: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用他的血，埃阿造出人类；将神性的劳役加于人身，为神的解放而造人。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”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76910" y="4530090"/>
            <a:ext cx="1690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史诗结构与思想核心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86000" y="4530090"/>
            <a:ext cx="92925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七块泥板：前四表讲述神界斗争，第五表创世，第六表造人，第七表歌颂马尔杜克。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政治隐喻：史诗成文于巴比伦第一王朝（约公元前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18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世纪），旨在抬高巴比伦主神马尔杜克，对应人间的王权神圣性。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人类地位：人类是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神的奴隶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，生来为服务神界，解释了两河流域文明中神庙经济的核心地位。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5589270"/>
            <a:ext cx="2290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与《吉尔伽美什史诗》的关联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97810" y="5589270"/>
            <a:ext cx="94595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《埃努玛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埃利什》是宇宙与人类的起源；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《吉尔伽美什史诗》是对人类命运（生死、文明）的探索，两者共同构成美索不达米亚的神话体系。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人类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必死性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在两部史诗中一脉相承：在《埃努玛》中因用罪神之血造人而带有原罪；在《吉尔伽美什》中成为英雄无法突破的宿命。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三、神话母题是人类文明的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原型语言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endParaRPr lang="en-US" alt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250315"/>
            <a:ext cx="327152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神话母题的承载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62000" y="1669415"/>
            <a:ext cx="5080000" cy="304800"/>
            <a:chOff x="1200" y="2455"/>
            <a:chExt cx="8000" cy="48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00" y="2535"/>
              <a:ext cx="400" cy="40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1800" y="2455"/>
              <a:ext cx="74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人类对世界起源的想象与宇宙观构建</a:t>
              </a:r>
              <a:endPara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62000" y="2169160"/>
            <a:ext cx="5080000" cy="304800"/>
            <a:chOff x="1200" y="3155"/>
            <a:chExt cx="8000" cy="48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00" y="3235"/>
              <a:ext cx="400" cy="400"/>
            </a:xfrm>
            <a:prstGeom prst="rect">
              <a:avLst/>
            </a:prstGeom>
          </p:spPr>
        </p:pic>
        <p:sp>
          <p:nvSpPr>
            <p:cNvPr id="9" name="AutoShape 9"/>
            <p:cNvSpPr/>
            <p:nvPr/>
          </p:nvSpPr>
          <p:spPr>
            <a:xfrm>
              <a:off x="1800" y="3155"/>
              <a:ext cx="74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对生命、死亡与重生循环的哲学思考</a:t>
              </a:r>
              <a:endPara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2000" y="2668905"/>
            <a:ext cx="5080000" cy="304800"/>
            <a:chOff x="1200" y="3855"/>
            <a:chExt cx="8000" cy="48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00" y="3935"/>
              <a:ext cx="400" cy="40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1800" y="3855"/>
              <a:ext cx="74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对英雄主义、道德秩序与文化创造的追求</a:t>
              </a:r>
              <a:endPara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62000" y="3168015"/>
            <a:ext cx="5080000" cy="304800"/>
            <a:chOff x="1200" y="4555"/>
            <a:chExt cx="8000" cy="480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00" y="4635"/>
              <a:ext cx="400" cy="400"/>
            </a:xfrm>
            <a:prstGeom prst="rect">
              <a:avLst/>
            </a:prstGeom>
          </p:spPr>
        </p:pic>
        <p:sp>
          <p:nvSpPr>
            <p:cNvPr id="13" name="AutoShape 13"/>
            <p:cNvSpPr/>
            <p:nvPr/>
          </p:nvSpPr>
          <p:spPr>
            <a:xfrm>
              <a:off x="1800" y="4555"/>
              <a:ext cx="74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对自然、社会与个体命运的隐喻表达</a:t>
              </a:r>
              <a:endPara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3" name="AutoShape 16"/>
          <p:cNvSpPr/>
          <p:nvPr/>
        </p:nvSpPr>
        <p:spPr>
          <a:xfrm>
            <a:off x="5260975" y="125031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经典原型人物</a:t>
            </a:r>
            <a:endParaRPr 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260975" y="1669415"/>
            <a:ext cx="5080000" cy="1803400"/>
            <a:chOff x="8285" y="2595"/>
            <a:chExt cx="8000" cy="2840"/>
          </a:xfrm>
        </p:grpSpPr>
        <p:sp>
          <p:nvSpPr>
            <p:cNvPr id="18" name="AutoShape 18"/>
            <p:cNvSpPr/>
            <p:nvPr/>
          </p:nvSpPr>
          <p:spPr>
            <a:xfrm>
              <a:off x="8285" y="259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英雄</a:t>
              </a:r>
              <a:endPara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1085" y="259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智者 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the Meutor</a:t>
              </a:r>
              <a:endPara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3885" y="259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影子 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The Shadow</a:t>
              </a:r>
              <a:endPara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8285" y="359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变形者 </a:t>
              </a:r>
              <a:endPara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25000"/>
                </a:lnSpc>
                <a:defRPr/>
              </a:pP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The shapeshifter</a:t>
              </a:r>
              <a:endPara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1085" y="359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信使 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The Herald</a:t>
              </a:r>
              <a:endPara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4" name="AutoShape 26"/>
            <p:cNvSpPr/>
            <p:nvPr/>
          </p:nvSpPr>
          <p:spPr>
            <a:xfrm>
              <a:off x="13885" y="359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边境守卫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25000"/>
                </a:lnSpc>
                <a:defRPr/>
              </a:pP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Threshold Guardian</a:t>
              </a:r>
              <a:endPara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5" name="AutoShape 24"/>
            <p:cNvSpPr/>
            <p:nvPr/>
          </p:nvSpPr>
          <p:spPr>
            <a:xfrm>
              <a:off x="8285" y="4635"/>
              <a:ext cx="2400" cy="800"/>
            </a:xfrm>
            <a:prstGeom prst="rect">
              <a:avLst/>
            </a:prstGeom>
            <a:noFill/>
            <a:ln w="12700" cap="flat" cmpd="sng">
              <a:solidFill>
                <a:srgbClr val="0054A7"/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少女／大地母亲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 Anima/Great Mother</a:t>
              </a:r>
              <a:endPara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sp>
        <p:nvSpPr>
          <p:cNvPr id="28" name="AutoShape 5"/>
          <p:cNvSpPr/>
          <p:nvPr/>
        </p:nvSpPr>
        <p:spPr>
          <a:xfrm>
            <a:off x="762000" y="3877310"/>
            <a:ext cx="485965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神话</a:t>
            </a:r>
            <a:r>
              <a:rPr lang="en-US" altLang="zh-CN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文化的圆心与永恒的精神家园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3"/>
          <p:cNvSpPr/>
          <p:nvPr/>
        </p:nvSpPr>
        <p:spPr>
          <a:xfrm>
            <a:off x="762000" y="4260215"/>
            <a:ext cx="10183495" cy="1661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卡希尔认为神话不仅是早期人类对世界和自身的解释方式，更是人类意识、语言、宗教、艺术等文化形式的共同源头，是理解人类文化整体的一把钥匙。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一、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神话是人类认知世界的原初方式：人类通过想像、象征和叙事来理解自然．社会秩序与生命意义．神话是主种原始认知方式的集中体现。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二、神话是文化符号与价值的源头：神话是人类最早也最深刻的符号系统。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三、神话塑造民族文化认同与集本记忆。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四、神话是人类创造力的源泉。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五、神话在现代语境下的再诠释与价值重估．理性主义、科学主义的纠偏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四、命运与天命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--Namtar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Me</a:t>
            </a:r>
            <a:endParaRPr lang="en-US" alt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910" y="11017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在苏美尔神话中，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namtar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是两个核心概念，分别对应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命运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/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宿命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神圣法则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/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天命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，它们共同构成了宇宙秩序与人类生存的底层逻辑。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AutoShape 3"/>
          <p:cNvSpPr/>
          <p:nvPr>
            <p:custDataLst>
              <p:tags r:id="rId2"/>
            </p:custDataLst>
          </p:nvPr>
        </p:nvSpPr>
        <p:spPr>
          <a:xfrm>
            <a:off x="563245" y="1560830"/>
            <a:ext cx="5461000" cy="2074545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l">
              <a:lnSpc>
                <a:spcPct val="108000"/>
              </a:lnSpc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751330"/>
            <a:ext cx="406400" cy="406400"/>
          </a:xfrm>
          <a:prstGeom prst="rect">
            <a:avLst/>
          </a:prstGeom>
        </p:spPr>
      </p:pic>
      <p:sp>
        <p:nvSpPr>
          <p:cNvPr id="6" name="AutoShape 5"/>
          <p:cNvSpPr/>
          <p:nvPr>
            <p:custDataLst>
              <p:tags r:id="rId6"/>
            </p:custDataLst>
          </p:nvPr>
        </p:nvSpPr>
        <p:spPr>
          <a:xfrm>
            <a:off x="1270000" y="168783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Namtar（命运/宿命）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7" name="AutoShape 6"/>
          <p:cNvSpPr/>
          <p:nvPr>
            <p:custDataLst>
              <p:tags r:id="rId7"/>
            </p:custDataLst>
          </p:nvPr>
        </p:nvSpPr>
        <p:spPr>
          <a:xfrm>
            <a:off x="676910" y="2073910"/>
            <a:ext cx="5423535" cy="10680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词源：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nam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（本质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状态）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+ tar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（决定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裁定），直译为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被决定的身份或状态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核心含义：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个体与生俱来、不可更改的终极命运，尤其是死亡的命运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思想内涵：</a:t>
            </a:r>
            <a:endParaRPr lang="en-US" sz="1200" b="0" i="0" u="none" strike="noStrike">
              <a:solidFill>
                <a:srgbClr val="0054A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7"/>
          <p:cNvSpPr/>
          <p:nvPr>
            <p:custDataLst>
              <p:tags r:id="rId8"/>
            </p:custDataLst>
          </p:nvPr>
        </p:nvSpPr>
        <p:spPr>
          <a:xfrm>
            <a:off x="6223000" y="1560830"/>
            <a:ext cx="5723890" cy="207645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751330"/>
            <a:ext cx="406400" cy="406400"/>
          </a:xfrm>
          <a:prstGeom prst="rect">
            <a:avLst/>
          </a:prstGeom>
        </p:spPr>
      </p:pic>
      <p:sp>
        <p:nvSpPr>
          <p:cNvPr id="11" name="AutoShape 9"/>
          <p:cNvSpPr/>
          <p:nvPr>
            <p:custDataLst>
              <p:tags r:id="rId12"/>
            </p:custDataLst>
          </p:nvPr>
        </p:nvSpPr>
        <p:spPr>
          <a:xfrm>
            <a:off x="6985000" y="168783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Me（天命/神性法则）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2" name="AutoShape 10"/>
          <p:cNvSpPr/>
          <p:nvPr>
            <p:custDataLst>
              <p:tags r:id="rId13"/>
            </p:custDataLst>
          </p:nvPr>
        </p:nvSpPr>
        <p:spPr>
          <a:xfrm>
            <a:off x="6301105" y="1905000"/>
            <a:ext cx="557657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词源：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可能源于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存在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或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本质</a:t>
            </a: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，指维持宇宙运行的神圣力量与文明基石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核心含义：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维持宇宙运行的神圣力量与文明基石，涵盖自然、社会、伦理、技艺等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思想内涵：</a:t>
            </a:r>
            <a:endParaRPr lang="en-US" sz="1200" b="0" i="0" u="none" strike="noStrike">
              <a:solidFill>
                <a:srgbClr val="0054A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/>
        </p:nvSpPr>
        <p:spPr>
          <a:xfrm>
            <a:off x="716280" y="3832225"/>
            <a:ext cx="913130" cy="301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二者关系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355090" y="2768600"/>
            <a:ext cx="4612005" cy="689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被动性，由神裁定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与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自由意志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的关系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是宇宙秩序（Me）在个体层面的具体化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6985000" y="2703830"/>
            <a:ext cx="46120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客观性，宇宙法则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文明性，区分文明与野蛮的关键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政治隐喻：王权来自神赐的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，君王是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在人间的执行者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490980" y="3784600"/>
            <a:ext cx="9209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层次差异：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是宏观的、普世的宇宙法则（如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四季轮回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王权更替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437130" y="4084320"/>
            <a:ext cx="87864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namtar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是微观的、个体的命运裁定（如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某人必死于某时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），是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在个体生命中的体现。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90980" y="4450715"/>
            <a:ext cx="9209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互动逻辑：人类的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namtar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（必死命运）源自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中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凡人必死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这一根本法则。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37130" y="4750435"/>
            <a:ext cx="87864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但人类可通过遵循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的其他部分（如祭祀、正义）获得神眷，在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namtar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框架内改善现世生活。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90980" y="5071110"/>
            <a:ext cx="9209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哲学隐喻：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象征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结构的必然性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namtar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象征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个体的必然性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，两者共同构成苏美尔人的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决定论宇宙观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90980" y="5438140"/>
            <a:ext cx="998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延伸对比：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61260" y="5980430"/>
            <a:ext cx="94164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与希腊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命运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Moira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）的关联：希腊的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命运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概念（如《伊利亚特》中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命运的天平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）更接近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namtar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，但缺乏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的文明建构维度。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461260" y="5440045"/>
            <a:ext cx="92894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与埃及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Maat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的区别：埃及的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Maat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更侧重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真理、秩序、正义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的伦理维度；苏美尔的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包含大量技术性、非伦理内容（如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制革术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也是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me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），更接近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文明要素总集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四、命运与天命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--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古埃及的玛特观念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910" y="1071245"/>
            <a:ext cx="1090104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古埃及的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Maat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是理解其文明秩序、伦理与宇宙观的核心概念，其内涵远比单纯的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真理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或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正义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更为宏大深远。</a:t>
            </a:r>
            <a:endParaRPr lang="zh-CN" alt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910" y="1365250"/>
            <a:ext cx="405574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Maat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并非单一原则，而是一个统摄性的和谐体系，包含：</a:t>
            </a:r>
            <a:endParaRPr lang="zh-CN" alt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6220" y="1410335"/>
            <a:ext cx="259715" cy="259715"/>
          </a:xfrm>
          <a:prstGeom prst="rect">
            <a:avLst/>
          </a:prstGeom>
        </p:spPr>
      </p:pic>
      <p:sp>
        <p:nvSpPr>
          <p:cNvPr id="6" name="AutoShape 5"/>
          <p:cNvSpPr txBox="1"/>
          <p:nvPr>
            <p:custDataLst>
              <p:tags r:id="rId5"/>
            </p:custDataLst>
          </p:nvPr>
        </p:nvSpPr>
        <p:spPr>
          <a:xfrm>
            <a:off x="4311650" y="1365250"/>
            <a:ext cx="4064000" cy="321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宇宙秩序 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维持宇宙运行、四季轮回与尼罗河泛滥的永恒法则。</a:t>
            </a:r>
            <a:endParaRPr lang="en-US" altLang="zh-CN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46220" y="1687195"/>
            <a:ext cx="252095" cy="252095"/>
          </a:xfrm>
          <a:prstGeom prst="rect">
            <a:avLst/>
          </a:prstGeom>
        </p:spPr>
      </p:pic>
      <p:sp>
        <p:nvSpPr>
          <p:cNvPr id="9" name="AutoShape 8"/>
          <p:cNvSpPr/>
          <p:nvPr>
            <p:custDataLst>
              <p:tags r:id="rId9"/>
            </p:custDataLst>
          </p:nvPr>
        </p:nvSpPr>
        <p:spPr>
          <a:xfrm>
            <a:off x="4405630" y="1724025"/>
            <a:ext cx="406400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社会公正 </a:t>
            </a:r>
            <a:r>
              <a:rPr 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人间法理</a:t>
            </a:r>
            <a:r>
              <a:rPr lang="zh-CN" alt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、国王统治合法性、社会公平的基石</a:t>
            </a:r>
            <a:r>
              <a:rPr 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en-US" sz="10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46220" y="1986280"/>
            <a:ext cx="229870" cy="22987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405630" y="2024380"/>
            <a:ext cx="452310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伦理道德 </a:t>
            </a:r>
            <a:r>
              <a:rPr lang="zh-CN" alt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个人应具备的诚实、公正、谦逊等美德</a:t>
            </a:r>
            <a:r>
              <a:rPr 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en-US" sz="10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37965" y="2318385"/>
            <a:ext cx="260350" cy="26035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4405630" y="2324735"/>
            <a:ext cx="406400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宗教仪式 </a:t>
            </a:r>
            <a:r>
              <a:rPr lang="zh-CN" alt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通过祭祀维护神、人、自然三界的平衡</a:t>
            </a:r>
            <a:r>
              <a:rPr lang="en-US" sz="10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en-US" sz="10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345" y="2809240"/>
            <a:ext cx="1307465" cy="1896110"/>
          </a:xfrm>
          <a:prstGeom prst="round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233930" y="2809240"/>
            <a:ext cx="528193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核心象征：</a:t>
            </a:r>
            <a:r>
              <a:rPr lang="en-US" altLang="zh-CN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0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形象为头戴鸵鸟羽毛的女神玛特，或仅以一枝鸵鸟羽毛表示。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在《亡灵书》的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心脏称量审判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中，死者心脏与玛特羽毛的重量对比，决定灵魂归宿。</a:t>
            </a:r>
            <a:endParaRPr lang="zh-CN" alt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33930" y="3592830"/>
            <a:ext cx="93440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玛特的三重实践维度：</a:t>
            </a:r>
            <a:r>
              <a:rPr lang="en-US" altLang="zh-CN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0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神学维度：玛特是创世神拉在混沌（伊西斯）中建立的秩序。女神玛特是拉的女儿，每日位于太阳船头协助击退混沌蛇阿佩普，维护宇宙循环。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王权维度：法老作为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玛特之主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，职责是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践行玛特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，即通过立法、审判、祭祀维持秩序。登基仪式中，法老被交予玛特像象征接管责任。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个人维度：每个人需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行走在玛特之路上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，即诚实劳作、尊重邻里、敬神祭祀。死后审判是终极检验。</a:t>
            </a:r>
            <a:endParaRPr lang="zh-CN" alt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19" name="表格 18"/>
          <p:cNvGraphicFramePr/>
          <p:nvPr/>
        </p:nvGraphicFramePr>
        <p:xfrm>
          <a:off x="2233930" y="5008880"/>
          <a:ext cx="8372475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825"/>
                <a:gridCol w="2790825"/>
                <a:gridCol w="2790825"/>
              </a:tblGrid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概念</a:t>
                      </a:r>
                      <a:endParaRPr 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古埃及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Maat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两河流域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（苏美尔）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性质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动态的和谐、平衡、正义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静态的文明要素清单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范围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宇宙、社会、伦理三位一体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侧重文明技艺与神圣权能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实践者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法老为首的全社会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神与神庙主导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对立面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伊西斯（混沌）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无明确对立概念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可变性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需每日通过仪式与伦理维护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一旦授予即固定</a:t>
                      </a:r>
                      <a:endParaRPr lang="zh-CN" sz="10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2233930" y="4714875"/>
            <a:ext cx="6096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与两河流域概念的比较</a:t>
            </a:r>
            <a:endParaRPr lang="zh-CN" altLang="en-US" sz="10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四、命运与天命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--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古希腊神话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910" y="1101725"/>
            <a:ext cx="1060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诸神的争斗、命运三女神（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Moira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份额、命运）掌控凡人命运，表达了对宇宙秩序、人的自由与宿命的原始思考；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910" y="1446530"/>
            <a:ext cx="10577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赫西俄德的《神谱》：尝试解释宇宙如何从混沌中诞生，体现了对本原与生成的早期追问。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最先产生的确实是卡俄斯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Chaos(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混沌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)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，其次便产生盖亚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Gaia——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宽广的大地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......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盖亚首先生出乌拉诺斯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.....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他们之后，狡猾多计的克诺诺斯降生，他是大地盖亚所有子女中最小但最可怕的一个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....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广阔的大地从瑞亚手里接过宙斯，在广大的克里特岛抚养他长大。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085" y="2368550"/>
            <a:ext cx="3391535" cy="4396105"/>
          </a:xfrm>
          <a:prstGeom prst="round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四、命运与天命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--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苏美尔、古埃及、古希腊三种文化思想脉络对比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8195" y="1317625"/>
          <a:ext cx="10763885" cy="3714750"/>
        </p:xfrm>
        <a:graphic>
          <a:graphicData uri="http://schemas.openxmlformats.org/drawingml/2006/table">
            <a:tbl>
              <a:tblPr firstRow="1">
                <a:tableStyleId>{3F837627-1ABE-4DA3-9284-A35E9730AB2B}</a:tableStyleId>
              </a:tblPr>
              <a:tblGrid>
                <a:gridCol w="1861185"/>
                <a:gridCol w="2934970"/>
                <a:gridCol w="3000375"/>
                <a:gridCol w="2967355"/>
              </a:tblGrid>
              <a:tr h="52959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对比维度</a:t>
                      </a:r>
                      <a:endParaRPr lang="en-US" sz="12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苏美尔 (Namtar/Me)</a:t>
                      </a:r>
                      <a:endParaRPr lang="en-US" sz="12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古埃及 (Maat)</a:t>
                      </a:r>
                      <a:endParaRPr lang="en-US" sz="12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古希腊 (Moira)</a:t>
                      </a:r>
                      <a:endParaRPr lang="en-US" sz="12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</a:tr>
              <a:tr h="96710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宇宙秩序 vs 个体命运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 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侧重宇宙与社会的整体秩序，更接近静态的文明规则库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Namtar 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聚焦个体生命的必然性，更强调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死亡的不可逆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”</a:t>
                      </a:r>
                      <a:endParaRPr lang="en-US" altLang="zh-CN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侧重宇宙与社会的整体秩序，更强调动态平衡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聚焦个体生命的必然性，更强调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生命轨迹的注定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”</a:t>
                      </a:r>
                      <a:endParaRPr lang="en-US" altLang="zh-CN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77851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人神关系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人被动接受天命与命运，是神用来分担劳动的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工具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，服从性更突出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人可通过维护玛特成为宇宙秩序的共同维护者，甚至法老是玛特的地上代理人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人与命运的关系更具悲剧性张力：人明知命运不可抗仍奋力搏斗，神虽可干预但最终屈从于命运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77851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秩序的可塑性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最刚性（Namtar完全不可变，无法更改）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结构性固定（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 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法则本身固定，但持有者可转移）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最具弹性（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需每日由人神共同通过仪式与伦理行为重建</a:t>
                      </a: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中间态（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可被神短暂干预，但结局不变</a:t>
                      </a: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6103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对后世影响</a:t>
                      </a:r>
                      <a:endParaRPr 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是两河流域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法典化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思维（如《汉谟拉比法典》）的神圣原型。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endParaRPr lang="en-US" altLang="zh-CN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平衡即正义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”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观念，可能通过希腊化时代影响了西方自然法思想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直接塑造了西方悲剧精神，成为存在主义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自由与必然</a:t>
                      </a: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”</a:t>
                      </a: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议题的源头之一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82320" y="5327015"/>
            <a:ext cx="109010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总结：文明的深层焦虑与回应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古埃及焦虑于混沌重现（如尼罗河泛滥失常），于是以玛特为纲领构建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循环平衡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的宇宙伦理学。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苏美尔焦虑于文明脆性（干旱、外敌），于是以天命为神圣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操作系统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，以命运为人类设定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服务条款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古希腊焦虑于生命短暂与荣耀易逝，于是将命运升华为英雄史诗的悲壮舞台，在必然性中绽放人的尊严。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四、命运与天命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--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犹太民族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910" y="1101725"/>
            <a:ext cx="1060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犹太《圣约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摩西五经》：世界万物及人类起源、灾难、原罪、旧约律法。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910" y="1413510"/>
            <a:ext cx="10605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上帝七日创世、伊甸园、人类起源、原罪、大洪水、三类人种（闪、含、雅弗）、巴别塔、道德的基础（上帝向摩西传十戒）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......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910" y="3863340"/>
            <a:ext cx="106051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《约翰福音》开篇：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起初，神创造了天地。地是空虚混沌，渊面黑暗，神的灵运行在水面上。神说：要有光。于是就有了光。神看光是好的，就把光暗分开了。神称光为昼，称暗为夜。有晚上，有早晨，这是头一日。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太初有道，道与神同在，道就是神。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6275" y="5121910"/>
            <a:ext cx="106057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道，希腊文圣经，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logos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、话语、道理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，更是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神圣理性、创造的原则、神自我表达与启示的媒介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。耶稣所用的语言是亚兰文，是指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主的话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，话语，神说。后面，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道成了肉身，住在我们中间，充满地有神恩，有真理。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道成肉身对后世斯宾诺莎及黑格尔的影响。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7" name="图片 6" descr="摩西五经"/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28160" y="1884045"/>
            <a:ext cx="1565275" cy="156527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4239260" y="3379470"/>
            <a:ext cx="174371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ctr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《摩西五经》</a:t>
            </a:r>
            <a:endParaRPr lang="zh-CN" alt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第二章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古代神话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五、哲学解读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114425" y="1151255"/>
            <a:ext cx="10140315" cy="1489075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114425" y="2924810"/>
            <a:ext cx="10139680" cy="175641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114425" y="5349240"/>
            <a:ext cx="10139680" cy="13982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>
            <a:solidFill>
              <a:srgbClr val="0054A7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932430" y="4862830"/>
            <a:ext cx="673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“神话是一切人类文化的源头。” —— 卡西尔</a:t>
            </a:r>
            <a:endParaRPr 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68425" y="1220470"/>
            <a:ext cx="6477000" cy="381000"/>
            <a:chOff x="1466" y="2341"/>
            <a:chExt cx="10200" cy="600"/>
          </a:xfrm>
        </p:grpSpPr>
        <p:pic>
          <p:nvPicPr>
            <p:cNvPr id="6" name="Picture 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6" y="2441"/>
              <a:ext cx="480" cy="48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>
              <p:custDataLst>
                <p:tags r:id="rId7"/>
              </p:custDataLst>
            </p:nvPr>
          </p:nvSpPr>
          <p:spPr>
            <a:xfrm>
              <a:off x="2066" y="2341"/>
              <a:ext cx="9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erif SC" panose="02020200000000000000" charset="-122"/>
                  <a:sym typeface="Noto Serif SC" panose="02020200000000000000" charset="-122"/>
                </a:rPr>
                <a:t>神话及宗教对巫术式的超越</a:t>
              </a:r>
              <a:endPara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368425" y="2978785"/>
            <a:ext cx="6477000" cy="381000"/>
            <a:chOff x="2155" y="4811"/>
            <a:chExt cx="10200" cy="600"/>
          </a:xfrm>
        </p:grpSpPr>
        <p:pic>
          <p:nvPicPr>
            <p:cNvPr id="10" name="Picture 1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55" y="4901"/>
              <a:ext cx="480" cy="48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>
              <p:custDataLst>
                <p:tags r:id="rId11"/>
              </p:custDataLst>
            </p:nvPr>
          </p:nvSpPr>
          <p:spPr>
            <a:xfrm>
              <a:off x="2755" y="4811"/>
              <a:ext cx="9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神话是哲学</a:t>
              </a: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思维</a:t>
              </a: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的“前形态”</a:t>
              </a:r>
              <a:endPara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endParaRPr>
            </a:p>
          </p:txBody>
        </p:sp>
      </p:grpSp>
      <p:sp>
        <p:nvSpPr>
          <p:cNvPr id="17" name="AutoShape 14"/>
          <p:cNvSpPr/>
          <p:nvPr/>
        </p:nvSpPr>
        <p:spPr>
          <a:xfrm>
            <a:off x="1749425" y="1578293"/>
            <a:ext cx="9096375" cy="9232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世界解释体系化、普遍化，从对个别现象的神秘联想，发展为对世界整体的连贯理解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从操控到敬畏与皈依，从试图控制神秘力量转变为理解并敬畏神圣秩序，体现精神层面升华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从个体、局部到集体、普遍，社会整合功能强化，从局部神灵，仪式走向普遍信仰，从血缘认同到更大范围的文化的共同体认同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从模糊象征至人格化神灵，使人类与超自然的关系更加丰富与深刻，人神互动，从神秘走向意义，在恐惧中建立秩序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8" name="AutoShape 14"/>
          <p:cNvSpPr/>
          <p:nvPr/>
        </p:nvSpPr>
        <p:spPr>
          <a:xfrm>
            <a:off x="1749425" y="3378835"/>
            <a:ext cx="931164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人类第一次出现系统性、整体性解释世界的文化范式，类比，万物关联性思维。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神话是文化创作的灵感源泉。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神话体现了人类的想象力、创造力以及整体把握世界的野心。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神话是西方哲学的源头，神话的诸多思考方式及概念被哲学所继承，如：本源，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Maat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，真理，秩序，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Moira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，命运，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Logos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，生命的有限性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49425" y="5349240"/>
            <a:ext cx="6997065" cy="1384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神话</a:t>
            </a:r>
            <a:r>
              <a:rPr 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→ </a:t>
            </a:r>
            <a:r>
              <a:rPr 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哲学</a:t>
            </a: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从讲故事到讲道理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从信仰到怀疑，从信以为真道以理服人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从人格神到普遍原理、宇宙秩序、理性法则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从神话伦理道德的外在性，走向知识、主体自觉性，鼓励寻找内在的道德基础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6910" y="11017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宗教是在图腾、巫术、仪式、神话等早期信仰实践的基础上，逐渐形成的一套更为系统、规范和具有道德伦理内涵的信仰体系。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910" y="1402080"/>
            <a:ext cx="109010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将原本分散的图腾崇拜整合为对主神的信仰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将随意的巫术行为纳入到正式的宗教礼仪之中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将局部的仪式传统升华为具有普遍意义的宗教实践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将口耳相传的神话与史诗提炼为教义、经典与信仰的核心叙事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概论</a:t>
            </a:r>
            <a:endParaRPr 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910" y="260096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宗教提供了：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18615" y="2600960"/>
            <a:ext cx="97015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统一的宇宙观与生命观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系统的道德规范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组织化的信仰共同体（如祭司、教会、僧团等），宗教是这些早期文化实践的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集大成者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制度化形态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910" y="374967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宗教作为一种有组织、有仪式、有信仰体系、有道德规范与共同体形式的信仰实践，是随着人类社会复杂化（如农业革命、城邦形成、阶级分化）后逐渐形成的。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6910" y="4117975"/>
            <a:ext cx="10901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犹太教真正成型是在公元前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1000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年以后（即所谓“轴心时代”前后）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;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印度教的前身（吠陀宗教）则更早，但佛教是在公元前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6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世纪左右由释迦牟尼创立，代表了一种对传统婆罗门教的反思与革新。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它们虽汲取了远古神话的元素（如神、轮回、创世等），但更加强调信仰、伦理、救赎、修行、仪式，并逐渐形成稳定的教义与组织。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概论</a:t>
            </a:r>
            <a:endParaRPr 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910" y="110172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通常是一种以信仰为核心的社会文化体系，它包含对超自然力量（如神、神性、终极实在等）的信仰、崇拜，以及与之相关的仪式、道德规范、组织制度与精神追求。宗教往往提供关于宇宙起源、人生意义、善恶标准等问题的终极答案，并以启示、传统或信仰为基础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910" y="1746885"/>
            <a:ext cx="10901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当神话与仪式进一步体系化，出现至高神或神灵体系、教义、组织与道德规范时，宗教正在形成。包括多神教（如古希腊、古埃及）、一神教（如犹太教、基督教、伊斯兰教）等形态。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67410" y="256794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核心要素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410" y="301244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48410" y="2987040"/>
            <a:ext cx="26092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信仰</a:t>
            </a:r>
            <a:b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对超自然力量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（神、灵魂）的坚定信念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1335" y="301244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12335" y="2948940"/>
            <a:ext cx="283527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教义</a:t>
            </a:r>
            <a:b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对宇宙、人生、善恶等问题的系统解释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7810" y="2946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8810" y="2921000"/>
            <a:ext cx="21710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仪式</a:t>
            </a:r>
            <a:b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崇拜、祈祷、祭祀等行为表达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7410" y="358394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48410" y="355854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道德</a:t>
            </a: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与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伦理</a:t>
            </a:r>
            <a:b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指导信徒生活的规范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1335" y="3583940"/>
            <a:ext cx="304800" cy="304800"/>
          </a:xfrm>
          <a:prstGeom prst="rect">
            <a:avLst/>
          </a:prstGeom>
        </p:spPr>
      </p:pic>
      <p:sp>
        <p:nvSpPr>
          <p:cNvPr id="18" name="AutoShape 17"/>
          <p:cNvSpPr/>
          <p:nvPr/>
        </p:nvSpPr>
        <p:spPr>
          <a:xfrm>
            <a:off x="4712335" y="355854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组织</a:t>
            </a:r>
            <a:b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祭司、教会、僧团等制度化结构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76910" y="2443480"/>
            <a:ext cx="10410190" cy="1849755"/>
          </a:xfrm>
          <a:prstGeom prst="roundRect">
            <a:avLst/>
          </a:prstGeom>
          <a:noFill/>
          <a:ln w="19050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725930" y="4450715"/>
            <a:ext cx="8061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宗教（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Religion)--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信仰性、超越性、伦理性、仪式性的精神实践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6910" y="4989830"/>
            <a:ext cx="5126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思维目标：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回答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人生的意义是什么？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人死后会怎样？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我应该如何生活？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提供精神寄托、道德指引、终极关怀与社群归属。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47130" y="4989830"/>
            <a:ext cx="51263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举例：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基督教：信仰耶稣基督是救世主，通过忏悔与恩典获得救赎；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佛教：通过修行觉悟，摆脱轮回，达到涅槃；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伊斯兰教：顺从真主的意志，履行五功。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021705" y="5057775"/>
            <a:ext cx="6985" cy="1122045"/>
          </a:xfrm>
          <a:prstGeom prst="line">
            <a:avLst/>
          </a:prstGeom>
          <a:ln w="19050">
            <a:solidFill>
              <a:srgbClr val="0054A7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5"/>
          <p:cNvSpPr/>
          <p:nvPr>
            <p:custDataLst>
              <p:tags r:id="rId1"/>
            </p:custDataLst>
          </p:nvPr>
        </p:nvSpPr>
        <p:spPr>
          <a:xfrm>
            <a:off x="563245" y="1555115"/>
            <a:ext cx="10454005" cy="239522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2"/>
          <p:cNvSpPr txBox="1"/>
          <p:nvPr>
            <p:custDataLst>
              <p:tags r:id="rId2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一、宗教出现的历史背景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910" y="11017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大约公元前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4000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﹣前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2000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年期间，出现城市、文字、阶级分化与国家。如苏美尔、古埃及、印度河流域、中国黄河流域。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820" y="1990725"/>
            <a:ext cx="297180" cy="29718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1969135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社会复杂化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256155"/>
            <a:ext cx="25203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城邦、国家等政治组织的出现，需要统一的思想与道德体系维系秩序。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8890" y="1969135"/>
            <a:ext cx="290195" cy="290195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150360" y="197104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政治与宗教结合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82205" y="1985645"/>
            <a:ext cx="292100" cy="2921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7840345" y="1926590"/>
            <a:ext cx="1668145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战争与帝国统一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6"/>
          <p:cNvSpPr/>
          <p:nvPr>
            <p:custDataLst>
              <p:tags r:id="rId16"/>
            </p:custDataLst>
          </p:nvPr>
        </p:nvSpPr>
        <p:spPr>
          <a:xfrm>
            <a:off x="7840345" y="2244090"/>
            <a:ext cx="29394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征服推动地方神整合为统一神系，帝国行政体系促进了宗教的标准化。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6910" y="3081655"/>
            <a:ext cx="339090" cy="33909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1016000" y="3085465"/>
            <a:ext cx="2658745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宗教经典的出现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1"/>
            </p:custDataLst>
          </p:nvPr>
        </p:nvSpPr>
        <p:spPr>
          <a:xfrm>
            <a:off x="1016000" y="3375025"/>
            <a:ext cx="25203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文字记录使教义系统化、固定化，为信仰提供了权威且持久的依据。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58895" y="3091815"/>
            <a:ext cx="291465" cy="291465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4150360" y="3051175"/>
            <a:ext cx="2717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先知与宗教领袖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6"/>
            </p:custDataLst>
          </p:nvPr>
        </p:nvSpPr>
        <p:spPr>
          <a:xfrm>
            <a:off x="4109085" y="3378835"/>
            <a:ext cx="275907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改革传统信仰，提出新教义，凝聚信众，建立系统化的新宗教体系。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82205" y="3120390"/>
            <a:ext cx="255270" cy="25527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0"/>
            </p:custDataLst>
          </p:nvPr>
        </p:nvSpPr>
        <p:spPr>
          <a:xfrm>
            <a:off x="7774305" y="3085465"/>
            <a:ext cx="216789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传播与强制机制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31"/>
            </p:custDataLst>
          </p:nvPr>
        </p:nvSpPr>
        <p:spPr>
          <a:xfrm>
            <a:off x="7774305" y="3375025"/>
            <a:ext cx="300545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通过教育、仪式、法律甚至武力，突破地域限制，实现大范围统一。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2"/>
          <p:cNvSpPr/>
          <p:nvPr>
            <p:custDataLst>
              <p:tags r:id="rId32"/>
            </p:custDataLst>
          </p:nvPr>
        </p:nvSpPr>
        <p:spPr>
          <a:xfrm>
            <a:off x="4150360" y="2251710"/>
            <a:ext cx="2717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统治者利用宗教提供合法性，宗教依靠政权力量进行传播与巩固。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6910" y="155130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宗教形成的关键历史条件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6910" y="4131310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宗教出现与发展的逻辑链条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34" name="表格 33"/>
          <p:cNvGraphicFramePr/>
          <p:nvPr/>
        </p:nvGraphicFramePr>
        <p:xfrm>
          <a:off x="718820" y="4499610"/>
          <a:ext cx="10393045" cy="161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540"/>
                <a:gridCol w="2059940"/>
                <a:gridCol w="2339340"/>
                <a:gridCol w="2059940"/>
                <a:gridCol w="2153285"/>
              </a:tblGrid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社会背景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宗教表现形式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核心功能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发展趋势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原始群落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狩猎采集，流动性高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图腾、巫术、自然崇拜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解释自然、祈求生存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原始信仰萌芽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部落社会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定居农业，部落联合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图腾禁忌、巫师、祭祀仪式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社会整合、心理安慰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仪式与象征系统初步形成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城邦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早期国家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农业文明，阶级出现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城邦主神、神庙、祭司阶层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政治合法化、集体认同、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宇宙秩序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宗教组织化、神灵体系化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帝国与文明成熟期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战争、征服、跨区域统治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民族神、官方宗教、宗教经典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帝国意识形态、道德律法、文化统一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宗教系统化、经典化、普通化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676910" y="623379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宗教是人类文明的深层结构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6910" y="11017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道教形成时间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二、以道教为例，宗教对以往文化形式的继承关系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17600" y="1470025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思想准备 (先秦-汉初)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117600" y="1884045"/>
            <a:ext cx="151955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宗教形成 (东汉末年)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6520" y="1419225"/>
            <a:ext cx="6489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核心思想如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无为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长生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等已零星出现在诸子百家之中，尤其是道家哲学（老子，庄子）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7155" y="1826260"/>
            <a:ext cx="8808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约公元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142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年．张道陵在蜀地创立五斗米道（后来发展为天师道），标志着制度化道教的诞生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约公元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184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年，张角创立太平道，发动黄巾起义，也是早期道教的重要一支。《太平经》，反抗统治，改天挨地，军事化倾向，武装起义，失败后遭镇压，太平道基本消亡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37155" y="2688590"/>
            <a:ext cx="6489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这两个教派有组织，有仪式，有神灵体系，被视为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道教作为宗教正式诞生的标志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117600" y="7323455"/>
            <a:ext cx="6629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325" y="3522980"/>
            <a:ext cx="273685" cy="273685"/>
          </a:xfrm>
          <a:prstGeom prst="rect">
            <a:avLst/>
          </a:prstGeom>
        </p:spPr>
      </p:pic>
      <p:sp>
        <p:nvSpPr>
          <p:cNvPr id="17" name="AutoShape 16"/>
          <p:cNvSpPr/>
          <p:nvPr/>
        </p:nvSpPr>
        <p:spPr>
          <a:xfrm>
            <a:off x="1393825" y="3457575"/>
            <a:ext cx="2704465" cy="553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道家哲学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将老子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的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“道”神格化，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并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奉其为教主</a:t>
            </a:r>
            <a:endParaRPr lang="en-US" sz="1200" b="0" i="0" u="none" strike="noStrike">
              <a:solidFill>
                <a:srgbClr val="0054A7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2930" y="3522980"/>
            <a:ext cx="272415" cy="272415"/>
          </a:xfrm>
          <a:prstGeom prst="rect">
            <a:avLst/>
          </a:prstGeom>
        </p:spPr>
      </p:pic>
      <p:sp>
        <p:nvSpPr>
          <p:cNvPr id="20" name="AutoShape 19"/>
          <p:cNvSpPr/>
          <p:nvPr/>
        </p:nvSpPr>
        <p:spPr>
          <a:xfrm>
            <a:off x="4720590" y="3456940"/>
            <a:ext cx="2686050" cy="553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古代巫术与祭祀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吸收符篆、斋醮、占卜、风水等实践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Noto Sans SC" panose="020B0200000000000000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0" y="3522980"/>
            <a:ext cx="257175" cy="257175"/>
          </a:xfrm>
          <a:prstGeom prst="rect">
            <a:avLst/>
          </a:prstGeom>
        </p:spPr>
      </p:pic>
      <p:sp>
        <p:nvSpPr>
          <p:cNvPr id="23" name="AutoShape 22"/>
          <p:cNvSpPr/>
          <p:nvPr/>
        </p:nvSpPr>
        <p:spPr>
          <a:xfrm>
            <a:off x="8088630" y="3429000"/>
            <a:ext cx="2673985" cy="830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神仙思想与方术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融合炼丹术、气功、导引等修行方法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，《山海经》成为神话体系一部分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Noto Sans SC" panose="020B0200000000000000" charset="-122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5215" y="4439920"/>
            <a:ext cx="273050" cy="273050"/>
          </a:xfrm>
          <a:prstGeom prst="rect">
            <a:avLst/>
          </a:prstGeom>
        </p:spPr>
      </p:pic>
      <p:sp>
        <p:nvSpPr>
          <p:cNvPr id="26" name="AutoShape 25"/>
          <p:cNvSpPr/>
          <p:nvPr/>
        </p:nvSpPr>
        <p:spPr>
          <a:xfrm>
            <a:off x="1402715" y="4358640"/>
            <a:ext cx="2642870" cy="830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阴阳五行与易学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战国时期的阴阳家和五行学说、《易经》的卦象被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用于解释宇宙运行和修炼原理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Noto Sans SC" panose="020B0200000000000000" charset="-122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92930" y="4404995"/>
            <a:ext cx="281305" cy="281305"/>
          </a:xfrm>
          <a:prstGeom prst="rect">
            <a:avLst/>
          </a:prstGeom>
        </p:spPr>
      </p:pic>
      <p:sp>
        <p:nvSpPr>
          <p:cNvPr id="29" name="AutoShape 28"/>
          <p:cNvSpPr/>
          <p:nvPr/>
        </p:nvSpPr>
        <p:spPr>
          <a:xfrm>
            <a:off x="4729480" y="4363085"/>
            <a:ext cx="2413000" cy="830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儒家伦理与信仰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吸收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儒家的伦理纲常（如忠孝仁义）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及民间神灵信仰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Noto Sans SC" panose="020B0200000000000000" charset="-122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55890" y="4404995"/>
            <a:ext cx="269240" cy="269240"/>
          </a:xfrm>
          <a:prstGeom prst="rect">
            <a:avLst/>
          </a:prstGeom>
        </p:spPr>
      </p:pic>
      <p:sp>
        <p:nvSpPr>
          <p:cNvPr id="32" name="AutoShape 31"/>
          <p:cNvSpPr/>
          <p:nvPr/>
        </p:nvSpPr>
        <p:spPr>
          <a:xfrm>
            <a:off x="8097520" y="4356735"/>
            <a:ext cx="2413000" cy="553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医学、养生与健身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Noto Sans SC" panose="020B0200000000000000" charset="-122"/>
              </a:rPr>
              <a:t>与中医密切相关，强调修身养性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Noto Sans SC" panose="020B02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6910" y="310578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继承与综合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76910" y="53562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三）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主要经典与思想流派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76325" y="5680075"/>
            <a:ext cx="5238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《太平经》太平道主要经典，强调社会和谐与道德修养。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《老子想尔注》早期五斗米教对《道德经》的注解，神化老子与道。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《周易参同契》融合易学与炼丹术的重要著作，被视为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万古丹经王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30010" y="5580380"/>
            <a:ext cx="6985" cy="1122045"/>
          </a:xfrm>
          <a:prstGeom prst="line">
            <a:avLst/>
          </a:prstGeom>
          <a:ln w="19050">
            <a:solidFill>
              <a:srgbClr val="0054A7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551930" y="5680075"/>
            <a:ext cx="5238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天师道（正一道）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上清派（东晋至南朝，魏华存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女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上清派祖师）、灵宝派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全真道（约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1167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年左右）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2320" y="1294130"/>
            <a:ext cx="5314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神话中的诸神通常出自古代各民族，文化口头传统，是远古人类对自然力量、社会现象、生命奥秘等无法解释的事物所赋予的人格化想像，这些神往往具有超自然的能力，但更富有人性化的性格和情感。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三、神话中的诸神与宗教的神的区别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402070" y="1101725"/>
            <a:ext cx="42545" cy="5323840"/>
          </a:xfrm>
          <a:prstGeom prst="line">
            <a:avLst/>
          </a:prstGeom>
          <a:ln w="19050">
            <a:solidFill>
              <a:srgbClr val="0054A7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623050" y="1294130"/>
            <a:ext cx="5314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宗教的神通常是某宗教体系中至高存在或核心信仰对象，是崇拜及皈依的终极对象，具有唯一性或严格的等级结构，是道德、秩序、宇宙本源的象征。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2320" y="2297430"/>
            <a:ext cx="62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特点：</a:t>
            </a:r>
            <a:endParaRPr 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4285" y="2297430"/>
            <a:ext cx="47879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多神体系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起源多元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象征性强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2320" y="3300730"/>
            <a:ext cx="104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与人的关系：</a:t>
            </a:r>
            <a:endParaRPr 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0" y="3300730"/>
            <a:ext cx="43694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亲近、多变、甚至通婚、生育后代（英雄）、互动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情绪化、甚至任性妄为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有功能性角色、自然神灵、社会赏罚、战争、智慧、财富、丰收、繁衍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…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1950" y="2297430"/>
            <a:ext cx="62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特点：</a:t>
            </a:r>
            <a:endParaRPr 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25665" y="2297430"/>
            <a:ext cx="48888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有明确的本体论和哲学体系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超越人性，表现为全知、全善、全能，是道德和宇宙秩序的源头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具有教义与伦理指导作用，与信徒间有明确的信仰契约或救赎关系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用经典支撑，传达教义与神的意志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11950" y="3618230"/>
            <a:ext cx="104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与人的关系：</a:t>
            </a:r>
            <a:endParaRPr 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6350" y="3618230"/>
            <a:ext cx="43694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神圣与敬畏，强调绝对服从与忠诚，人类精神的终极目标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道德与救赎的关系：神不仅是力量的象征，更是道德的源泉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契约或信仰关系：信者得救，顺服真主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人类地位特殊：人类被认为是神按照自己形象创造的，具有独特的地位与使命（掌管大地、追求灵性成长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)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5"/>
          <p:cNvSpPr/>
          <p:nvPr>
            <p:custDataLst>
              <p:tags r:id="rId1"/>
            </p:custDataLst>
          </p:nvPr>
        </p:nvSpPr>
        <p:spPr>
          <a:xfrm>
            <a:off x="676910" y="4509770"/>
            <a:ext cx="10976610" cy="2295525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2"/>
          <p:cNvSpPr txBox="1"/>
          <p:nvPr>
            <p:custDataLst>
              <p:tags r:id="rId2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四、神庙的作用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080" y="4636770"/>
            <a:ext cx="299720" cy="299720"/>
          </a:xfrm>
          <a:prstGeom prst="rect">
            <a:avLst/>
          </a:prstGeom>
        </p:spPr>
      </p:pic>
      <p:sp>
        <p:nvSpPr>
          <p:cNvPr id="6" name="AutoShape 5"/>
          <p:cNvSpPr/>
          <p:nvPr/>
        </p:nvSpPr>
        <p:spPr>
          <a:xfrm>
            <a:off x="1270000" y="4604385"/>
            <a:ext cx="489775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宗教祭祀与敬神中心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1270000" y="4885055"/>
            <a:ext cx="49682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人与神沟通的中介，举行祭祀、祈祷、奉献与占卜等神圣仪式。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651375"/>
            <a:ext cx="265430" cy="264160"/>
          </a:xfrm>
          <a:prstGeom prst="rect">
            <a:avLst/>
          </a:prstGeom>
        </p:spPr>
      </p:pic>
      <p:sp>
        <p:nvSpPr>
          <p:cNvPr id="9" name="AutoShape 8"/>
          <p:cNvSpPr/>
          <p:nvPr/>
        </p:nvSpPr>
        <p:spPr>
          <a:xfrm>
            <a:off x="6809740" y="4580890"/>
            <a:ext cx="473900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社会与文化中心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6809740" y="4842510"/>
            <a:ext cx="473900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举办节庆、仪式与戏剧表演，传承神话史诗，是文化生活的核心。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080" y="5393055"/>
            <a:ext cx="279400" cy="279400"/>
          </a:xfrm>
          <a:prstGeom prst="rect">
            <a:avLst/>
          </a:prstGeom>
        </p:spPr>
      </p:pic>
      <p:sp>
        <p:nvSpPr>
          <p:cNvPr id="12" name="AutoShape 11"/>
          <p:cNvSpPr/>
          <p:nvPr/>
        </p:nvSpPr>
        <p:spPr>
          <a:xfrm>
            <a:off x="1270000" y="5316855"/>
            <a:ext cx="496824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政治与权力象征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2"/>
          <p:cNvSpPr/>
          <p:nvPr/>
        </p:nvSpPr>
        <p:spPr>
          <a:xfrm>
            <a:off x="1270000" y="555117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君主常自诩为神之代表，神庙与政权融合，彰显城邦实力与权威。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635" y="5393055"/>
            <a:ext cx="276860" cy="276860"/>
          </a:xfrm>
          <a:prstGeom prst="rect">
            <a:avLst/>
          </a:prstGeom>
        </p:spPr>
      </p:pic>
      <p:sp>
        <p:nvSpPr>
          <p:cNvPr id="15" name="AutoShape 14"/>
          <p:cNvSpPr/>
          <p:nvPr/>
        </p:nvSpPr>
        <p:spPr>
          <a:xfrm>
            <a:off x="6809740" y="5316855"/>
            <a:ext cx="473900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经济与管理功能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6809740" y="5547360"/>
            <a:ext cx="47396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控制土地、财富与劳动力，组织农业、贸易和手工业，是经济实体。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1540" y="6076950"/>
            <a:ext cx="281940" cy="281940"/>
          </a:xfrm>
          <a:prstGeom prst="rect">
            <a:avLst/>
          </a:prstGeom>
        </p:spPr>
      </p:pic>
      <p:sp>
        <p:nvSpPr>
          <p:cNvPr id="19" name="AutoShape 17"/>
          <p:cNvSpPr/>
          <p:nvPr/>
        </p:nvSpPr>
        <p:spPr>
          <a:xfrm>
            <a:off x="1269365" y="6003290"/>
            <a:ext cx="520763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教育及知识传承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8"/>
          <p:cNvSpPr/>
          <p:nvPr/>
        </p:nvSpPr>
        <p:spPr>
          <a:xfrm>
            <a:off x="1269365" y="6252845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祭司掌握天文、历法、医学与数学，保存文献并传播高级学问。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76910" y="109220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苏美尔神庙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7710" y="2881630"/>
            <a:ext cx="1951990" cy="1252855"/>
          </a:xfrm>
          <a:prstGeom prst="round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997710" y="4141470"/>
            <a:ext cx="197040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sz="9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乌尔大塔庙</a:t>
            </a:r>
            <a:endParaRPr lang="zh-CN" sz="9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6910" y="2881630"/>
            <a:ext cx="2255520" cy="1252220"/>
          </a:xfrm>
          <a:prstGeom prst="round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629150" y="4141470"/>
            <a:ext cx="1970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sz="9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帕特农神庙</a:t>
            </a:r>
            <a:endParaRPr lang="zh-CN" sz="9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730490" y="4133850"/>
            <a:ext cx="197040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9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古犹太人的耶路撒冷圣殿复原图</a:t>
            </a:r>
            <a:endParaRPr lang="zh-CN" altLang="en-US" sz="9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714500" y="1092200"/>
            <a:ext cx="85001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3500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200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年．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层级式塔庙、神像隐秘。不仅是信仰中心，更是城市运转的框纽。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人与神共居的神圣城堡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认为神庙是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神的家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天神安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Ann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，地母神、宁胡尔萨格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Ninhursag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水神恩基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Enki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6910" y="1750695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古希腊神庙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714500" y="1742440"/>
            <a:ext cx="99980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围柱式建筑、开放式建筑、神像居主室，供人朝拜，欣赏。突出了人的价值，艺术表现，城邦公共生活。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认为神不常驻神庙，神庙是神的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纪念碑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或礼拜场所；政教方离，神庙是宗教与文化象征、政治权力归于公民大会、执政党等世俗机构。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76910" y="2424430"/>
            <a:ext cx="1951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犹太人的耶路撒冷圣殿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82230" y="2881630"/>
            <a:ext cx="2067560" cy="1257935"/>
          </a:xfrm>
          <a:prstGeom prst="round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2"/>
          <p:cNvSpPr/>
          <p:nvPr>
            <p:custDataLst>
              <p:tags r:id="rId1"/>
            </p:custDataLst>
          </p:nvPr>
        </p:nvSpPr>
        <p:spPr>
          <a:xfrm>
            <a:off x="6363335" y="2740660"/>
            <a:ext cx="4031615" cy="1099820"/>
          </a:xfrm>
          <a:custGeom>
            <a:avLst/>
            <a:gdLst>
              <a:gd name="connsiteX0" fmla="*/ 2345 w 7584"/>
              <a:gd name="connsiteY0" fmla="*/ 20 h 2439"/>
              <a:gd name="connsiteX1" fmla="*/ 2273 w 7584"/>
              <a:gd name="connsiteY1" fmla="*/ 49 h 2439"/>
              <a:gd name="connsiteX2" fmla="*/ 2259 w 7584"/>
              <a:gd name="connsiteY2" fmla="*/ 63 h 2439"/>
              <a:gd name="connsiteX3" fmla="*/ 27 w 7584"/>
              <a:gd name="connsiteY3" fmla="*/ 2310 h 2439"/>
              <a:gd name="connsiteX4" fmla="*/ 84 w 7584"/>
              <a:gd name="connsiteY4" fmla="*/ 2439 h 2439"/>
              <a:gd name="connsiteX5" fmla="*/ 7474 w 7584"/>
              <a:gd name="connsiteY5" fmla="*/ 2422 h 2439"/>
              <a:gd name="connsiteX6" fmla="*/ 7565 w 7584"/>
              <a:gd name="connsiteY6" fmla="*/ 2404 h 2439"/>
              <a:gd name="connsiteX7" fmla="*/ 7584 w 7584"/>
              <a:gd name="connsiteY7" fmla="*/ 40 h 2439"/>
              <a:gd name="connsiteX8" fmla="*/ 7474 w 7584"/>
              <a:gd name="connsiteY8" fmla="*/ 3 h 2439"/>
              <a:gd name="connsiteX9" fmla="*/ 2345 w 7584"/>
              <a:gd name="connsiteY9" fmla="*/ 20 h 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84" h="2439">
                <a:moveTo>
                  <a:pt x="2345" y="20"/>
                </a:moveTo>
                <a:cubicBezTo>
                  <a:pt x="2316" y="20"/>
                  <a:pt x="2288" y="34"/>
                  <a:pt x="2273" y="49"/>
                </a:cubicBezTo>
                <a:cubicBezTo>
                  <a:pt x="2273" y="49"/>
                  <a:pt x="2273" y="63"/>
                  <a:pt x="2259" y="63"/>
                </a:cubicBezTo>
                <a:lnTo>
                  <a:pt x="27" y="2310"/>
                </a:lnTo>
                <a:cubicBezTo>
                  <a:pt x="-31" y="2353"/>
                  <a:pt x="12" y="2439"/>
                  <a:pt x="84" y="2439"/>
                </a:cubicBezTo>
                <a:lnTo>
                  <a:pt x="7474" y="2422"/>
                </a:lnTo>
                <a:cubicBezTo>
                  <a:pt x="7518" y="2422"/>
                  <a:pt x="7565" y="2447"/>
                  <a:pt x="7565" y="2404"/>
                </a:cubicBezTo>
                <a:lnTo>
                  <a:pt x="7584" y="40"/>
                </a:lnTo>
                <a:cubicBezTo>
                  <a:pt x="7584" y="-17"/>
                  <a:pt x="7518" y="3"/>
                  <a:pt x="7474" y="3"/>
                </a:cubicBezTo>
                <a:lnTo>
                  <a:pt x="2345" y="2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4">
                    <a:lumMod val="20000"/>
                    <a:lumOff val="80000"/>
                    <a:alpha val="0"/>
                  </a:schemeClr>
                </a:gs>
                <a:gs pos="2000">
                  <a:schemeClr val="accent4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96000" tIns="0" rIns="0" bIns="0" numCol="1" spcCol="0" rtlCol="0" fromWordArt="0" anchor="ctr" anchorCtr="0" forceAA="0" compatLnSpc="1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对象7"/>
          <p:cNvSpPr/>
          <p:nvPr>
            <p:custDataLst>
              <p:tags r:id="rId2"/>
            </p:custDataLst>
          </p:nvPr>
        </p:nvSpPr>
        <p:spPr>
          <a:xfrm>
            <a:off x="6279515" y="1462405"/>
            <a:ext cx="4115435" cy="1051560"/>
          </a:xfrm>
          <a:custGeom>
            <a:avLst/>
            <a:gdLst>
              <a:gd name="connsiteX0" fmla="*/ 2345 w 7603"/>
              <a:gd name="connsiteY0" fmla="*/ 2419 h 2430"/>
              <a:gd name="connsiteX1" fmla="*/ 2273 w 7603"/>
              <a:gd name="connsiteY1" fmla="*/ 2390 h 2430"/>
              <a:gd name="connsiteX2" fmla="*/ 2259 w 7603"/>
              <a:gd name="connsiteY2" fmla="*/ 2376 h 2430"/>
              <a:gd name="connsiteX3" fmla="*/ 27 w 7603"/>
              <a:gd name="connsiteY3" fmla="*/ 130 h 2430"/>
              <a:gd name="connsiteX4" fmla="*/ 84 w 7603"/>
              <a:gd name="connsiteY4" fmla="*/ 0 h 2430"/>
              <a:gd name="connsiteX5" fmla="*/ 7457 w 7603"/>
              <a:gd name="connsiteY5" fmla="*/ 11 h 2430"/>
              <a:gd name="connsiteX6" fmla="*/ 7567 w 7603"/>
              <a:gd name="connsiteY6" fmla="*/ 85 h 2430"/>
              <a:gd name="connsiteX7" fmla="*/ 7603 w 7603"/>
              <a:gd name="connsiteY7" fmla="*/ 2338 h 2430"/>
              <a:gd name="connsiteX8" fmla="*/ 7512 w 7603"/>
              <a:gd name="connsiteY8" fmla="*/ 2430 h 2430"/>
              <a:gd name="connsiteX9" fmla="*/ 2345 w 7603"/>
              <a:gd name="connsiteY9" fmla="*/ 2419 h 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03" h="2430">
                <a:moveTo>
                  <a:pt x="2345" y="2419"/>
                </a:moveTo>
                <a:cubicBezTo>
                  <a:pt x="2316" y="2419"/>
                  <a:pt x="2288" y="2405"/>
                  <a:pt x="2273" y="2390"/>
                </a:cubicBezTo>
                <a:cubicBezTo>
                  <a:pt x="2273" y="2390"/>
                  <a:pt x="2273" y="2376"/>
                  <a:pt x="2259" y="2376"/>
                </a:cubicBezTo>
                <a:lnTo>
                  <a:pt x="27" y="130"/>
                </a:lnTo>
                <a:cubicBezTo>
                  <a:pt x="-31" y="86"/>
                  <a:pt x="12" y="0"/>
                  <a:pt x="84" y="0"/>
                </a:cubicBezTo>
                <a:lnTo>
                  <a:pt x="7457" y="11"/>
                </a:lnTo>
                <a:cubicBezTo>
                  <a:pt x="7501" y="11"/>
                  <a:pt x="7567" y="28"/>
                  <a:pt x="7567" y="85"/>
                </a:cubicBezTo>
                <a:lnTo>
                  <a:pt x="7603" y="2338"/>
                </a:lnTo>
                <a:cubicBezTo>
                  <a:pt x="7603" y="2381"/>
                  <a:pt x="7556" y="2430"/>
                  <a:pt x="7512" y="2430"/>
                </a:cubicBezTo>
                <a:lnTo>
                  <a:pt x="2345" y="2419"/>
                </a:lnTo>
              </a:path>
            </a:pathLst>
          </a:custGeom>
          <a:noFill/>
          <a:ln w="12700">
            <a:gradFill>
              <a:gsLst>
                <a:gs pos="100000">
                  <a:schemeClr val="accent3">
                    <a:lumMod val="20000"/>
                    <a:lumOff val="80000"/>
                    <a:alpha val="0"/>
                  </a:schemeClr>
                </a:gs>
                <a:gs pos="2000">
                  <a:schemeClr val="accent3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96000" tIns="0" rIns="0" bIns="0" numCol="1" spcCol="0" rtlCol="0" fromWordArt="0" anchor="ctr" anchorCtr="0" forceAA="0" compatLnSpc="1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对象8"/>
          <p:cNvSpPr/>
          <p:nvPr>
            <p:custDataLst>
              <p:tags r:id="rId3"/>
            </p:custDataLst>
          </p:nvPr>
        </p:nvSpPr>
        <p:spPr>
          <a:xfrm>
            <a:off x="6079490" y="120078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3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03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" name="对象9"/>
          <p:cNvSpPr/>
          <p:nvPr>
            <p:custDataLst>
              <p:tags r:id="rId4"/>
            </p:custDataLst>
          </p:nvPr>
        </p:nvSpPr>
        <p:spPr>
          <a:xfrm>
            <a:off x="6085840" y="3389630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4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04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8" name="对象10"/>
          <p:cNvSpPr/>
          <p:nvPr>
            <p:custDataLst>
              <p:tags r:id="rId5"/>
            </p:custDataLst>
          </p:nvPr>
        </p:nvSpPr>
        <p:spPr>
          <a:xfrm flipH="1">
            <a:off x="1460500" y="2740660"/>
            <a:ext cx="4258945" cy="1099820"/>
          </a:xfrm>
          <a:custGeom>
            <a:avLst/>
            <a:gdLst>
              <a:gd name="connsiteX0" fmla="*/ 2345 w 7584"/>
              <a:gd name="connsiteY0" fmla="*/ 20 h 2439"/>
              <a:gd name="connsiteX1" fmla="*/ 2273 w 7584"/>
              <a:gd name="connsiteY1" fmla="*/ 49 h 2439"/>
              <a:gd name="connsiteX2" fmla="*/ 2259 w 7584"/>
              <a:gd name="connsiteY2" fmla="*/ 63 h 2439"/>
              <a:gd name="connsiteX3" fmla="*/ 27 w 7584"/>
              <a:gd name="connsiteY3" fmla="*/ 2310 h 2439"/>
              <a:gd name="connsiteX4" fmla="*/ 84 w 7584"/>
              <a:gd name="connsiteY4" fmla="*/ 2439 h 2439"/>
              <a:gd name="connsiteX5" fmla="*/ 7474 w 7584"/>
              <a:gd name="connsiteY5" fmla="*/ 2422 h 2439"/>
              <a:gd name="connsiteX6" fmla="*/ 7565 w 7584"/>
              <a:gd name="connsiteY6" fmla="*/ 2404 h 2439"/>
              <a:gd name="connsiteX7" fmla="*/ 7584 w 7584"/>
              <a:gd name="connsiteY7" fmla="*/ 40 h 2439"/>
              <a:gd name="connsiteX8" fmla="*/ 7474 w 7584"/>
              <a:gd name="connsiteY8" fmla="*/ 3 h 2439"/>
              <a:gd name="connsiteX9" fmla="*/ 2345 w 7584"/>
              <a:gd name="connsiteY9" fmla="*/ 20 h 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84" h="2439">
                <a:moveTo>
                  <a:pt x="2345" y="20"/>
                </a:moveTo>
                <a:cubicBezTo>
                  <a:pt x="2316" y="20"/>
                  <a:pt x="2288" y="34"/>
                  <a:pt x="2273" y="49"/>
                </a:cubicBezTo>
                <a:cubicBezTo>
                  <a:pt x="2273" y="49"/>
                  <a:pt x="2273" y="63"/>
                  <a:pt x="2259" y="63"/>
                </a:cubicBezTo>
                <a:lnTo>
                  <a:pt x="27" y="2310"/>
                </a:lnTo>
                <a:cubicBezTo>
                  <a:pt x="-31" y="2353"/>
                  <a:pt x="12" y="2439"/>
                  <a:pt x="84" y="2439"/>
                </a:cubicBezTo>
                <a:lnTo>
                  <a:pt x="7474" y="2422"/>
                </a:lnTo>
                <a:cubicBezTo>
                  <a:pt x="7518" y="2422"/>
                  <a:pt x="7565" y="2447"/>
                  <a:pt x="7565" y="2404"/>
                </a:cubicBezTo>
                <a:lnTo>
                  <a:pt x="7584" y="40"/>
                </a:lnTo>
                <a:cubicBezTo>
                  <a:pt x="7584" y="-17"/>
                  <a:pt x="7518" y="3"/>
                  <a:pt x="7474" y="3"/>
                </a:cubicBezTo>
                <a:lnTo>
                  <a:pt x="2345" y="2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2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1296000" bIns="0" numCol="1" spcCol="0" rtlCol="0" fromWordArt="0" anchor="ctr" anchorCtr="0" forceAA="0" compatLnSpc="1">
            <a:noAutofit/>
          </a:bodyPr>
          <a:p>
            <a:pPr lvl="0"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对象11"/>
          <p:cNvSpPr/>
          <p:nvPr>
            <p:custDataLst>
              <p:tags r:id="rId6"/>
            </p:custDataLst>
          </p:nvPr>
        </p:nvSpPr>
        <p:spPr>
          <a:xfrm flipH="1">
            <a:off x="1595120" y="1476375"/>
            <a:ext cx="4124325" cy="1038225"/>
          </a:xfrm>
          <a:custGeom>
            <a:avLst/>
            <a:gdLst>
              <a:gd name="connsiteX0" fmla="*/ 2345 w 7603"/>
              <a:gd name="connsiteY0" fmla="*/ 2419 h 2430"/>
              <a:gd name="connsiteX1" fmla="*/ 2273 w 7603"/>
              <a:gd name="connsiteY1" fmla="*/ 2390 h 2430"/>
              <a:gd name="connsiteX2" fmla="*/ 2259 w 7603"/>
              <a:gd name="connsiteY2" fmla="*/ 2376 h 2430"/>
              <a:gd name="connsiteX3" fmla="*/ 27 w 7603"/>
              <a:gd name="connsiteY3" fmla="*/ 130 h 2430"/>
              <a:gd name="connsiteX4" fmla="*/ 84 w 7603"/>
              <a:gd name="connsiteY4" fmla="*/ 0 h 2430"/>
              <a:gd name="connsiteX5" fmla="*/ 7457 w 7603"/>
              <a:gd name="connsiteY5" fmla="*/ 11 h 2430"/>
              <a:gd name="connsiteX6" fmla="*/ 7567 w 7603"/>
              <a:gd name="connsiteY6" fmla="*/ 85 h 2430"/>
              <a:gd name="connsiteX7" fmla="*/ 7603 w 7603"/>
              <a:gd name="connsiteY7" fmla="*/ 2338 h 2430"/>
              <a:gd name="connsiteX8" fmla="*/ 7512 w 7603"/>
              <a:gd name="connsiteY8" fmla="*/ 2430 h 2430"/>
              <a:gd name="connsiteX9" fmla="*/ 2345 w 7603"/>
              <a:gd name="connsiteY9" fmla="*/ 2419 h 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03" h="2430">
                <a:moveTo>
                  <a:pt x="2345" y="2419"/>
                </a:moveTo>
                <a:cubicBezTo>
                  <a:pt x="2316" y="2419"/>
                  <a:pt x="2288" y="2405"/>
                  <a:pt x="2273" y="2390"/>
                </a:cubicBezTo>
                <a:cubicBezTo>
                  <a:pt x="2273" y="2390"/>
                  <a:pt x="2273" y="2376"/>
                  <a:pt x="2259" y="2376"/>
                </a:cubicBezTo>
                <a:lnTo>
                  <a:pt x="27" y="130"/>
                </a:lnTo>
                <a:cubicBezTo>
                  <a:pt x="-31" y="86"/>
                  <a:pt x="12" y="0"/>
                  <a:pt x="84" y="0"/>
                </a:cubicBezTo>
                <a:lnTo>
                  <a:pt x="7457" y="11"/>
                </a:lnTo>
                <a:cubicBezTo>
                  <a:pt x="7501" y="11"/>
                  <a:pt x="7567" y="28"/>
                  <a:pt x="7567" y="85"/>
                </a:cubicBezTo>
                <a:lnTo>
                  <a:pt x="7603" y="2338"/>
                </a:lnTo>
                <a:cubicBezTo>
                  <a:pt x="7603" y="2381"/>
                  <a:pt x="7556" y="2430"/>
                  <a:pt x="7512" y="2430"/>
                </a:cubicBezTo>
                <a:lnTo>
                  <a:pt x="2345" y="2419"/>
                </a:lnTo>
              </a:path>
            </a:pathLst>
          </a:custGeom>
          <a:noFill/>
          <a:ln w="12700"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1296000" bIns="0" numCol="1" spcCol="0" rtlCol="0" fromWordArt="0" anchor="ctr" anchorCtr="0" forceAA="0" compatLnSpc="1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lang="en-US" altLang="zh-CN" sz="1000" dirty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对象12"/>
          <p:cNvSpPr/>
          <p:nvPr>
            <p:custDataLst>
              <p:tags r:id="rId7"/>
            </p:custDataLst>
          </p:nvPr>
        </p:nvSpPr>
        <p:spPr>
          <a:xfrm>
            <a:off x="5176520" y="1209040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01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2" name="对象13"/>
          <p:cNvSpPr/>
          <p:nvPr>
            <p:custDataLst>
              <p:tags r:id="rId8"/>
            </p:custDataLst>
          </p:nvPr>
        </p:nvSpPr>
        <p:spPr>
          <a:xfrm>
            <a:off x="5213350" y="3389630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02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3" name="对象6"/>
          <p:cNvSpPr/>
          <p:nvPr>
            <p:custDataLst>
              <p:tags r:id="rId9"/>
            </p:custDataLst>
          </p:nvPr>
        </p:nvSpPr>
        <p:spPr>
          <a:xfrm>
            <a:off x="4980940" y="1642745"/>
            <a:ext cx="2038350" cy="1957705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15000"/>
            </a:schemeClr>
          </a:solidFill>
        </p:spPr>
        <p:txBody>
          <a:bodyPr>
            <a:noAutofit/>
          </a:bodyPr>
          <a:p>
            <a:endParaRPr lang="zh-CN" altLang="en-US" sz="1200" dirty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对象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213350" y="1848485"/>
            <a:ext cx="1567815" cy="1541145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古代宗教与政权的关系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6" name="TextBox 2"/>
          <p:cNvSpPr txBox="1"/>
          <p:nvPr>
            <p:custDataLst>
              <p:tags r:id="rId1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五、古代宗教与政权的关系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69340" y="1534160"/>
            <a:ext cx="38436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宗教先于政权，赋予合法化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宗教信仰或神灵崇拜早于政治组织，统治者供宗教权威来巩固权力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（苏美尔、埃及、犹太教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)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87235" y="1476375"/>
            <a:ext cx="38436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宗教与政权紧密合一，神权政治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政治领袖同时是宗教领袖．如祭司王、法老即神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9340" y="2708275"/>
            <a:ext cx="38430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宗教与政治功能相对分离但协作：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政教各有机构职能．在重大事务上相互支持．宗教为政权提供道德与精神支持。如古希腊城邦中的神庙与政府并存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87870" y="2863215"/>
            <a:ext cx="38430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宗教相对独立或受压制：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政教有距离，宗教仅为社会一部分，不直接参与政治统治，与王权关系松散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51890" y="4275455"/>
            <a:ext cx="10093960" cy="579755"/>
            <a:chOff x="1814" y="6496"/>
            <a:chExt cx="15896" cy="913"/>
          </a:xfrm>
        </p:grpSpPr>
        <p:sp>
          <p:nvSpPr>
            <p:cNvPr id="20" name="AutoShape 5"/>
            <p:cNvSpPr/>
            <p:nvPr/>
          </p:nvSpPr>
          <p:spPr>
            <a:xfrm>
              <a:off x="1814" y="6496"/>
              <a:ext cx="1077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25000"/>
                </a:lnSpc>
                <a:buFont typeface="Wingdings" panose="05000000000000000000" charset="0"/>
                <a:buChar char="l"/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苏美尔：</a:t>
              </a:r>
              <a:endPara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1" name="AutoShape 6"/>
            <p:cNvSpPr/>
            <p:nvPr/>
          </p:nvSpPr>
          <p:spPr>
            <a:xfrm>
              <a:off x="3082" y="6537"/>
              <a:ext cx="14628" cy="8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indent="0" algn="l" fontAlgn="auto">
                <a:lnSpc>
                  <a:spcPct val="150000"/>
                </a:lnSpc>
                <a:defRPr/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国王、恩西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ensi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或者卢伽尔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Lugal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，即</a:t>
              </a: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是政治领袖，也是宗教仪式的主持者，是神的代表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。祭司阶层权力极大，有时凌架于世俗权力之上，形成神权主导型政体，神庙是权力的核心。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151890" y="5005705"/>
            <a:ext cx="10093960" cy="579755"/>
            <a:chOff x="1814" y="6496"/>
            <a:chExt cx="15896" cy="913"/>
          </a:xfrm>
        </p:grpSpPr>
        <p:sp>
          <p:nvSpPr>
            <p:cNvPr id="24" name="AutoShape 5"/>
            <p:cNvSpPr/>
            <p:nvPr/>
          </p:nvSpPr>
          <p:spPr>
            <a:xfrm>
              <a:off x="1814" y="6496"/>
              <a:ext cx="1077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25000"/>
                </a:lnSpc>
                <a:buFont typeface="Wingdings" panose="05000000000000000000" charset="0"/>
                <a:buChar char="l"/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古埃及：</a:t>
              </a:r>
              <a:endPara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5" name="AutoShape 6"/>
            <p:cNvSpPr/>
            <p:nvPr/>
          </p:nvSpPr>
          <p:spPr>
            <a:xfrm>
              <a:off x="3082" y="6537"/>
              <a:ext cx="14628" cy="8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indent="0" algn="l" fontAlgn="auto">
                <a:lnSpc>
                  <a:spcPct val="150000"/>
                </a:lnSpc>
                <a:defRPr/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法老，神人合一。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主神、太阳神（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Ra)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、冥王奥西里斯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Osiris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保护神荷鲁斯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Holus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等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是宇宙秩序玛阿特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Maat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的维护者。</a:t>
              </a: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法老是神在人间的代表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51890" y="5697220"/>
            <a:ext cx="10093960" cy="355600"/>
            <a:chOff x="1814" y="6496"/>
            <a:chExt cx="15896" cy="560"/>
          </a:xfrm>
        </p:grpSpPr>
        <p:sp>
          <p:nvSpPr>
            <p:cNvPr id="27" name="AutoShape 5"/>
            <p:cNvSpPr/>
            <p:nvPr/>
          </p:nvSpPr>
          <p:spPr>
            <a:xfrm>
              <a:off x="1814" y="6496"/>
              <a:ext cx="1077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25000"/>
                </a:lnSpc>
                <a:buFont typeface="Wingdings" panose="05000000000000000000" charset="0"/>
                <a:buChar char="l"/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犹太教：</a:t>
              </a:r>
              <a:endPara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8" name="AutoShape 6"/>
            <p:cNvSpPr/>
            <p:nvPr/>
          </p:nvSpPr>
          <p:spPr>
            <a:xfrm>
              <a:off x="3082" y="6548"/>
              <a:ext cx="14628" cy="43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indent="0" algn="l" fontAlgn="auto">
                <a:lnSpc>
                  <a:spcPct val="150000"/>
                </a:lnSpc>
                <a:defRPr/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宗教先于政权，为政权据供合法性。</a:t>
              </a: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王权始终受先知与宗教律法的约束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。唯一真神，律法至上，先知监督。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51890" y="6151880"/>
            <a:ext cx="10093960" cy="355600"/>
            <a:chOff x="1814" y="6496"/>
            <a:chExt cx="15896" cy="560"/>
          </a:xfrm>
        </p:grpSpPr>
        <p:sp>
          <p:nvSpPr>
            <p:cNvPr id="30" name="AutoShape 5"/>
            <p:cNvSpPr/>
            <p:nvPr/>
          </p:nvSpPr>
          <p:spPr>
            <a:xfrm>
              <a:off x="1814" y="6496"/>
              <a:ext cx="1077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25000"/>
                </a:lnSpc>
                <a:buFont typeface="Wingdings" panose="05000000000000000000" charset="0"/>
                <a:buChar char="l"/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古希腊：</a:t>
              </a:r>
              <a:endPara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1" name="AutoShape 6"/>
            <p:cNvSpPr/>
            <p:nvPr/>
          </p:nvSpPr>
          <p:spPr>
            <a:xfrm>
              <a:off x="3082" y="6541"/>
              <a:ext cx="14628" cy="43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indent="0" algn="l" fontAlgn="auto">
                <a:lnSpc>
                  <a:spcPct val="150000"/>
                </a:lnSpc>
                <a:defRPr/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相信神会影响命运及城邦兴衰，但并不认为某个统治者是神的化身。</a:t>
              </a: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政治权力来源于公民集体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  <p:custDataLst>
      <p:tags r:id="rId1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6910" y="1178560"/>
            <a:ext cx="10901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与古希腊、古代中国文化中的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开放多元、高度思辨、注重现实与人文理性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等特点密切相关。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这两个文明更倾向于通过哲学、伦理、自然观与政治思想来回应人类对宇宙、生命与社会的根本追问，而非依赖教条化的宗教体系。它们并非不满意宗教，而是发展出了替代性的，同样深邃的思想传统，从而在精神层面实现了另一种形式的超越，替代宗教回答了关于生命意义、道德社会秩序，人与自然关系等问题．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六、为什么古希腊、古代中国没有出现严格统一的宗教？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676910" y="2331085"/>
          <a:ext cx="10861675" cy="3166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885"/>
                <a:gridCol w="4379595"/>
                <a:gridCol w="4735195"/>
              </a:tblGrid>
              <a:tr h="74549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古希腊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神话</a:t>
                      </a:r>
                      <a:r>
                        <a:rPr lang="en-US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哲学</a:t>
                      </a:r>
                      <a:r>
                        <a:rPr lang="en-US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科学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t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古代中国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宗教祭祀</a:t>
                      </a:r>
                      <a:r>
                        <a:rPr lang="en-US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伦理政治学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t" anchorCtr="0">
                    <a:solidFill>
                      <a:srgbClr val="0054A7"/>
                    </a:solidFill>
                  </a:tcPr>
                </a:tc>
              </a:tr>
              <a:tr h="456565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宗教形态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多神教，神话发达，但非教条化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祖先崇拜，天命信仰，但非制度化宗教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502285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思想传统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 defTabSz="91440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4820" algn="l"/>
                        </a:tabLs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哲学高度发达，理性逻辑，自然观，理性主义，人文主义，多元竞争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百家争鸣，多元竞争，自然伦理，政治哲学，道德、礼治，自然之道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，来解释世界与人，没有形成垄断性意识形态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50292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文化特质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人文主义，美学，辩论精神，体育悲剧，艺术，诗歌，雕塑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人文伦理，实践理性，天人合一，以人为本，修治平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道：自然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--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无为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503555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对教条的态度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哲学超越神话，理性探索世界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重人事轻鬼神，讲求灵活与适应，重现世，注重现实，重仁政，人伦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45593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宗教与政权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政教分离或弱结合，宗教地方化，宗教多为城邦仪式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just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宗教为政治服务，天命与德治结合，君主成为天子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76910" y="5601335"/>
            <a:ext cx="10901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中国思想家更关心人如何在社会中生活，如何治理国家，如何达到和谐与道德完善，而不是寻找宇宙终极真理或死后世界。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古希腊有丰富的宗教信仰与实践，但它虽不是一种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制度性宗教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，也不具备严格意义上的教义体系或唯一真神的中心化结构，更近似于多神教，一种文化仪式与神话信仰的混合体。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4"/>
          <p:cNvSpPr/>
          <p:nvPr>
            <p:custDataLst>
              <p:tags r:id="rId1"/>
            </p:custDataLst>
          </p:nvPr>
        </p:nvSpPr>
        <p:spPr>
          <a:xfrm>
            <a:off x="6350635" y="3816985"/>
            <a:ext cx="5207000" cy="1859915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0054A7"/>
              </a:solidFill>
            </a:endParaRPr>
          </a:p>
        </p:txBody>
      </p:sp>
      <p:sp>
        <p:nvSpPr>
          <p:cNvPr id="13" name="AutoShape 4"/>
          <p:cNvSpPr/>
          <p:nvPr>
            <p:custDataLst>
              <p:tags r:id="rId2"/>
            </p:custDataLst>
          </p:nvPr>
        </p:nvSpPr>
        <p:spPr>
          <a:xfrm>
            <a:off x="6350635" y="1485265"/>
            <a:ext cx="5207000" cy="1859915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0054A7"/>
              </a:solidFill>
            </a:endParaRPr>
          </a:p>
        </p:txBody>
      </p:sp>
      <p:sp>
        <p:nvSpPr>
          <p:cNvPr id="3" name="AutoShape 4"/>
          <p:cNvSpPr/>
          <p:nvPr>
            <p:custDataLst>
              <p:tags r:id="rId3"/>
            </p:custDataLst>
          </p:nvPr>
        </p:nvSpPr>
        <p:spPr>
          <a:xfrm>
            <a:off x="889635" y="3816985"/>
            <a:ext cx="5207000" cy="1859915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0054A7"/>
              </a:solidFill>
            </a:endParaRPr>
          </a:p>
        </p:txBody>
      </p:sp>
      <p:sp>
        <p:nvSpPr>
          <p:cNvPr id="16" name="TextBox 2"/>
          <p:cNvSpPr txBox="1"/>
          <p:nvPr>
            <p:custDataLst>
              <p:tags r:id="rId4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七、为什么近东，中东地区产生一神教？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AutoShape 4"/>
          <p:cNvSpPr/>
          <p:nvPr>
            <p:custDataLst>
              <p:tags r:id="rId5"/>
            </p:custDataLst>
          </p:nvPr>
        </p:nvSpPr>
        <p:spPr>
          <a:xfrm>
            <a:off x="889635" y="1485265"/>
            <a:ext cx="5207000" cy="1859915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4A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0054A7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87120" y="154178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苦难与不安：</a:t>
            </a:r>
            <a:r>
              <a:rPr lang="zh-CN" alt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催生对终极秩序与超越性答案的渴求</a:t>
            </a:r>
            <a:endParaRPr lang="zh-CN" altLang="en-US" sz="14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86485" y="1922780"/>
            <a:ext cx="4915535" cy="12922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战乱、压迫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、疾病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与死亡频发，人们渴望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全知、全能、全善的单一神灵；关于正义．救赎、与来世的承诺；关于正义．救赎、与来世的承诺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一神教提供了心理安慰和道德指引，成为乱世中的精神避风港。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497320" y="154178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社会</a:t>
            </a:r>
            <a:r>
              <a:rPr lang="zh-CN" alt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分裂与冲突</a:t>
            </a: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催生对统一性与普世性的渴望</a:t>
            </a:r>
            <a:endParaRPr lang="zh-CN" altLang="en-US" sz="14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497320" y="1922780"/>
            <a:ext cx="4914900" cy="645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部落林立与城邦割据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导致社会碎片化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一神教提供了超越血缘和地域的共同信仰，成为凝聚不同群体的强大精神力量。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1086485" y="3940175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保守性与传统性</a:t>
            </a:r>
            <a:r>
              <a:rPr 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有利于一神教教义的稳定与传承</a:t>
            </a:r>
            <a:endParaRPr lang="zh-CN" altLang="en-US" sz="14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1086485" y="4321175"/>
            <a:ext cx="4914900" cy="969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保守社群倾向于维护稳定的价值体系，</a:t>
            </a:r>
            <a:r>
              <a:rPr lang="zh-CN" alt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拒绝信仰上的多元与混乱，</a:t>
            </a:r>
            <a:r>
              <a:rPr lang="en-US" sz="14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强调对唯一真理的忠诚。一神教的排他性与确定性符合这种对秩序和传统的需求。</a:t>
            </a:r>
            <a:endParaRPr lang="en-US" sz="14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6497320" y="3940175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先知传统与启示宗教：在动荡中诞生改革者与统一者</a:t>
            </a:r>
            <a:endParaRPr lang="zh-CN" altLang="en-US" sz="14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497955" y="4321175"/>
            <a:ext cx="4914265" cy="969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  <a:defRPr/>
            </a:pP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在社会矛盾尖锐的背景下，先知型领袖能够提出简单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明确、具有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号召力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的信仰体系，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从而迅速凝聚人心、形成新的宗教共同体。</a:t>
            </a:r>
            <a:endParaRPr 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八、宗教修行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910" y="116141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宗教修行是通过特定的行为，心理训练、生活方式或意识调整，来实现与超越与超越性实在（如神、道、佛性、终极真理）的连接，或达到内在觉醒、解脱、净化等目标的过程。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910" y="1853565"/>
            <a:ext cx="1323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常见的修行方式：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2109470" y="1951990"/>
          <a:ext cx="8532495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45"/>
                <a:gridCol w="2962910"/>
                <a:gridCol w="4130040"/>
              </a:tblGrid>
              <a:tr h="3162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例子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宗教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传统</a:t>
                      </a: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0054A7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禁欲与苦行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不婚、不食、远离享乐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印度教苦行者、早期基督教隐修士、佛教头陀行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162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持戒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不杀生、不妄语、不偷盗等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佛教五戒／八戒／比丘戒，道教清规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1559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冥想／禅修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专注呼吸、觉察念头、空观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佛教禅修、印度瑜伽、道教内观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68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念诵与祈祷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念佛号、诵经、祈祷神名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佛教念佛、基督教祈祷、伊斯兰教念诵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“安拉”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62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斋戒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定期禁食、节制饮食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伊斯兰教斋月、犹太教赎罪日、佛教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“饿鬼施食”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162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内观／觉知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观照身心变化、觉察当下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佛教内观（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Vipassana)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、正念疗法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62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默观／沉思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沉入静默、与神／道／本我连接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基督教默观传统、苏菲派神秘主义、道家坐忘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76910" y="4947285"/>
            <a:ext cx="1323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修行有效性探讨：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51050" y="4947285"/>
            <a:ext cx="9468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）心理学与神经科学视角：从现代科学看，很多修行方式确实能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有效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改善心理健康、提升意识状态、促进内在平静，这些是修行者常报告的主观效果。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）宗教目标视角：佛教修行确实可以让部分人达到深刻的心理转化、意识扩展与超越性体验，某些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神通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或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“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洞察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”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在历史与实践中有所记载。但终极目标（如彻底涅槃）极难验证，属个体精神体验范畴。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6910" y="1180465"/>
            <a:ext cx="1090104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宗教神秘主义传统中，有大量关于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与神合一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的主观体验记载，是许多信徒修行追求的至高境界。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八、宗教修行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910" y="1548765"/>
            <a:ext cx="1090104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印度教：与梵合一（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Brahman)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、解脱（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Moksha) </a:t>
            </a:r>
            <a:endParaRPr lang="en-US" alt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50035" y="1914525"/>
            <a:ext cx="72504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目标：认识到个体灵魂（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Atman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）与宇宙终极实在（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Brahman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）本质同一，从而脱离轮回。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修行方式：瑜伽、苦行、冥想、唱颂（如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唵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")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、奉献（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Bhakti)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、知识（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Jnana)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4710" y="2609850"/>
            <a:ext cx="921702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印度教中的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合一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体验在高级修行者中有广泛描述，与深度冥想和意识转变相关，是可实现的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宗教经验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910" y="3039745"/>
            <a:ext cx="1090104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道教：天人合一、长生久视、得道成仙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50035" y="3451860"/>
            <a:ext cx="72504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目标：与道合一，顺应自然，达到身心超越，甚至飞升成仙。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修行方式：内丹术、外丹术、导引、吐纳、守一、清静无为、符箓斋醮。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4710" y="4189095"/>
            <a:ext cx="87991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道教修行能带来深度的身心转化与自然和谐体验，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天人合一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是一种可体验的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合一感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910" y="4809490"/>
            <a:ext cx="6384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基督教／苏菲派／神秘主义：与神合一、默观、爱之融合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0035" y="5147945"/>
            <a:ext cx="54025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目标：通过祈祷、默观、爱神，与上帝／真主／终极实在合而为一。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修行方式：祈祷、默想、禁食、爱德实践、灵修阅读。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4710" y="5885180"/>
            <a:ext cx="921702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这些体验常伴随强烈的情感、合一感与超越感。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01635" y="4837430"/>
            <a:ext cx="3576320" cy="1657985"/>
          </a:xfrm>
          <a:prstGeom prst="roundRect">
            <a:avLst/>
          </a:prstGeom>
          <a:noFill/>
          <a:ln w="19050">
            <a:solidFill>
              <a:srgbClr val="0054A7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66150" y="4989195"/>
            <a:ext cx="22948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修行为何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看起来神秘</a:t>
            </a:r>
            <a:r>
              <a: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？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52460" y="5452110"/>
            <a:ext cx="32378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．主观体验难以客观验证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．修行并非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魔法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，而是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意识训练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endParaRPr lang="en-US" alt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6910" y="115506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．宗教与神秘主义的目标：超越语言的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终极体验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或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实在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九、宗教与语言：在语言之外寻找终极真相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040130" y="1631315"/>
          <a:ext cx="6296025" cy="2080260"/>
        </p:xfrm>
        <a:graphic>
          <a:graphicData uri="http://schemas.openxmlformats.org/drawingml/2006/table">
            <a:tbl>
              <a:tblPr firstRow="1" bandRow="1">
                <a:tableStyleId>{D73BCC71-8B8C-4C69-954C-324250698293}</a:tableStyleId>
              </a:tblPr>
              <a:tblGrid>
                <a:gridCol w="1519555"/>
                <a:gridCol w="4776470"/>
              </a:tblGrid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传统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所追求的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不可说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佛教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涅槃（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Nibbana)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、空性（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Sunyata)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、佛性、六通、顿悟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道教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道（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Dao)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、天人合一、无为自然、虚静之境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印度教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梵（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Brahman)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、真我（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Atman)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、与梵合一（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Moksha)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伊斯兰教苏菲派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与真主合一（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Fand')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、神圣之爱（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Ishq)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、超越自我．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基督教神秘主义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与神融合（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Union with God)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、神圣临在、狂喜体验．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  <a:tr h="29718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犹太教卡巴拉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神圣之光、无限（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Ein Sof)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、神性奥秘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40640" marB="4064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76910" y="38195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．语言的局限：为何终极真理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不可说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"?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2180" y="4179570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维特根斯坦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64360" y="4179570"/>
            <a:ext cx="98926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语言本质上是用于描述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事实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逻辑结构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的，它依赖于概念、符号、句法与指涉关系。但终极真理（如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空性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梵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）往往是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整体性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非对象性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超越对立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的，无法被拆分为可命名的部分。一旦用语言去描述，就已经是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概念化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二分法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相对化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了，失去了其本真性。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2180" y="4793615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老子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3510" y="4791710"/>
            <a:ext cx="9892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道可道，非常道；名可名，非常名。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6910" y="5224780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3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．如何传达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终极真理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？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2180" y="5593080"/>
            <a:ext cx="12776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常见的传达方式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1855" y="5593080"/>
            <a:ext cx="17703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隐喻、寓言与神话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体验式引导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79545" y="5593080"/>
            <a:ext cx="37363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否定性语言（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Apophatic Theology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，否定神学）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修行与实践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第三章</a:t>
            </a:r>
            <a:r>
              <a:rPr lang="en-US" alt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6910" y="1101725"/>
            <a:ext cx="4541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维特根斯坦与宗教神秘主义的共鸣与差异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九、宗教与语言：在语言之外寻找终极真相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910" y="1470025"/>
            <a:ext cx="97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相似之处：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553845" y="1582420"/>
          <a:ext cx="73329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3890"/>
                <a:gridCol w="4149090"/>
              </a:tblGrid>
              <a:tr h="38862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维特根斯坦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50800" marB="50800" anchor="t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宗教／神秘主义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50800" marB="50800" anchor="t" anchorCtr="0">
                    <a:solidFill>
                      <a:srgbClr val="0054A7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语言有界限，有些东西不可说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真理超越语言，只能体验，不能言传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</a:tr>
              <a:tr h="38862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不可说之物虽不可言，但可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显示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真理虽不可说，但可通过觉悟、合一、直观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显现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</a:tr>
              <a:tr h="38862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哲学的任务是厘清语言，而非制造玄学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宗教实践的目标是超越思维与语言，进入真实体验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76910" y="3254375"/>
            <a:ext cx="97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差异之处：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1553845" y="3348990"/>
          <a:ext cx="7333615" cy="178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185"/>
                <a:gridCol w="4075430"/>
              </a:tblGrid>
              <a:tr h="31750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维特根斯坦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>
                    <a:solidFill>
                      <a:srgbClr val="0054A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宗教／神秘主义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50800" marB="50800" anchor="ctr" anchorCtr="0">
                    <a:solidFill>
                      <a:srgbClr val="0054A7"/>
                    </a:solidFill>
                  </a:tcPr>
                </a:tc>
              </a:tr>
              <a:tr h="50673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强调逻辑与哲学分析，最终主张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沉默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强调信仰、修行、启示，目标是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亲证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与神相遇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</a:tr>
              <a:tr h="45593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不可说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的态度是保持沉默，不宣称知道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很多宗教传统声称可以通过修行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知道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体验</a:t>
                      </a:r>
                      <a:r>
                        <a:rPr lang="en-US" alt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终极真理</a:t>
                      </a:r>
                      <a:endParaRPr lang="zh-CN" altLang="en-US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</a:tr>
              <a:tr h="506730"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语言的界限是哲学的终点</a:t>
                      </a:r>
                      <a:endParaRPr lang="en-US" alt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宗教认为语言界限之外，才是真正的起点</a:t>
                      </a:r>
                      <a:endParaRPr lang="zh-CN" sz="120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1280" marR="81280" marT="50800" marB="50800" anchor="ctr" anchorCtr="0"/>
                </a:tc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676910" y="5296535"/>
            <a:ext cx="10923270" cy="1450340"/>
          </a:xfrm>
          <a:prstGeom prst="roundRect">
            <a:avLst/>
          </a:prstGeom>
          <a:noFill/>
          <a:ln w="19050">
            <a:solidFill>
              <a:srgbClr val="0054A7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49960" y="5407025"/>
            <a:ext cx="104876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语言的确是我们认知世界的主要工具，但它有其固有局限，尤其在表达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整体性、超越性、直接体验性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的终极真理时显得无力。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宗教与神秘主义追求的，往往正是这些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不可说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的维度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比如与神合一、空性、道、梵，它们超越概念、语言与逻辑。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3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虽然这些真理无法用语言直接传达，但可以通过比喻、否定、体验、修行等方式间接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显示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或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引发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"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4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.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维特根斯坦所说的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'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保持沉默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'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，与宗教中的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'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不可言传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'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'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直指人心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'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，在精神上是相通的：最深邃的真理，不在言辞之中，而在沉默、体验与直观之中。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15018" t="28320" r="14560" b="17224"/>
          <a:stretch>
            <a:fillRect/>
          </a:stretch>
        </p:blipFill>
        <p:spPr>
          <a:xfrm>
            <a:off x="5082910" y="2728631"/>
            <a:ext cx="2026646" cy="2033894"/>
          </a:xfrm>
          <a:prstGeom prst="rect">
            <a:avLst/>
          </a:prstGeom>
        </p:spPr>
      </p:pic>
      <p:sp>
        <p:nvSpPr>
          <p:cNvPr id="2" name="中标题文字位置"/>
          <p:cNvSpPr txBox="1"/>
          <p:nvPr>
            <p:custDataLst>
              <p:tags r:id="rId2"/>
            </p:custDataLst>
          </p:nvPr>
        </p:nvSpPr>
        <p:spPr>
          <a:xfrm>
            <a:off x="2983025" y="900235"/>
            <a:ext cx="6226517" cy="1325880"/>
          </a:xfrm>
          <a:prstGeom prst="rect">
            <a:avLst/>
          </a:prstGeom>
          <a:ln w="12700">
            <a:miter lim="400000"/>
          </a:ln>
        </p:spPr>
        <p:txBody>
          <a:bodyPr wrap="square" lIns="48204" tIns="48204" rIns="48204" bIns="48204" anchor="ctr">
            <a:spAutoFit/>
          </a:bodyPr>
          <a:lstStyle>
            <a:lvl1pPr defTabSz="457200">
              <a:defRPr sz="9000">
                <a:solidFill>
                  <a:srgbClr val="FFFFFF"/>
                </a:solidFill>
                <a:latin typeface="FZYouH_510M"/>
                <a:ea typeface="FZYouH_510M"/>
                <a:cs typeface="FZYouH_510M"/>
                <a:sym typeface="FZYouH_510M"/>
              </a:defRPr>
            </a:lvl1pPr>
          </a:lstStyle>
          <a:p>
            <a:pPr algn="ctr"/>
            <a:r>
              <a:rPr lang="zh-CN" altLang="en-US" sz="80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8000" dirty="0" err="1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85702" y="5077374"/>
            <a:ext cx="38218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>
              <a:lnSpc>
                <a:spcPct val="150000"/>
              </a:lnSpc>
              <a:buNone/>
            </a:pPr>
            <a:r>
              <a:rPr lang="zh-CN" sz="2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视频号：老</a:t>
            </a:r>
            <a:r>
              <a:rPr lang="en-US" altLang="zh-CN" sz="2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K</a:t>
            </a:r>
            <a:r>
              <a:rPr lang="zh-CN" altLang="en-US" sz="2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的呐喊</a:t>
            </a:r>
            <a:endParaRPr lang="zh-CN" altLang="en-US" sz="2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5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6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7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8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9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0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1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2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3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4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5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6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7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8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19.xml><?xml version="1.0" encoding="utf-8"?>
<p:tagLst xmlns:p="http://schemas.openxmlformats.org/presentationml/2006/main">
  <p:tag name="KSO_WM_DIAGRAM_VIRTUALLY_FRAME" val="{&quot;height&quot;:340,&quot;left&quot;:60,&quot;top&quot;:135,&quot;width&quot;:440}"/>
</p:tagLst>
</file>

<file path=ppt/tags/tag20.xml><?xml version="1.0" encoding="utf-8"?>
<p:tagLst xmlns:p="http://schemas.openxmlformats.org/presentationml/2006/main">
  <p:tag name="KSO_WM_DIAGRAM_VIRTUALLY_FRAME" val="{&quot;height&quot;:160,&quot;left&quot;:47.35,&quot;top&quot;:364,&quot;width&quot;:840}"/>
</p:tagLst>
</file>

<file path=ppt/tags/tag21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22.xml><?xml version="1.0" encoding="utf-8"?>
<p:tagLst xmlns:p="http://schemas.openxmlformats.org/presentationml/2006/main">
  <p:tag name="KSO_WM_DIAGRAM_VIRTUALLY_FRAME" val="{&quot;height&quot;:160,&quot;left&quot;:47.35,&quot;top&quot;:364,&quot;width&quot;:840}"/>
</p:tagLst>
</file>

<file path=ppt/tags/tag23.xml><?xml version="1.0" encoding="utf-8"?>
<p:tagLst xmlns:p="http://schemas.openxmlformats.org/presentationml/2006/main">
  <p:tag name="KSO_WM_DIAGRAM_VIRTUALLY_FRAME" val="{&quot;height&quot;:160,&quot;left&quot;:50,&quot;top&quot;:290.7,&quot;width&quot;:840}"/>
</p:tagLst>
</file>

<file path=ppt/tags/tag24.xml><?xml version="1.0" encoding="utf-8"?>
<p:tagLst xmlns:p="http://schemas.openxmlformats.org/presentationml/2006/main">
  <p:tag name="KSO_WM_DIAGRAM_VIRTUALLY_FRAME" val="{&quot;height&quot;:160,&quot;left&quot;:50,&quot;top&quot;:290.7,&quot;width&quot;:840}"/>
</p:tagLst>
</file>

<file path=ppt/tags/tag25.xml><?xml version="1.0" encoding="utf-8"?>
<p:tagLst xmlns:p="http://schemas.openxmlformats.org/presentationml/2006/main">
  <p:tag name="KSO_WM_DIAGRAM_VIRTUALLY_FRAME" val="{&quot;height&quot;:160,&quot;left&quot;:47.35,&quot;top&quot;:364,&quot;width&quot;:840}"/>
</p:tagLst>
</file>

<file path=ppt/tags/tag26.xml><?xml version="1.0" encoding="utf-8"?>
<p:tagLst xmlns:p="http://schemas.openxmlformats.org/presentationml/2006/main">
  <p:tag name="KSO_WM_DIAGRAM_VIRTUALLY_FRAME" val="{&quot;height&quot;:160,&quot;left&quot;:50,&quot;top&quot;:290.7,&quot;width&quot;:840}"/>
</p:tagLst>
</file>

<file path=ppt/tags/tag27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28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29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0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1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2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3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4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5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6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7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8.xml><?xml version="1.0" encoding="utf-8"?>
<p:tagLst xmlns:p="http://schemas.openxmlformats.org/presentationml/2006/main">
  <p:tag name="KSO_WM_DIAGRAM_VIRTUALLY_FRAME" val="{&quot;height&quot;:190.15,&quot;left&quot;:40,&quot;top&quot;:122.9,&quot;width&quot;:900.7}"/>
</p:tagLst>
</file>

<file path=ppt/tags/tag39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0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1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2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3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4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5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6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7.xml><?xml version="1.0" encoding="utf-8"?>
<p:tagLst xmlns:p="http://schemas.openxmlformats.org/presentationml/2006/main">
  <p:tag name="KSO_WM_DIAGRAM_VIRTUALLY_FRAME" val="{&quot;height&quot;:310,&quot;left&quot;:60,&quot;top&quot;:120,&quot;width&quot;:400}"/>
</p:tagLst>
</file>

<file path=ppt/tags/tag48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9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50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51.xml><?xml version="1.0" encoding="utf-8"?>
<p:tagLst xmlns:p="http://schemas.openxmlformats.org/presentationml/2006/main">
  <p:tag name="KSO_WM_DIAGRAM_VIRTUALLY_FRAME" val="{&quot;height&quot;:271.55,&quot;left&quot;:98,&quot;top&quot;:122.5,&quot;width&quot;:710.5}"/>
</p:tagLst>
</file>

<file path=ppt/tags/tag5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53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54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55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56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57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58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59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60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61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6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63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4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5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6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7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8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9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0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1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2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3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5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6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7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8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9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80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81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8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83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84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3*n_h_h_f*1_2_4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4_1"/>
  <p:tag name="KSO_WM_UNIT_SUBTYPE" val="a"/>
  <p:tag name="KSO_WM_UNIT_NOCLEAR" val="0"/>
  <p:tag name="KSO_WM_UNIT_VALUE" val="102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3*n_h_h_f*1_2_3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3_1"/>
  <p:tag name="KSO_WM_UNIT_SUBTYPE" val="a"/>
  <p:tag name="KSO_WM_UNIT_NOCLEAR" val="0"/>
  <p:tag name="KSO_WM_UNIT_VALUE" val="108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3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1636_3*n_h_h_i*1_2_4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3*n_h_h_f*1_2_2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2_1"/>
  <p:tag name="KSO_WM_UNIT_SUBTYPE" val="a"/>
  <p:tag name="KSO_WM_UNIT_NOCLEAR" val="0"/>
  <p:tag name="KSO_WM_UNIT_VALUE" val="102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3*n_h_h_f*1_2_1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1_1"/>
  <p:tag name="KSO_WM_UNIT_SUBTYPE" val="a"/>
  <p:tag name="KSO_WM_UNIT_NOCLEAR" val="0"/>
  <p:tag name="KSO_WM_UNIT_VALUE" val="108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3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3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3.xml><?xml version="1.0" encoding="utf-8"?>
<p:tagLst xmlns:p="http://schemas.openxmlformats.org/presentationml/2006/main">
  <p:tag name="KSO_WM_BEAUTIFY_FLAG" val="#wm#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3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3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2.65,&quot;left&quot;:37.15307086614175,&quot;top&quot;:86.3,&quot;width&quot;:850.39377952755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95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96.xml><?xml version="1.0" encoding="utf-8"?>
<p:tagLst xmlns:p="http://schemas.openxmlformats.org/presentationml/2006/main">
  <p:tag name="KSO_WM_SLIDE_ID" val="diagram20231636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1636"/>
  <p:tag name="KSO_WM_SLIDE_TYPE" val="text"/>
  <p:tag name="KSO_WM_SLIDE_SUBTYPE" val="diag"/>
  <p:tag name="KSO_WM_SLIDE_SIZE" val="850.394*351.675"/>
  <p:tag name="KSO_WM_SLIDE_POSITION" val="54.8031*136.966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7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98.xml><?xml version="1.0" encoding="utf-8"?>
<p:tagLst xmlns:p="http://schemas.openxmlformats.org/presentationml/2006/main">
  <p:tag name="TABLE_ENDDRAG_ORIGIN_RECT" val="846*249"/>
  <p:tag name="TABLE_ENDDRAG_RECT" val="53*183*846*249"/>
</p:tagLst>
</file>

<file path=ppt/tags/tag99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0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1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03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4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5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6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7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8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09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10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11.xml><?xml version="1.0" encoding="utf-8"?>
<p:tagLst xmlns:p="http://schemas.openxmlformats.org/presentationml/2006/main">
  <p:tag name="KSO_WM_DIAGRAM_VIRTUALLY_FRAME" val="{&quot;height&quot;:331.45,&quot;left&quot;:58.55,&quot;top&quot;:95.9,&quot;width&quot;:855.55}"/>
</p:tagLst>
</file>

<file path=ppt/tags/tag11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3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4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5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6.xml><?xml version="1.0" encoding="utf-8"?>
<p:tagLst xmlns:p="http://schemas.openxmlformats.org/presentationml/2006/main">
  <p:tag name="TABLE_ENDDRAG_ORIGIN_RECT" val="577*122"/>
  <p:tag name="TABLE_ENDDRAG_RECT" val="122*124*577*122"/>
</p:tagLst>
</file>

<file path=ppt/tags/tag117.xml><?xml version="1.0" encoding="utf-8"?>
<p:tagLst xmlns:p="http://schemas.openxmlformats.org/presentationml/2006/main">
  <p:tag name="TABLE_ENDDRAG_ORIGIN_RECT" val="577*138"/>
  <p:tag name="TABLE_ENDDRAG_RECT" val="156*291*577*138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commondata" val="eyJoZGlkIjoiNDM3YmUzODhiYTU1YWFkNTFhNDM4NjQ5M2M3NWNkMTUifQ=="/>
  <p:tag name="resource_record_key" val="{&quot;29&quot;:[50000076,50000031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11682</Words>
  <Application>WPS 演示</Application>
  <PresentationFormat>自定义</PresentationFormat>
  <Paragraphs>924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FZYouH_510M</vt:lpstr>
      <vt:lpstr>微软雅黑</vt:lpstr>
      <vt:lpstr>FZYouH_508R</vt:lpstr>
      <vt:lpstr>Wingdings</vt:lpstr>
      <vt:lpstr>Noto Sans SC</vt:lpstr>
      <vt:lpstr>Noto Serif SC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钟欣-HG32118</dc:creator>
  <cp:lastModifiedBy>皇左文策</cp:lastModifiedBy>
  <cp:revision>332</cp:revision>
  <dcterms:created xsi:type="dcterms:W3CDTF">2023-04-20T03:20:00Z</dcterms:created>
  <dcterms:modified xsi:type="dcterms:W3CDTF">2026-04-07T09:11:13Z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9A412AC9E62F4775A87B32614B348703_13</vt:lpwstr>
  </property>
  <property fmtid="{D5CDD505-2E9C-101B-9397-08002B2CF9AE}" pid="3" name="KSOProductBuildVer">
    <vt:lpwstr>2052-12.1.0.25225</vt:lpwstr>
  </property>
</Properties>
</file>