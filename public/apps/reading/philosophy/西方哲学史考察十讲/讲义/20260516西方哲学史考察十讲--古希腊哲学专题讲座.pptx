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5.svg" ContentType="image/svg+xml"/>
  <Override PartName="/ppt/media/image23.svg" ContentType="image/svg+xml"/>
  <Override PartName="/ppt/media/image27.svg" ContentType="image/svg+xml"/>
  <Override PartName="/ppt/media/image30.svg" ContentType="image/svg+xml"/>
  <Override PartName="/ppt/media/image3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49" r:id="rId3"/>
    <p:sldId id="603" r:id="rId5"/>
    <p:sldId id="554" r:id="rId6"/>
    <p:sldId id="571" r:id="rId7"/>
    <p:sldId id="594" r:id="rId8"/>
    <p:sldId id="573" r:id="rId9"/>
    <p:sldId id="574" r:id="rId10"/>
    <p:sldId id="575" r:id="rId11"/>
    <p:sldId id="579" r:id="rId12"/>
    <p:sldId id="583" r:id="rId13"/>
    <p:sldId id="581" r:id="rId14"/>
    <p:sldId id="582" r:id="rId15"/>
    <p:sldId id="588" r:id="rId16"/>
    <p:sldId id="587" r:id="rId17"/>
    <p:sldId id="589" r:id="rId18"/>
    <p:sldId id="593" r:id="rId19"/>
    <p:sldId id="596" r:id="rId20"/>
    <p:sldId id="590" r:id="rId21"/>
    <p:sldId id="598" r:id="rId22"/>
    <p:sldId id="597" r:id="rId23"/>
    <p:sldId id="591" r:id="rId24"/>
    <p:sldId id="599" r:id="rId25"/>
    <p:sldId id="600" r:id="rId26"/>
    <p:sldId id="601" r:id="rId27"/>
    <p:sldId id="602" r:id="rId28"/>
    <p:sldId id="274" r:id="rId29"/>
  </p:sldIdLst>
  <p:sldSz cx="12192000" cy="6858000"/>
  <p:notesSz cx="9144000" cy="6858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7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A7"/>
    <a:srgbClr val="FFFFFF"/>
    <a:srgbClr val="0070C0"/>
    <a:srgbClr val="AD2D2D"/>
    <a:srgbClr val="FFD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F837627-1ABE-4DA3-9284-A35E9730AB2B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93" d="100"/>
          <a:sy n="93" d="100"/>
        </p:scale>
        <p:origin x="-132" y="-1134"/>
      </p:cViewPr>
      <p:guideLst>
        <p:guide orient="horz" pos="2240"/>
        <p:guide pos="37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13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562C9-D1D7-41F1-AA2A-B1961229F0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850D2-B7D3-4387-8F63-665DFC42E84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850D2-B7D3-4387-8F63-665DFC42E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E850D2-B7D3-4387-8F63-665DFC42E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1" y="1122363"/>
            <a:ext cx="91444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1" y="3602038"/>
            <a:ext cx="914442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89" y="1709739"/>
            <a:ext cx="105160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89" y="4589464"/>
            <a:ext cx="105160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38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487" y="1825625"/>
            <a:ext cx="5181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365126"/>
            <a:ext cx="10516087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27" y="1681163"/>
            <a:ext cx="51580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27" y="2505075"/>
            <a:ext cx="515802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486" y="1681163"/>
            <a:ext cx="518342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486" y="2505075"/>
            <a:ext cx="518342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27" y="457200"/>
            <a:ext cx="393241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9" y="987426"/>
            <a:ext cx="61724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27" y="2057400"/>
            <a:ext cx="393241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305" y="365125"/>
            <a:ext cx="2629022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38" y="365125"/>
            <a:ext cx="773465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39" y="365126"/>
            <a:ext cx="105160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39" y="1825625"/>
            <a:ext cx="105160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38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788" y="6356351"/>
            <a:ext cx="4114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001" y="6356351"/>
            <a:ext cx="27433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5" Type="http://schemas.openxmlformats.org/officeDocument/2006/relationships/slideLayout" Target="../slideLayouts/slideLayout6.xml"/><Relationship Id="rId34" Type="http://schemas.openxmlformats.org/officeDocument/2006/relationships/tags" Target="../tags/tag38.xml"/><Relationship Id="rId33" Type="http://schemas.openxmlformats.org/officeDocument/2006/relationships/tags" Target="../tags/tag37.xml"/><Relationship Id="rId32" Type="http://schemas.openxmlformats.org/officeDocument/2006/relationships/tags" Target="../tags/tag36.xml"/><Relationship Id="rId31" Type="http://schemas.openxmlformats.org/officeDocument/2006/relationships/tags" Target="../tags/tag35.xml"/><Relationship Id="rId30" Type="http://schemas.openxmlformats.org/officeDocument/2006/relationships/tags" Target="../tags/tag34.xml"/><Relationship Id="rId3" Type="http://schemas.openxmlformats.org/officeDocument/2006/relationships/tags" Target="../tags/tag7.xml"/><Relationship Id="rId29" Type="http://schemas.openxmlformats.org/officeDocument/2006/relationships/tags" Target="../tags/tag33.xml"/><Relationship Id="rId28" Type="http://schemas.openxmlformats.org/officeDocument/2006/relationships/tags" Target="../tags/tag32.xml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tags" Target="../tags/tag3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6.xml"/><Relationship Id="rId10" Type="http://schemas.openxmlformats.org/officeDocument/2006/relationships/image" Target="../media/image15.svg"/><Relationship Id="rId1" Type="http://schemas.openxmlformats.org/officeDocument/2006/relationships/tags" Target="../tags/tag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image" Target="../media/image16.jpe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55.xml"/><Relationship Id="rId1" Type="http://schemas.openxmlformats.org/officeDocument/2006/relationships/tags" Target="../tags/tag4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17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4.xml"/><Relationship Id="rId1" Type="http://schemas.openxmlformats.org/officeDocument/2006/relationships/tags" Target="../tags/tag5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7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81.xml"/><Relationship Id="rId10" Type="http://schemas.openxmlformats.org/officeDocument/2006/relationships/image" Target="../media/image21.png"/><Relationship Id="rId1" Type="http://schemas.openxmlformats.org/officeDocument/2006/relationships/tags" Target="../tags/tag7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tags" Target="../tags/tag9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jpeg"/><Relationship Id="rId1" Type="http://schemas.openxmlformats.org/officeDocument/2006/relationships/tags" Target="../tags/tag9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2.xml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中标题文字位置"/>
          <p:cNvSpPr txBox="1"/>
          <p:nvPr>
            <p:custDataLst>
              <p:tags r:id="rId1"/>
            </p:custDataLst>
          </p:nvPr>
        </p:nvSpPr>
        <p:spPr>
          <a:xfrm>
            <a:off x="1106112" y="1648814"/>
            <a:ext cx="9979775" cy="2172335"/>
          </a:xfrm>
          <a:prstGeom prst="rect">
            <a:avLst/>
          </a:prstGeom>
          <a:ln w="12700">
            <a:miter lim="400000"/>
          </a:ln>
        </p:spPr>
        <p:txBody>
          <a:bodyPr wrap="square" lIns="48204" tIns="48204" rIns="48204" bIns="48204" anchor="ctr">
            <a:spAutoFit/>
          </a:bodyPr>
          <a:lstStyle>
            <a:lvl1pPr defTabSz="457200">
              <a:defRPr sz="9000">
                <a:solidFill>
                  <a:srgbClr val="FFFFFF"/>
                </a:solidFill>
                <a:latin typeface="FZYouH_510M"/>
                <a:ea typeface="FZYouH_510M"/>
                <a:cs typeface="FZYouH_510M"/>
                <a:sym typeface="FZYouH_510M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54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rPr>
              <a:t>西方哲学史考察十讲之三</a:t>
            </a:r>
            <a:endParaRPr lang="zh-CN" altLang="en-US" sz="5400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36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 </a:t>
            </a:r>
            <a:r>
              <a:rPr lang="zh-CN" altLang="en-US" sz="36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古希腊哲学专题讲座</a:t>
            </a:r>
            <a:endParaRPr lang="zh-CN" altLang="en-US" sz="3600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中标题文字位置"/>
          <p:cNvSpPr txBox="1"/>
          <p:nvPr>
            <p:custDataLst>
              <p:tags r:id="rId2"/>
            </p:custDataLst>
          </p:nvPr>
        </p:nvSpPr>
        <p:spPr>
          <a:xfrm>
            <a:off x="4274223" y="4694047"/>
            <a:ext cx="3646882" cy="1202690"/>
          </a:xfrm>
          <a:prstGeom prst="rect">
            <a:avLst/>
          </a:prstGeom>
          <a:ln w="12700">
            <a:miter lim="400000"/>
          </a:ln>
        </p:spPr>
        <p:txBody>
          <a:bodyPr wrap="square" lIns="48204" tIns="48204" rIns="48204" bIns="48204" anchor="ctr">
            <a:spAutoFit/>
          </a:bodyPr>
          <a:lstStyle>
            <a:lvl1pPr defTabSz="457200">
              <a:defRPr sz="9000">
                <a:solidFill>
                  <a:srgbClr val="FFFFFF"/>
                </a:solidFill>
                <a:latin typeface="FZYouH_510M"/>
                <a:ea typeface="FZYouH_510M"/>
                <a:cs typeface="FZYouH_510M"/>
                <a:sym typeface="FZYouH_510M"/>
              </a:defRPr>
            </a:lvl1pPr>
          </a:lstStyle>
          <a:p>
            <a:pPr indent="0"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梅春雷</a:t>
            </a:r>
            <a:endParaRPr lang="zh-CN" altLang="en-US" sz="2400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2400" dirty="0" err="1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2026.5.16</a:t>
            </a:r>
            <a:endParaRPr lang="en-US" altLang="zh-CN" sz="2400" dirty="0" err="1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古希腊地图"/>
          <p:cNvPicPr>
            <a:picLocks noChangeAspect="1"/>
          </p:cNvPicPr>
          <p:nvPr/>
        </p:nvPicPr>
        <p:blipFill>
          <a:blip r:embed="rId1"/>
          <a:srcRect t="896" b="600"/>
          <a:stretch>
            <a:fillRect/>
          </a:stretch>
        </p:blipFill>
        <p:spPr>
          <a:xfrm>
            <a:off x="1369060" y="0"/>
            <a:ext cx="983488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一、古希腊哲学诞生背景与原因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7430" y="853440"/>
            <a:ext cx="10137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前苏格拉底哲学（公元前6世纪—前4世纪）诞生于古希腊城邦文明崛起、海洋贸易繁荣、神话思维衰落的时代，核心是从“神创世界”转向“自然本原”的理性追问。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/>
          <a:srcRect l="14705" r="14705"/>
          <a:stretch>
            <a:fillRect/>
          </a:stretch>
        </p:blipFill>
        <p:spPr>
          <a:xfrm>
            <a:off x="679450" y="1847850"/>
            <a:ext cx="4064000" cy="431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grpSp>
        <p:nvGrpSpPr>
          <p:cNvPr id="27" name="组合 26"/>
          <p:cNvGrpSpPr/>
          <p:nvPr/>
        </p:nvGrpSpPr>
        <p:grpSpPr>
          <a:xfrm>
            <a:off x="5069205" y="1780540"/>
            <a:ext cx="6350000" cy="4685665"/>
            <a:chOff x="7983" y="2351"/>
            <a:chExt cx="10000" cy="7379"/>
          </a:xfrm>
        </p:grpSpPr>
        <p:sp>
          <p:nvSpPr>
            <p:cNvPr id="8" name="AutoShape 4"/>
            <p:cNvSpPr/>
            <p:nvPr/>
          </p:nvSpPr>
          <p:spPr>
            <a:xfrm>
              <a:off x="7983" y="2351"/>
              <a:ext cx="10000" cy="148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8000"/>
              </a:srgbClr>
            </a:solidFill>
            <a:ln w="12700" cap="flat" cmpd="sng">
              <a:solidFill>
                <a:srgbClr val="0054A7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83" y="2591"/>
              <a:ext cx="720" cy="720"/>
            </a:xfrm>
            <a:prstGeom prst="rect">
              <a:avLst/>
            </a:prstGeom>
          </p:spPr>
        </p:pic>
        <p:sp>
          <p:nvSpPr>
            <p:cNvPr id="11" name="AutoShape 6"/>
            <p:cNvSpPr/>
            <p:nvPr/>
          </p:nvSpPr>
          <p:spPr>
            <a:xfrm>
              <a:off x="9283" y="2491"/>
              <a:ext cx="8200" cy="12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社会经济基础</a:t>
              </a:r>
              <a:endPara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>
                <a:lnSpc>
                  <a:spcPct val="108000"/>
                </a:lnSpc>
                <a:spcBef>
                  <a:spcPts val="800"/>
                </a:spcBef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米利都、爱菲斯等城邦工商业发达，殖民与贸易推动跨文化交流，积累财富与闲暇，为思辨提供物质基础。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12" name="AutoShape 7"/>
            <p:cNvSpPr/>
            <p:nvPr/>
          </p:nvSpPr>
          <p:spPr>
            <a:xfrm>
              <a:off x="7983" y="4241"/>
              <a:ext cx="10000" cy="149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8000"/>
              </a:srgbClr>
            </a:solidFill>
            <a:ln w="12700" cap="flat" cmpd="sng">
              <a:solidFill>
                <a:srgbClr val="0054A7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3" name="Picture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83" y="4452"/>
              <a:ext cx="720" cy="720"/>
            </a:xfrm>
            <a:prstGeom prst="rect">
              <a:avLst/>
            </a:prstGeom>
          </p:spPr>
        </p:pic>
        <p:sp>
          <p:nvSpPr>
            <p:cNvPr id="14" name="AutoShape 9"/>
            <p:cNvSpPr/>
            <p:nvPr/>
          </p:nvSpPr>
          <p:spPr>
            <a:xfrm>
              <a:off x="9283" y="4391"/>
              <a:ext cx="8200" cy="12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政治环境</a:t>
              </a:r>
              <a:endPara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>
                <a:lnSpc>
                  <a:spcPct val="108000"/>
                </a:lnSpc>
                <a:spcBef>
                  <a:spcPts val="800"/>
                </a:spcBef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城邦制度（如雅典民主）鼓励公共辩论，打破王权与神话权威，形成自由思考的氛围。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17" name="AutoShape 10"/>
            <p:cNvSpPr/>
            <p:nvPr/>
          </p:nvSpPr>
          <p:spPr>
            <a:xfrm>
              <a:off x="7983" y="6170"/>
              <a:ext cx="10000" cy="156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8000"/>
              </a:srgbClr>
            </a:solidFill>
            <a:ln w="12700" cap="flat" cmpd="sng">
              <a:solidFill>
                <a:srgbClr val="0054A7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8" name="Picture 1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83" y="6431"/>
              <a:ext cx="720" cy="720"/>
            </a:xfrm>
            <a:prstGeom prst="rect">
              <a:avLst/>
            </a:prstGeom>
          </p:spPr>
        </p:pic>
        <p:sp>
          <p:nvSpPr>
            <p:cNvPr id="20" name="AutoShape 12"/>
            <p:cNvSpPr/>
            <p:nvPr/>
          </p:nvSpPr>
          <p:spPr>
            <a:xfrm>
              <a:off x="9283" y="6361"/>
              <a:ext cx="8200" cy="11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文化土壤</a:t>
              </a:r>
              <a:endPara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>
                <a:lnSpc>
                  <a:spcPct val="108000"/>
                </a:lnSpc>
                <a:spcBef>
                  <a:spcPts val="800"/>
                </a:spcBef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荷马史诗、赫西俄德《神谱》提供神话宇宙观；俄耳甫斯教传入神秘主义与灵魂观念；古埃及、巴比伦传来天文、数学与创世思想。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21" name="AutoShape 10"/>
            <p:cNvSpPr/>
            <p:nvPr/>
          </p:nvSpPr>
          <p:spPr>
            <a:xfrm>
              <a:off x="7983" y="8170"/>
              <a:ext cx="10000" cy="1561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88000"/>
              </a:srgbClr>
            </a:solidFill>
            <a:ln w="12700" cap="flat" cmpd="sng">
              <a:solidFill>
                <a:srgbClr val="0054A7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3" name="AutoShape 12"/>
            <p:cNvSpPr/>
            <p:nvPr/>
          </p:nvSpPr>
          <p:spPr>
            <a:xfrm>
              <a:off x="9283" y="8290"/>
              <a:ext cx="8200" cy="11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内在动力</a:t>
              </a:r>
              <a:endPara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indent="0" algn="l">
                <a:lnSpc>
                  <a:spcPct val="108000"/>
                </a:lnSpc>
                <a:spcBef>
                  <a:spcPts val="800"/>
                </a:spcBef>
              </a:pP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对自然现象（如雷电、四季）的好奇，对神话解释的不满，驱动哲人寻找统一、永恒、理性的世界本原（</a:t>
              </a:r>
              <a:r>
                <a:rPr lang="en-US" altLang="zh-CN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arche）</a:t>
              </a:r>
              <a:r>
                <a:rPr lang="zh-CN" altLang="en-US" sz="1200" b="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。</a:t>
              </a:r>
              <a:endPara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pic>
          <p:nvPicPr>
            <p:cNvPr id="25" name="图片 24" descr="自然风光 (1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83" y="8410"/>
              <a:ext cx="772" cy="77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主要思想</a:t>
            </a:r>
            <a:endParaRPr 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2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一、</a:t>
            </a: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古希腊哲学诞生背景与原因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6910" y="110172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核心是自然哲学（宇宙论），追问“万物从何而来、由什么构成、如何变化”。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27" name="表格 26"/>
          <p:cNvGraphicFramePr/>
          <p:nvPr/>
        </p:nvGraphicFramePr>
        <p:xfrm>
          <a:off x="778510" y="1609090"/>
          <a:ext cx="10714990" cy="463486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35935"/>
                <a:gridCol w="7679055"/>
              </a:tblGrid>
              <a:tr h="10077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米利都学派（伊奥尼亚，物质本原）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 algn="l" fontAlgn="auto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1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泰勒斯</a:t>
                      </a: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：本原是水，万物由水生成、复归于水，水是生命与秩序之源 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 fontAlgn="auto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1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阿那克西曼德</a:t>
                      </a: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：本原是阿派朗（无限者），无定形、无属性，从混沌中分化出冷热、干湿，生成万物。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 fontAlgn="auto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1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阿那克西美尼</a:t>
                      </a: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：本原是气，气的稀散（火）与凝聚（风、云、水、土）生成万物，强调量变生质变。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661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 赫拉克利特（爱菲斯，变化与逻各斯）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 algn="l" fontAlgn="auto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本原是火，世界是“永恒的活火”，按逻各斯（</a:t>
                      </a:r>
                      <a:r>
                        <a:rPr lang="en-US" altLang="zh-CN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logos，</a:t>
                      </a: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理性规律）燃烧与熄灭。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 fontAlgn="auto">
                        <a:lnSpc>
                          <a:spcPct val="12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核心：万物皆流，对立面统一（如“人不能两次踏入同一条河流”），斗争是变化动力，和谐是秩序本质。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585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毕达哥拉斯学派（南意大利，数本原）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 algn="l">
                        <a:lnSpc>
                          <a:spcPct val="125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本原是数，万物是数的摹仿，数的和谐（如音乐、天体）构成宇宙秩序 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>
                        <a:lnSpc>
                          <a:spcPct val="125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灵魂轮回不朽，通过净化（禁欲、思辨）摆脱肉体束缚，回归神性。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743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爱利亚学派（南意大利，存在与不变）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 algn="l">
                        <a:lnSpc>
                          <a:spcPct val="125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巴门尼德：存在是永恒、不变、唯一、完满的，非存在不存在；感官世界是假象，理性才能认识存在。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>
                        <a:lnSpc>
                          <a:spcPct val="125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芝诺：以悖论（如飞矢不动、阿喀琉斯追龟）论证运动与多样性的不可能，捍卫巴门尼德的存在论。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0280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多元论与原子论（后期，综合与突破）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 algn="l">
                        <a:lnSpc>
                          <a:spcPct val="125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恩培多克勒：水、火、土、气四元素为万物之根，由爱（结合）与恨（分离）驱动变化 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>
                        <a:lnSpc>
                          <a:spcPct val="125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阿那克萨戈拉：本原是种子（无限多、异质），由努斯（</a:t>
                      </a: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nous，心灵）推动有序组合，提出“心灵创世” 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71450" indent="-171450" algn="l">
                        <a:lnSpc>
                          <a:spcPct val="125000"/>
                        </a:lnSpc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200" b="0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德谟克利特：本原是原子（不可分割）与虚空，原子在虚空中运动、碰撞、组合生成万物，开创机械唯物论。</a:t>
                      </a:r>
                      <a:endParaRPr lang="zh-CN" altLang="en-US" sz="1200" b="0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椭圆 439"/>
          <p:cNvSpPr/>
          <p:nvPr>
            <p:custDataLst>
              <p:tags r:id="rId1"/>
            </p:custDataLst>
          </p:nvPr>
        </p:nvSpPr>
        <p:spPr>
          <a:xfrm>
            <a:off x="4315492" y="2596023"/>
            <a:ext cx="3499475" cy="1483835"/>
          </a:xfrm>
          <a:prstGeom prst="ellipse">
            <a:avLst/>
          </a:prstGeom>
          <a:noFill/>
          <a:ln>
            <a:gradFill>
              <a:gsLst>
                <a:gs pos="15000">
                  <a:schemeClr val="accent1">
                    <a:alpha val="0"/>
                  </a:schemeClr>
                </a:gs>
                <a:gs pos="0">
                  <a:schemeClr val="accent1">
                    <a:alpha val="100000"/>
                  </a:schemeClr>
                </a:gs>
              </a:gsLst>
              <a:lin ang="138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71755"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507" name="组合 506"/>
          <p:cNvGrpSpPr/>
          <p:nvPr>
            <p:custDataLst>
              <p:tags r:id="rId2"/>
            </p:custDataLst>
          </p:nvPr>
        </p:nvGrpSpPr>
        <p:grpSpPr>
          <a:xfrm>
            <a:off x="1213485" y="1475740"/>
            <a:ext cx="3101340" cy="1491615"/>
            <a:chOff x="1560" y="2630"/>
            <a:chExt cx="4884" cy="2349"/>
          </a:xfrm>
        </p:grpSpPr>
        <p:sp>
          <p:nvSpPr>
            <p:cNvPr id="463" name="矩形 462"/>
            <p:cNvSpPr/>
            <p:nvPr>
              <p:custDataLst>
                <p:tags r:id="rId3"/>
              </p:custDataLst>
            </p:nvPr>
          </p:nvSpPr>
          <p:spPr>
            <a:xfrm>
              <a:off x="1666" y="3469"/>
              <a:ext cx="4779" cy="151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marL="171450" indent="-171450" algn="l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</a:rPr>
                <a:t>继承：命运（</a:t>
              </a:r>
              <a:r>
                <a:rPr lang="en-US" altLang="zh-CN" sz="1200" dirty="0">
                  <a:solidFill>
                    <a:srgbClr val="0054A7"/>
                  </a:solidFill>
                  <a:latin typeface="+mn-ea"/>
                  <a:cs typeface="+mn-ea"/>
                </a:rPr>
                <a:t>Moira）</a:t>
              </a: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</a:rPr>
                <a:t>，自然力人格化，宇宙统一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</a:endParaRPr>
            </a:p>
            <a:p>
              <a:pPr marL="171450" indent="-171450" algn="l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</a:rPr>
                <a:t>突破：哲人以自然本原取代人格神，以理性规律取代神意命运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</a:endParaRPr>
            </a:p>
          </p:txBody>
        </p:sp>
        <p:sp>
          <p:nvSpPr>
            <p:cNvPr id="464" name="矩形 463"/>
            <p:cNvSpPr/>
            <p:nvPr>
              <p:custDataLst>
                <p:tags r:id="rId4"/>
              </p:custDataLst>
            </p:nvPr>
          </p:nvSpPr>
          <p:spPr>
            <a:xfrm>
              <a:off x="1560" y="2630"/>
              <a:ext cx="4682" cy="56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>
                  <a:solidFill>
                    <a:srgbClr val="0054A7"/>
                  </a:solidFill>
                  <a:latin typeface="+mn-ea"/>
                  <a:cs typeface="+mn-ea"/>
                </a:rPr>
                <a:t>荷马史诗：命运观与自然秩序的萌芽</a:t>
              </a:r>
              <a:endParaRPr lang="zh-CN" altLang="en-US" sz="1200" b="1">
                <a:solidFill>
                  <a:srgbClr val="0054A7"/>
                </a:solidFill>
                <a:latin typeface="+mn-ea"/>
                <a:cs typeface="+mn-ea"/>
              </a:endParaRPr>
            </a:p>
          </p:txBody>
        </p:sp>
        <p:cxnSp>
          <p:nvCxnSpPr>
            <p:cNvPr id="465" name="直接连接符 464"/>
            <p:cNvCxnSpPr/>
            <p:nvPr>
              <p:custDataLst>
                <p:tags r:id="rId5"/>
              </p:custDataLst>
            </p:nvPr>
          </p:nvCxnSpPr>
          <p:spPr>
            <a:xfrm>
              <a:off x="4079" y="3393"/>
              <a:ext cx="2163" cy="0"/>
            </a:xfrm>
            <a:prstGeom prst="line">
              <a:avLst/>
            </a:prstGeom>
            <a:ln w="9525">
              <a:gradFill>
                <a:gsLst>
                  <a:gs pos="95000">
                    <a:srgbClr val="376FFF">
                      <a:alpha val="0"/>
                    </a:srgbClr>
                  </a:gs>
                  <a:gs pos="0">
                    <a:schemeClr val="accent1">
                      <a:alpha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3" name="文本框 492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对前置思想的继承关系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94" name="TextBox 2"/>
          <p:cNvSpPr txBox="1"/>
          <p:nvPr>
            <p:custDataLst>
              <p:tags r:id="rId6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一、</a:t>
            </a: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古希腊哲学诞生背景与原因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pSp>
        <p:nvGrpSpPr>
          <p:cNvPr id="496" name="组合 495"/>
          <p:cNvGrpSpPr/>
          <p:nvPr>
            <p:custDataLst>
              <p:tags r:id="rId7"/>
            </p:custDataLst>
          </p:nvPr>
        </p:nvGrpSpPr>
        <p:grpSpPr>
          <a:xfrm>
            <a:off x="1026795" y="3543935"/>
            <a:ext cx="3288665" cy="1742440"/>
            <a:chOff x="1059" y="5751"/>
            <a:chExt cx="5179" cy="2744"/>
          </a:xfrm>
        </p:grpSpPr>
        <p:sp>
          <p:nvSpPr>
            <p:cNvPr id="466" name="矩形 465"/>
            <p:cNvSpPr/>
            <p:nvPr>
              <p:custDataLst>
                <p:tags r:id="rId8"/>
              </p:custDataLst>
            </p:nvPr>
          </p:nvSpPr>
          <p:spPr>
            <a:xfrm>
              <a:off x="1060" y="6607"/>
              <a:ext cx="5178" cy="188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marL="171450" lvl="0" indent="-171450" algn="l">
                <a:lnSpc>
                  <a:spcPct val="13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继承：混沌（</a:t>
              </a:r>
              <a:r>
                <a:rPr lang="en-US" altLang="zh-CN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Chaos）</a:t>
              </a: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创世，</a:t>
              </a: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代际演化，本原追问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  <a:sym typeface="+mn-ea"/>
              </a:endParaRPr>
            </a:p>
            <a:p>
              <a:pPr marL="171450" lvl="0" indent="-171450" algn="l">
                <a:lnSpc>
                  <a:spcPct val="13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突破：以非人格的自然元素/抽象原则（如水、数、存在）取代神格，以理性思辨取代神话叙事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467" name="矩形 466"/>
            <p:cNvSpPr/>
            <p:nvPr>
              <p:custDataLst>
                <p:tags r:id="rId9"/>
              </p:custDataLst>
            </p:nvPr>
          </p:nvSpPr>
          <p:spPr>
            <a:xfrm>
              <a:off x="1059" y="5751"/>
              <a:ext cx="4909" cy="56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>
                  <a:solidFill>
                    <a:srgbClr val="0054A7"/>
                  </a:solidFill>
                  <a:latin typeface="+mn-ea"/>
                  <a:cs typeface="+mn-ea"/>
                </a:rPr>
                <a:t>赫西俄德《神谱》：混沌创世与宇宙生成框架</a:t>
              </a:r>
              <a:endParaRPr lang="zh-CN" altLang="en-US" sz="1200" b="1">
                <a:solidFill>
                  <a:srgbClr val="0054A7"/>
                </a:solidFill>
                <a:latin typeface="+mn-ea"/>
                <a:cs typeface="+mn-ea"/>
              </a:endParaRPr>
            </a:p>
          </p:txBody>
        </p:sp>
        <p:cxnSp>
          <p:nvCxnSpPr>
            <p:cNvPr id="495" name="直接连接符 494"/>
            <p:cNvCxnSpPr/>
            <p:nvPr>
              <p:custDataLst>
                <p:tags r:id="rId10"/>
              </p:custDataLst>
            </p:nvPr>
          </p:nvCxnSpPr>
          <p:spPr>
            <a:xfrm>
              <a:off x="3704" y="6460"/>
              <a:ext cx="2163" cy="0"/>
            </a:xfrm>
            <a:prstGeom prst="line">
              <a:avLst/>
            </a:prstGeom>
            <a:ln w="9525">
              <a:gradFill>
                <a:gsLst>
                  <a:gs pos="95000">
                    <a:srgbClr val="376FFF">
                      <a:alpha val="0"/>
                    </a:srgbClr>
                  </a:gs>
                  <a:gs pos="0">
                    <a:schemeClr val="accent1">
                      <a:alpha val="80000"/>
                    </a:schemeClr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8" name="组合 507"/>
          <p:cNvGrpSpPr/>
          <p:nvPr>
            <p:custDataLst>
              <p:tags r:id="rId11"/>
            </p:custDataLst>
          </p:nvPr>
        </p:nvGrpSpPr>
        <p:grpSpPr>
          <a:xfrm>
            <a:off x="4598035" y="4087495"/>
            <a:ext cx="3537585" cy="1570355"/>
            <a:chOff x="7105" y="7144"/>
            <a:chExt cx="5571" cy="2473"/>
          </a:xfrm>
        </p:grpSpPr>
        <p:sp>
          <p:nvSpPr>
            <p:cNvPr id="454" name="矩形 453"/>
            <p:cNvSpPr/>
            <p:nvPr>
              <p:custDataLst>
                <p:tags r:id="rId12"/>
              </p:custDataLst>
            </p:nvPr>
          </p:nvSpPr>
          <p:spPr>
            <a:xfrm>
              <a:off x="7552" y="8107"/>
              <a:ext cx="5124" cy="151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marL="171450" lvl="0" indent="-171450" algn="l">
                <a:lnSpc>
                  <a:spcPct val="13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继承：灵魂不朽与轮回，</a:t>
              </a: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净化（</a:t>
              </a:r>
              <a:r>
                <a:rPr lang="en-US" altLang="zh-CN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Katharsis）</a:t>
              </a: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，创世神话，一神论倾向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  <a:sym typeface="+mn-ea"/>
              </a:endParaRPr>
            </a:p>
            <a:p>
              <a:pPr marL="171450" lvl="0" indent="-171450" algn="l">
                <a:lnSpc>
                  <a:spcPct val="13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突破：将宗教神秘体验转化为理性灵魂论与宇宙论，以哲学思辨取代秘传仪式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456" name="直接连接符 455"/>
            <p:cNvCxnSpPr/>
            <p:nvPr>
              <p:custDataLst>
                <p:tags r:id="rId13"/>
              </p:custDataLst>
            </p:nvPr>
          </p:nvCxnSpPr>
          <p:spPr>
            <a:xfrm>
              <a:off x="8157" y="7842"/>
              <a:ext cx="3134" cy="0"/>
            </a:xfrm>
            <a:prstGeom prst="line">
              <a:avLst/>
            </a:prstGeom>
            <a:ln w="9525">
              <a:gradFill>
                <a:gsLst>
                  <a:gs pos="95000">
                    <a:srgbClr val="376FFF">
                      <a:alpha val="0"/>
                    </a:srgbClr>
                  </a:gs>
                  <a:gs pos="0">
                    <a:schemeClr val="accent1">
                      <a:alpha val="0"/>
                    </a:schemeClr>
                  </a:gs>
                  <a:gs pos="50000">
                    <a:schemeClr val="accent1">
                      <a:alpha val="80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7" name="矩形 496"/>
            <p:cNvSpPr/>
            <p:nvPr>
              <p:custDataLst>
                <p:tags r:id="rId14"/>
              </p:custDataLst>
            </p:nvPr>
          </p:nvSpPr>
          <p:spPr>
            <a:xfrm>
              <a:off x="7105" y="7144"/>
              <a:ext cx="4909" cy="56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>
                  <a:solidFill>
                    <a:srgbClr val="0054A7"/>
                  </a:solidFill>
                  <a:latin typeface="+mn-ea"/>
                  <a:cs typeface="+mn-ea"/>
                </a:rPr>
                <a:t>俄耳甫斯教：灵魂轮回、净化与神秘理性</a:t>
              </a:r>
              <a:endParaRPr lang="zh-CN" altLang="en-US" sz="1200" b="1">
                <a:solidFill>
                  <a:srgbClr val="0054A7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510" name="组合 509"/>
          <p:cNvGrpSpPr/>
          <p:nvPr>
            <p:custDataLst>
              <p:tags r:id="rId15"/>
            </p:custDataLst>
          </p:nvPr>
        </p:nvGrpSpPr>
        <p:grpSpPr>
          <a:xfrm>
            <a:off x="7524750" y="1602105"/>
            <a:ext cx="3449320" cy="1062990"/>
            <a:chOff x="12843" y="2630"/>
            <a:chExt cx="5432" cy="1674"/>
          </a:xfrm>
        </p:grpSpPr>
        <p:sp>
          <p:nvSpPr>
            <p:cNvPr id="460" name="矩形 459"/>
            <p:cNvSpPr/>
            <p:nvPr>
              <p:custDataLst>
                <p:tags r:id="rId16"/>
              </p:custDataLst>
            </p:nvPr>
          </p:nvSpPr>
          <p:spPr>
            <a:xfrm>
              <a:off x="12843" y="3550"/>
              <a:ext cx="5433" cy="75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marL="171450" lvl="0" indent="-171450" algn="l">
                <a:lnSpc>
                  <a:spcPct val="13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继承：天文与占星，</a:t>
              </a: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数学与进制，创世史诗（《吉尔伽美什》），命运决定论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462" name="直接连接符 461"/>
            <p:cNvCxnSpPr/>
            <p:nvPr>
              <p:custDataLst>
                <p:tags r:id="rId17"/>
              </p:custDataLst>
            </p:nvPr>
          </p:nvCxnSpPr>
          <p:spPr>
            <a:xfrm>
              <a:off x="12964" y="3371"/>
              <a:ext cx="2163" cy="0"/>
            </a:xfrm>
            <a:prstGeom prst="line">
              <a:avLst/>
            </a:prstGeom>
            <a:ln w="9525">
              <a:gradFill>
                <a:gsLst>
                  <a:gs pos="95000">
                    <a:srgbClr val="376FFF">
                      <a:alpha val="0"/>
                    </a:srgbClr>
                  </a:gs>
                  <a:gs pos="0">
                    <a:schemeClr val="accent1">
                      <a:alpha val="80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3" name="矩形 502"/>
            <p:cNvSpPr/>
            <p:nvPr>
              <p:custDataLst>
                <p:tags r:id="rId18"/>
              </p:custDataLst>
            </p:nvPr>
          </p:nvSpPr>
          <p:spPr>
            <a:xfrm>
              <a:off x="12937" y="2630"/>
              <a:ext cx="5108" cy="56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>
                  <a:solidFill>
                    <a:srgbClr val="0054A7"/>
                  </a:solidFill>
                  <a:latin typeface="+mn-ea"/>
                  <a:cs typeface="+mn-ea"/>
                </a:rPr>
                <a:t>古巴比伦思想：天文预测、数学、创世与命运</a:t>
              </a:r>
              <a:endParaRPr lang="zh-CN" altLang="en-US" sz="1200" b="1">
                <a:solidFill>
                  <a:srgbClr val="0054A7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509" name="组合 508"/>
          <p:cNvGrpSpPr/>
          <p:nvPr>
            <p:custDataLst>
              <p:tags r:id="rId19"/>
            </p:custDataLst>
          </p:nvPr>
        </p:nvGrpSpPr>
        <p:grpSpPr>
          <a:xfrm>
            <a:off x="7902575" y="3331845"/>
            <a:ext cx="3082925" cy="998220"/>
            <a:chOff x="12937" y="6129"/>
            <a:chExt cx="4855" cy="1572"/>
          </a:xfrm>
        </p:grpSpPr>
        <p:sp>
          <p:nvSpPr>
            <p:cNvPr id="461" name="矩形 460"/>
            <p:cNvSpPr/>
            <p:nvPr>
              <p:custDataLst>
                <p:tags r:id="rId20"/>
              </p:custDataLst>
            </p:nvPr>
          </p:nvSpPr>
          <p:spPr>
            <a:xfrm>
              <a:off x="13110" y="6129"/>
              <a:ext cx="4682" cy="562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200" b="1">
                  <a:solidFill>
                    <a:srgbClr val="0054A7"/>
                  </a:solidFill>
                  <a:latin typeface="+mn-ea"/>
                  <a:cs typeface="+mn-ea"/>
                </a:rPr>
                <a:t>古埃及思想：天文、几何、生死观与创世</a:t>
              </a:r>
              <a:endParaRPr lang="zh-CN" altLang="en-US" sz="1200" b="1">
                <a:solidFill>
                  <a:srgbClr val="0054A7"/>
                </a:solidFill>
                <a:latin typeface="+mn-ea"/>
                <a:cs typeface="+mn-ea"/>
              </a:endParaRPr>
            </a:p>
          </p:txBody>
        </p:sp>
        <p:sp>
          <p:nvSpPr>
            <p:cNvPr id="502" name="矩形 501"/>
            <p:cNvSpPr/>
            <p:nvPr>
              <p:custDataLst>
                <p:tags r:id="rId21"/>
              </p:custDataLst>
            </p:nvPr>
          </p:nvSpPr>
          <p:spPr>
            <a:xfrm>
              <a:off x="12937" y="6947"/>
              <a:ext cx="4855" cy="75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p>
              <a:pPr marL="171450" lvl="0" indent="-171450" algn="l">
                <a:lnSpc>
                  <a:spcPct val="130000"/>
                </a:lnSpc>
                <a:buClrTx/>
                <a:buSzTx/>
                <a:buFont typeface="Wingdings" panose="05000000000000000000" charset="0"/>
                <a:buChar char="Ø"/>
              </a:pP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继承：</a:t>
              </a:r>
              <a:r>
                <a:rPr lang="zh-CN" altLang="en-US" sz="1200" dirty="0">
                  <a:solidFill>
                    <a:srgbClr val="0054A7"/>
                  </a:solidFill>
                  <a:latin typeface="+mn-ea"/>
                  <a:cs typeface="+mn-ea"/>
                  <a:sym typeface="+mn-ea"/>
                </a:rPr>
                <a:t>天文历法，几何测量，水的神圣性，生死与灵魂，混沌-有序创世</a:t>
              </a:r>
              <a:endParaRPr lang="zh-CN" altLang="en-US" sz="1200" dirty="0">
                <a:solidFill>
                  <a:srgbClr val="0054A7"/>
                </a:solidFill>
                <a:latin typeface="+mn-ea"/>
                <a:cs typeface="+mn-ea"/>
                <a:sym typeface="+mn-ea"/>
              </a:endParaRPr>
            </a:p>
          </p:txBody>
        </p:sp>
        <p:cxnSp>
          <p:nvCxnSpPr>
            <p:cNvPr id="504" name="直接连接符 503"/>
            <p:cNvCxnSpPr/>
            <p:nvPr>
              <p:custDataLst>
                <p:tags r:id="rId22"/>
              </p:custDataLst>
            </p:nvPr>
          </p:nvCxnSpPr>
          <p:spPr>
            <a:xfrm>
              <a:off x="13110" y="6819"/>
              <a:ext cx="2163" cy="0"/>
            </a:xfrm>
            <a:prstGeom prst="line">
              <a:avLst/>
            </a:prstGeom>
            <a:ln w="9525">
              <a:gradFill>
                <a:gsLst>
                  <a:gs pos="95000">
                    <a:srgbClr val="376FFF">
                      <a:alpha val="0"/>
                    </a:srgbClr>
                  </a:gs>
                  <a:gs pos="0">
                    <a:schemeClr val="accent1">
                      <a:alpha val="8000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6" name="组合 505"/>
          <p:cNvGrpSpPr/>
          <p:nvPr>
            <p:custDataLst>
              <p:tags r:id="rId23"/>
            </p:custDataLst>
          </p:nvPr>
        </p:nvGrpSpPr>
        <p:grpSpPr>
          <a:xfrm>
            <a:off x="4315460" y="1972945"/>
            <a:ext cx="3444240" cy="2106295"/>
            <a:chOff x="6363" y="3269"/>
            <a:chExt cx="6478" cy="3961"/>
          </a:xfrm>
        </p:grpSpPr>
        <p:sp>
          <p:nvSpPr>
            <p:cNvPr id="438" name="椭圆 437"/>
            <p:cNvSpPr/>
            <p:nvPr>
              <p:custDataLst>
                <p:tags r:id="rId24"/>
              </p:custDataLst>
            </p:nvPr>
          </p:nvSpPr>
          <p:spPr>
            <a:xfrm>
              <a:off x="6363" y="4398"/>
              <a:ext cx="6479" cy="2746"/>
            </a:xfrm>
            <a:prstGeom prst="ellipse">
              <a:avLst/>
            </a:prstGeom>
            <a:noFill/>
            <a:ln w="15875">
              <a:gradFill>
                <a:gsLst>
                  <a:gs pos="8000">
                    <a:schemeClr val="accent1">
                      <a:alpha val="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441" name="椭圆 440"/>
            <p:cNvSpPr>
              <a:spLocks noChangeAspect="1"/>
            </p:cNvSpPr>
            <p:nvPr>
              <p:custDataLst>
                <p:tags r:id="rId25"/>
              </p:custDataLst>
            </p:nvPr>
          </p:nvSpPr>
          <p:spPr>
            <a:xfrm>
              <a:off x="12511" y="6224"/>
              <a:ext cx="189" cy="189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34000">
                  <a:schemeClr val="accent1">
                    <a:alpha val="100000"/>
                  </a:schemeClr>
                </a:gs>
                <a:gs pos="62000">
                  <a:schemeClr val="accent1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47" name="椭圆 446"/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6981" y="4813"/>
              <a:ext cx="189" cy="189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34000">
                  <a:schemeClr val="accent1">
                    <a:alpha val="100000"/>
                  </a:schemeClr>
                </a:gs>
                <a:gs pos="62000">
                  <a:schemeClr val="accent1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48" name="椭圆 447"/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6705" y="6404"/>
              <a:ext cx="189" cy="189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34000">
                  <a:schemeClr val="accent1">
                    <a:alpha val="100000"/>
                  </a:schemeClr>
                </a:gs>
                <a:gs pos="62000">
                  <a:schemeClr val="accent1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450" name="上箭头 449"/>
            <p:cNvSpPr/>
            <p:nvPr>
              <p:custDataLst>
                <p:tags r:id="rId28"/>
              </p:custDataLst>
            </p:nvPr>
          </p:nvSpPr>
          <p:spPr>
            <a:xfrm>
              <a:off x="10467" y="3839"/>
              <a:ext cx="652" cy="726"/>
            </a:xfrm>
            <a:prstGeom prst="upArrow">
              <a:avLst>
                <a:gd name="adj1" fmla="val 54584"/>
                <a:gd name="adj2" fmla="val 70496"/>
              </a:avLst>
            </a:prstGeom>
            <a:gradFill>
              <a:gsLst>
                <a:gs pos="0">
                  <a:schemeClr val="accent1">
                    <a:alpha val="0"/>
                  </a:schemeClr>
                </a:gs>
                <a:gs pos="72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451" name="任意多边形 450"/>
            <p:cNvSpPr/>
            <p:nvPr>
              <p:custDataLst>
                <p:tags r:id="rId29"/>
              </p:custDataLst>
            </p:nvPr>
          </p:nvSpPr>
          <p:spPr>
            <a:xfrm>
              <a:off x="7789" y="3681"/>
              <a:ext cx="1047" cy="1274"/>
            </a:xfrm>
            <a:custGeom>
              <a:avLst/>
              <a:gdLst>
                <a:gd name="adj1" fmla="val 54584"/>
                <a:gd name="adj2" fmla="val 70496"/>
                <a:gd name="maxAdj2" fmla="*/ 100000 h ss"/>
                <a:gd name="a1" fmla="pin 0 adj1 100000"/>
                <a:gd name="a2" fmla="pin 0 adj2 maxAdj2"/>
                <a:gd name="y2" fmla="*/ ss a2 100000"/>
                <a:gd name="y3" fmla="+- b 0 y2"/>
                <a:gd name="dx1" fmla="*/ w a1 200000"/>
                <a:gd name="x1" fmla="+- hc 0 dx1"/>
                <a:gd name="x2" fmla="+- hc dx1 0"/>
                <a:gd name="dy1" fmla="*/ x1 y2 wd2"/>
                <a:gd name="y1" fmla="+- y2 0 dy1"/>
                <a:gd name="y4" fmla="+- y3 dy1 0"/>
              </a:gdLst>
              <a:ahLst/>
              <a:cxnLst>
                <a:cxn ang="3">
                  <a:pos x="hc" y="t"/>
                </a:cxn>
                <a:cxn ang="cd2">
                  <a:pos x="l" y="y2"/>
                </a:cxn>
                <a:cxn ang="cd4">
                  <a:pos x="hc" y="b"/>
                </a:cxn>
                <a:cxn ang="0">
                  <a:pos x="r" y="y2"/>
                </a:cxn>
              </a:cxnLst>
              <a:rect l="l" t="t" r="r" b="b"/>
              <a:pathLst>
                <a:path w="1102" h="1340">
                  <a:moveTo>
                    <a:pt x="602" y="0"/>
                  </a:moveTo>
                  <a:lnTo>
                    <a:pt x="1102" y="704"/>
                  </a:lnTo>
                  <a:lnTo>
                    <a:pt x="999" y="849"/>
                  </a:lnTo>
                  <a:lnTo>
                    <a:pt x="931" y="849"/>
                  </a:lnTo>
                  <a:lnTo>
                    <a:pt x="931" y="945"/>
                  </a:lnTo>
                  <a:lnTo>
                    <a:pt x="722" y="1239"/>
                  </a:lnTo>
                  <a:lnTo>
                    <a:pt x="931" y="1239"/>
                  </a:lnTo>
                  <a:lnTo>
                    <a:pt x="931" y="1340"/>
                  </a:lnTo>
                  <a:lnTo>
                    <a:pt x="273" y="1340"/>
                  </a:lnTo>
                  <a:lnTo>
                    <a:pt x="273" y="849"/>
                  </a:lnTo>
                  <a:lnTo>
                    <a:pt x="0" y="849"/>
                  </a:lnTo>
                  <a:lnTo>
                    <a:pt x="602" y="0"/>
                  </a:lnTo>
                  <a:close/>
                </a:path>
              </a:pathLst>
            </a:custGeom>
            <a:gradFill>
              <a:gsLst>
                <a:gs pos="12000">
                  <a:schemeClr val="accent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  <a:alpha val="69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452" name="上箭头 451"/>
            <p:cNvSpPr/>
            <p:nvPr>
              <p:custDataLst>
                <p:tags r:id="rId30"/>
              </p:custDataLst>
            </p:nvPr>
          </p:nvSpPr>
          <p:spPr>
            <a:xfrm>
              <a:off x="8475" y="3269"/>
              <a:ext cx="2255" cy="2511"/>
            </a:xfrm>
            <a:prstGeom prst="upArrow">
              <a:avLst>
                <a:gd name="adj1" fmla="val 54584"/>
                <a:gd name="adj2" fmla="val 70496"/>
              </a:avLst>
            </a:prstGeom>
            <a:gradFill>
              <a:gsLst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  <a:alpha val="80000"/>
                  </a:schemeClr>
                </a:gs>
              </a:gsLst>
              <a:lin ang="16200000" scaled="0"/>
            </a:gradFill>
            <a:ln>
              <a:gradFill>
                <a:gsLst>
                  <a:gs pos="0">
                    <a:schemeClr val="accent1">
                      <a:alpha val="85000"/>
                    </a:schemeClr>
                  </a:gs>
                  <a:gs pos="68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lt1"/>
                </a:solidFill>
                <a:sym typeface="+mn-ea"/>
              </a:endParaRPr>
            </a:p>
          </p:txBody>
        </p:sp>
        <p:sp>
          <p:nvSpPr>
            <p:cNvPr id="453" name="椭圆 452"/>
            <p:cNvSpPr/>
            <p:nvPr>
              <p:custDataLst>
                <p:tags r:id="rId31"/>
              </p:custDataLst>
            </p:nvPr>
          </p:nvSpPr>
          <p:spPr>
            <a:xfrm>
              <a:off x="7105" y="4625"/>
              <a:ext cx="4998" cy="211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80000">
                  <a:schemeClr val="accent1">
                    <a:lumMod val="60000"/>
                    <a:lumOff val="40000"/>
                    <a:alpha val="30000"/>
                  </a:schemeClr>
                </a:gs>
              </a:gsLst>
              <a:lin ang="5400000" scaled="0"/>
            </a:gradFill>
            <a:ln>
              <a:gradFill>
                <a:gsLst>
                  <a:gs pos="26000">
                    <a:schemeClr val="accent1">
                      <a:alpha val="0"/>
                    </a:schemeClr>
                  </a:gs>
                  <a:gs pos="100000">
                    <a:schemeClr val="accent1">
                      <a:alpha val="55000"/>
                    </a:schemeClr>
                  </a:gs>
                </a:gsLst>
                <a:lin ang="474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36195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900" b="1" dirty="0">
                  <a:solidFill>
                    <a:schemeClr val="accent1"/>
                  </a:solidFill>
                  <a:latin typeface="+mn-ea"/>
                  <a:cs typeface="+mn-ea"/>
                  <a:sym typeface="+mn-ea"/>
                </a:rPr>
                <a:t> </a:t>
              </a:r>
              <a:endParaRPr lang="en-US" altLang="zh-CN" sz="1900" b="1" dirty="0">
                <a:solidFill>
                  <a:schemeClr val="accent1"/>
                </a:solidFill>
                <a:latin typeface="+mn-ea"/>
                <a:cs typeface="+mn-ea"/>
                <a:sym typeface="+mn-ea"/>
              </a:endParaRPr>
            </a:p>
          </p:txBody>
        </p:sp>
        <p:sp>
          <p:nvSpPr>
            <p:cNvPr id="498" name="椭圆 497"/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9798" y="7042"/>
              <a:ext cx="189" cy="189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34000">
                  <a:schemeClr val="accent1">
                    <a:alpha val="100000"/>
                  </a:schemeClr>
                </a:gs>
                <a:gs pos="62000">
                  <a:schemeClr val="accent1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05" name="椭圆 504"/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12102" y="4827"/>
              <a:ext cx="189" cy="189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20000"/>
                    <a:lumOff val="80000"/>
                    <a:alpha val="100000"/>
                  </a:schemeClr>
                </a:gs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34000">
                  <a:schemeClr val="accent1">
                    <a:alpha val="100000"/>
                  </a:schemeClr>
                </a:gs>
                <a:gs pos="62000">
                  <a:schemeClr val="accent1">
                    <a:alpha val="10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gradFill>
                <a:gsLst>
                  <a:gs pos="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37000">
                    <a:srgbClr val="D7E2FF">
                      <a:lumMod val="5000"/>
                      <a:lumOff val="95000"/>
                    </a:srgbClr>
                  </a:gs>
                  <a:gs pos="71000">
                    <a:schemeClr val="accent1">
                      <a:lumMod val="20000"/>
                      <a:lumOff val="80000"/>
                      <a:alpha val="100000"/>
                    </a:schemeClr>
                  </a:gs>
                  <a:gs pos="100000">
                    <a:srgbClr val="FFFFFF"/>
                  </a:gs>
                </a:gsLst>
                <a:lin ang="16200000" scaled="0"/>
              </a:gradFill>
            </a:ln>
            <a:effectLst>
              <a:outerShdw blurRad="177800" dir="5400000" sx="90000" sy="-19000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tIns="0" rIns="0" bIns="0" numCol="1" spcCol="0" rtlCol="0" fromWordArt="0" anchor="ctr" anchorCtr="0" forceAA="0" compatLnSpc="1">
              <a:normAutofit fontScale="25000" lnSpcReduction="20000"/>
            </a:bodyPr>
            <a:p>
              <a:pPr lvl="0" algn="ctr">
                <a:buClrTx/>
                <a:buSzTx/>
                <a:buFontTx/>
              </a:pPr>
              <a:endParaRPr lang="zh-CN" altLang="en-US" b="1" spc="100">
                <a:solidFill>
                  <a:schemeClr val="bg1"/>
                </a:solidFill>
                <a:uFillTx/>
                <a:latin typeface="+中文标题" charset="0"/>
                <a:ea typeface="+mj-ea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511" name="文本框 510"/>
          <p:cNvSpPr txBox="1"/>
          <p:nvPr/>
        </p:nvSpPr>
        <p:spPr>
          <a:xfrm>
            <a:off x="741045" y="6026150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从神话到理性的连续突破，前苏格拉底哲学并非“凭空诞生”，而是继承并转化了前置思想的核心框架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二、米利都学派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6910" y="71056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米利都学派是西方哲学第一个哲学流派，属于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前苏格拉底自然哲学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，诞生于古希腊伊奥尼亚地区殖民城邦米利都（今土耳其西海岸），时间约公元前6世纪。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76910" y="1028065"/>
            <a:ext cx="11171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核心共识：放弃神话创世，以自然本身解释自然，首次提出本原（</a:t>
            </a:r>
            <a:r>
              <a:rPr lang="en-US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ἀ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ρχή，arche）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概念——万物由之产生、毁灭后复归于它的终极始基，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开创唯物自然哲学传统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6910" y="1396365"/>
            <a:ext cx="11171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代表人物三位：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泰勒斯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阿那克西曼德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、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阿那克西美尼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，三代师承递进。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7" name="AutoShape 3"/>
          <p:cNvSpPr/>
          <p:nvPr/>
        </p:nvSpPr>
        <p:spPr>
          <a:xfrm>
            <a:off x="762000" y="1870710"/>
            <a:ext cx="3302000" cy="4724400"/>
          </a:xfrm>
          <a:prstGeom prst="roundRect">
            <a:avLst>
              <a:gd name="adj" fmla="val 0"/>
            </a:avLst>
          </a:prstGeom>
          <a:solidFill>
            <a:srgbClr val="FCFCFA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4"/>
          <p:cNvPicPr>
            <a:picLocks noChangeAspect="1"/>
          </p:cNvPicPr>
          <p:nvPr/>
        </p:nvPicPr>
        <p:blipFill>
          <a:blip r:embed="rId2"/>
          <a:srcRect t="-1" b="45455"/>
          <a:stretch>
            <a:fillRect/>
          </a:stretch>
        </p:blipFill>
        <p:spPr>
          <a:xfrm>
            <a:off x="1016000" y="2124710"/>
            <a:ext cx="279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9" name="AutoShape 5"/>
          <p:cNvSpPr/>
          <p:nvPr/>
        </p:nvSpPr>
        <p:spPr>
          <a:xfrm>
            <a:off x="952500" y="377571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fontAlgn="auto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泰勒斯 (Thales)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ctr" fontAlgn="auto">
              <a:lnSpc>
                <a:spcPct val="125000"/>
              </a:lnSpc>
              <a:defRPr/>
            </a:pP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约前624—前546</a:t>
            </a:r>
            <a:endParaRPr 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0" name="AutoShape 6"/>
          <p:cNvSpPr/>
          <p:nvPr/>
        </p:nvSpPr>
        <p:spPr>
          <a:xfrm>
            <a:off x="1841500" y="4410710"/>
            <a:ext cx="1143000" cy="25400"/>
          </a:xfrm>
          <a:prstGeom prst="roundRect">
            <a:avLst>
              <a:gd name="adj" fmla="val 0"/>
            </a:avLst>
          </a:prstGeom>
          <a:solidFill>
            <a:srgbClr val="0054A7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7"/>
          <p:cNvSpPr/>
          <p:nvPr/>
        </p:nvSpPr>
        <p:spPr>
          <a:xfrm>
            <a:off x="952500" y="4566920"/>
            <a:ext cx="2921000" cy="1846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身份地位：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西方哲学之父，希腊七贤之一，精通天文、几何、工程，据传预言日食、测量金字塔高度。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核心思想：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 本原论：水是万物本原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2.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万物有灵论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3.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自然祛魅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思想来源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受古巴比伦天文、古埃及尼罗河水崇拜、荷马史诗海洋创世观直接影响。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2" name="AutoShape 8"/>
          <p:cNvSpPr/>
          <p:nvPr/>
        </p:nvSpPr>
        <p:spPr>
          <a:xfrm>
            <a:off x="4445000" y="1870710"/>
            <a:ext cx="3302000" cy="4724400"/>
          </a:xfrm>
          <a:prstGeom prst="roundRect">
            <a:avLst>
              <a:gd name="adj" fmla="val 0"/>
            </a:avLst>
          </a:prstGeom>
          <a:solidFill>
            <a:srgbClr val="FCFCFA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9"/>
          <p:cNvPicPr>
            <a:picLocks noChangeAspect="1"/>
          </p:cNvPicPr>
          <p:nvPr/>
        </p:nvPicPr>
        <p:blipFill>
          <a:blip r:embed="rId3"/>
          <a:srcRect t="-13" r="6303" b="17500"/>
          <a:stretch>
            <a:fillRect/>
          </a:stretch>
        </p:blipFill>
        <p:spPr>
          <a:xfrm>
            <a:off x="4699000" y="2124710"/>
            <a:ext cx="279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4" name="AutoShape 10"/>
          <p:cNvSpPr/>
          <p:nvPr/>
        </p:nvSpPr>
        <p:spPr>
          <a:xfrm>
            <a:off x="4635500" y="377571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fontAlgn="auto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阿那克西曼德 (Anaximander)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约前610—前546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5" name="AutoShape 11"/>
          <p:cNvSpPr/>
          <p:nvPr/>
        </p:nvSpPr>
        <p:spPr>
          <a:xfrm>
            <a:off x="5524500" y="4410710"/>
            <a:ext cx="1143000" cy="25400"/>
          </a:xfrm>
          <a:prstGeom prst="roundRect">
            <a:avLst>
              <a:gd name="adj" fmla="val 0"/>
            </a:avLst>
          </a:prstGeom>
          <a:solidFill>
            <a:srgbClr val="0054A7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12"/>
          <p:cNvSpPr/>
          <p:nvPr/>
        </p:nvSpPr>
        <p:spPr>
          <a:xfrm>
            <a:off x="4635500" y="4566285"/>
            <a:ext cx="2921000" cy="1846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身份地位：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泰勒斯学生，西方第一个宇宙论者、最早绘制世界地图、提出生物演化雏形。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核心思想：</a:t>
            </a: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1.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本原不是具体元素，而是「阿派朗」</a:t>
            </a:r>
            <a:r>
              <a:rPr lang="en-US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（ἄ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πειρον，Apeiron）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                2.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宇宙生成论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                3.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正义与补偿的宇宙秩序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                4.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原始进化论萌芽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</a:t>
            </a:r>
            <a:endParaRPr lang="en-US" altLang="zh-CN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                5.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大地悬浮说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7" name="AutoShape 13"/>
          <p:cNvSpPr/>
          <p:nvPr/>
        </p:nvSpPr>
        <p:spPr>
          <a:xfrm>
            <a:off x="8128000" y="187071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CFCFA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8" name="Picture 14"/>
          <p:cNvPicPr>
            <a:picLocks noChangeAspect="1"/>
          </p:cNvPicPr>
          <p:nvPr/>
        </p:nvPicPr>
        <p:blipFill>
          <a:blip r:embed="rId4"/>
          <a:srcRect t="1716" b="1716"/>
          <a:stretch>
            <a:fillRect/>
          </a:stretch>
        </p:blipFill>
        <p:spPr>
          <a:xfrm>
            <a:off x="8382000" y="2124710"/>
            <a:ext cx="2794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9" name="AutoShape 15"/>
          <p:cNvSpPr/>
          <p:nvPr/>
        </p:nvSpPr>
        <p:spPr>
          <a:xfrm>
            <a:off x="8318500" y="377571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阿那克西美尼 (Anaximenes)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约前585—前525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50" name="AutoShape 16"/>
          <p:cNvSpPr/>
          <p:nvPr/>
        </p:nvSpPr>
        <p:spPr>
          <a:xfrm>
            <a:off x="9207500" y="4410710"/>
            <a:ext cx="1143000" cy="25400"/>
          </a:xfrm>
          <a:prstGeom prst="roundRect">
            <a:avLst>
              <a:gd name="adj" fmla="val 0"/>
            </a:avLst>
          </a:prstGeom>
          <a:solidFill>
            <a:srgbClr val="0054A7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17"/>
          <p:cNvSpPr/>
          <p:nvPr/>
        </p:nvSpPr>
        <p:spPr>
          <a:xfrm>
            <a:off x="8318500" y="4499610"/>
            <a:ext cx="2921000" cy="1542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身份地位：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阿那克西曼德学生，米利都学派集大成者，把本原思想推向精致化。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核心思想：</a:t>
            </a:r>
            <a:r>
              <a:rPr 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1. 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本原是「气」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                2. 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运动机制：稀散与凝聚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                3. 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灵魂与宇宙同构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                 4. 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天体气象自然化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二、米利都学派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4" name="AutoShape 5"/>
          <p:cNvSpPr/>
          <p:nvPr>
            <p:custDataLst>
              <p:tags r:id="rId2"/>
            </p:custDataLst>
          </p:nvPr>
        </p:nvSpPr>
        <p:spPr>
          <a:xfrm>
            <a:off x="1038225" y="770255"/>
            <a:ext cx="10453370" cy="2828925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292225" y="902970"/>
            <a:ext cx="6706235" cy="381000"/>
            <a:chOff x="1466" y="2341"/>
            <a:chExt cx="10200" cy="600"/>
          </a:xfrm>
        </p:grpSpPr>
        <p:pic>
          <p:nvPicPr>
            <p:cNvPr id="28" name="Picture 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66" y="2441"/>
              <a:ext cx="480" cy="480"/>
            </a:xfrm>
            <a:prstGeom prst="rect">
              <a:avLst/>
            </a:prstGeom>
          </p:spPr>
        </p:pic>
        <p:sp>
          <p:nvSpPr>
            <p:cNvPr id="29" name="AutoShape 7"/>
            <p:cNvSpPr/>
            <p:nvPr>
              <p:custDataLst>
                <p:tags r:id="rId6"/>
              </p:custDataLst>
            </p:nvPr>
          </p:nvSpPr>
          <p:spPr>
            <a:xfrm>
              <a:off x="2066" y="2341"/>
              <a:ext cx="9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14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Noto Serif SC" panose="02020200000000000000" charset="-122"/>
                  <a:sym typeface="Noto Serif SC" panose="02020200000000000000" charset="-122"/>
                </a:rPr>
                <a:t>整体共同特征</a:t>
              </a:r>
              <a:endParaRPr lang="zh-CN" altLang="en-US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endParaRPr>
            </a:p>
          </p:txBody>
        </p:sp>
      </p:grpSp>
      <p:sp>
        <p:nvSpPr>
          <p:cNvPr id="30" name="AutoShape 14"/>
          <p:cNvSpPr/>
          <p:nvPr/>
        </p:nvSpPr>
        <p:spPr>
          <a:xfrm>
            <a:off x="1607820" y="1355725"/>
            <a:ext cx="9537065" cy="19386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研究对象：自然、宇宙本原，是自然哲学。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思维方式：神话→自然理性，用自然自身解释自然。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本原演进脉络：泰勒斯：具体感性元素（水）→ 阿那克西曼德：抽象无定形（阿派朗）→ 阿那克西美尼：兼具抽象与具体（气）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共同贡献：首次提出</a:t>
            </a:r>
            <a:r>
              <a:rPr lang="en-US" altLang="zh-CN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arche</a:t>
            </a: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本原范畴；确立理性思辨、经验观察的哲学方法；开启西方唯物主义宇宙论传统，为后续赫拉克利特、原子论、柏拉图哲学铺路。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1" name="AutoShape 9"/>
          <p:cNvSpPr/>
          <p:nvPr>
            <p:custDataLst>
              <p:tags r:id="rId7"/>
            </p:custDataLst>
          </p:nvPr>
        </p:nvSpPr>
        <p:spPr>
          <a:xfrm>
            <a:off x="1038225" y="3962400"/>
            <a:ext cx="10453370" cy="2018665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292225" y="4016375"/>
            <a:ext cx="6477000" cy="381000"/>
            <a:chOff x="2155" y="4811"/>
            <a:chExt cx="10200" cy="600"/>
          </a:xfrm>
        </p:grpSpPr>
        <p:pic>
          <p:nvPicPr>
            <p:cNvPr id="33" name="Picture 1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55" y="4901"/>
              <a:ext cx="480" cy="480"/>
            </a:xfrm>
            <a:prstGeom prst="rect">
              <a:avLst/>
            </a:prstGeom>
          </p:spPr>
        </p:pic>
        <p:sp>
          <p:nvSpPr>
            <p:cNvPr id="34" name="AutoShape 11"/>
            <p:cNvSpPr/>
            <p:nvPr>
              <p:custDataLst>
                <p:tags r:id="rId11"/>
              </p:custDataLst>
            </p:nvPr>
          </p:nvSpPr>
          <p:spPr>
            <a:xfrm>
              <a:off x="2755" y="4811"/>
              <a:ext cx="9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sz="14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极简框架</a:t>
              </a:r>
              <a:endParaRPr lang="zh-CN" sz="14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endParaRPr>
            </a:p>
          </p:txBody>
        </p:sp>
      </p:grpSp>
      <p:sp>
        <p:nvSpPr>
          <p:cNvPr id="35" name="AutoShape 14"/>
          <p:cNvSpPr/>
          <p:nvPr/>
        </p:nvSpPr>
        <p:spPr>
          <a:xfrm>
            <a:off x="1607820" y="4481830"/>
            <a:ext cx="9311640" cy="12922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米利都学派：西方首个哲学流派，自然本原论。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泰勒斯：本原是水，万物有灵，哲学诞生标志。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阿那克西曼德：本原阿派朗（无限者），对立生成、宇宙正义、大地悬浮、生物演化萌芽。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阿那克西美尼：本原气，靠稀散/凝聚生成万物，量变生质变。</a:t>
            </a:r>
            <a:endParaRPr lang="zh-CN" alt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三、赫拉克利特</a:t>
            </a:r>
            <a:endParaRPr lang="zh-CN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>
          <a:blip r:embed="rId2"/>
          <a:srcRect t="21875" b="21875"/>
          <a:stretch>
            <a:fillRect/>
          </a:stretch>
        </p:blipFill>
        <p:spPr>
          <a:xfrm>
            <a:off x="762000" y="1362075"/>
            <a:ext cx="3302000" cy="2286000"/>
          </a:xfrm>
          <a:prstGeom prst="rect">
            <a:avLst/>
          </a:prstGeom>
          <a:noFill/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0" name="AutoShape 6"/>
          <p:cNvSpPr/>
          <p:nvPr>
            <p:custDataLst>
              <p:tags r:id="rId3"/>
            </p:custDataLst>
          </p:nvPr>
        </p:nvSpPr>
        <p:spPr>
          <a:xfrm>
            <a:off x="4445000" y="857250"/>
            <a:ext cx="3429000" cy="1524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7"/>
          <p:cNvSpPr/>
          <p:nvPr>
            <p:custDataLst>
              <p:tags r:id="rId4"/>
            </p:custDataLst>
          </p:nvPr>
        </p:nvSpPr>
        <p:spPr>
          <a:xfrm>
            <a:off x="4572000" y="1042353"/>
            <a:ext cx="304800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01. 本原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：永恒的活火（宇宙论）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世界是一团永恒燃烧的活火</a:t>
            </a:r>
            <a:endParaRPr 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按“逻各斯”有规律地燃烧和熄灭</a:t>
            </a:r>
            <a:endParaRPr 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火转化为万物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23" name="AutoShape 8"/>
          <p:cNvSpPr/>
          <p:nvPr>
            <p:custDataLst>
              <p:tags r:id="rId5"/>
            </p:custDataLst>
          </p:nvPr>
        </p:nvSpPr>
        <p:spPr>
          <a:xfrm>
            <a:off x="8128000" y="857250"/>
            <a:ext cx="3302000" cy="1524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9"/>
          <p:cNvSpPr/>
          <p:nvPr>
            <p:custDataLst>
              <p:tags r:id="rId6"/>
            </p:custDataLst>
          </p:nvPr>
        </p:nvSpPr>
        <p:spPr>
          <a:xfrm>
            <a:off x="8318500" y="991870"/>
            <a:ext cx="2921000" cy="11582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02. </a:t>
            </a: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流变：万物流变，无物常驻（存在论）</a:t>
            </a:r>
            <a:endParaRPr lang="zh-CN" altLang="en-US" sz="1200" b="1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万物皆流，无物常驻（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πάντα </a:t>
            </a:r>
            <a:r>
              <a:rPr lang="en-US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ῥ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ε</a:t>
            </a:r>
            <a:r>
              <a:rPr lang="en-US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ῖ）</a:t>
            </a:r>
            <a:endParaRPr lang="en-US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“人不能两次踏入同一条河流”</a:t>
            </a:r>
            <a:endParaRPr 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太阳每天都是新的，自然永不停息更新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25" name="AutoShape 10"/>
          <p:cNvSpPr/>
          <p:nvPr>
            <p:custDataLst>
              <p:tags r:id="rId7"/>
            </p:custDataLst>
          </p:nvPr>
        </p:nvSpPr>
        <p:spPr>
          <a:xfrm>
            <a:off x="4445000" y="2575560"/>
            <a:ext cx="3429000" cy="1524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12"/>
          <p:cNvSpPr/>
          <p:nvPr>
            <p:custDataLst>
              <p:tags r:id="rId8"/>
            </p:custDataLst>
          </p:nvPr>
        </p:nvSpPr>
        <p:spPr>
          <a:xfrm>
            <a:off x="8128000" y="2575560"/>
            <a:ext cx="3302000" cy="1524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14"/>
          <p:cNvSpPr/>
          <p:nvPr/>
        </p:nvSpPr>
        <p:spPr>
          <a:xfrm>
            <a:off x="4445000" y="4319905"/>
            <a:ext cx="6985000" cy="103187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15"/>
          <p:cNvSpPr/>
          <p:nvPr/>
        </p:nvSpPr>
        <p:spPr>
          <a:xfrm>
            <a:off x="4635500" y="4431348"/>
            <a:ext cx="6604000" cy="7829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05. </a:t>
            </a: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灵魂与伦理（补充</a:t>
            </a: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）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108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灵魂是火与水的混合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>
              <a:lnSpc>
                <a:spcPct val="108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性格即命运（</a:t>
            </a:r>
            <a:r>
              <a:rPr lang="en-US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ἦ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θος </a:t>
            </a:r>
            <a:r>
              <a:rPr lang="en-US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ἀ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νθρώπ</a:t>
            </a:r>
            <a:r>
              <a:rPr lang="en-US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ῳ 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δαίμων）</a:t>
            </a:r>
            <a:endParaRPr lang="en-US" altLang="zh-CN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76910" y="3835400"/>
            <a:ext cx="34550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赫拉克利特（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Heraclitus，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约前535—前475）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爱菲斯学派创始人，前苏格拉底哲学核心人物，辩证法奠基人，人称“晦涩哲人”，著作《论自然》仅存130余条残篇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（DK 22B）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2" name="AutoShape 7"/>
          <p:cNvSpPr/>
          <p:nvPr>
            <p:custDataLst>
              <p:tags r:id="rId9"/>
            </p:custDataLst>
          </p:nvPr>
        </p:nvSpPr>
        <p:spPr>
          <a:xfrm>
            <a:off x="4573905" y="2760345"/>
            <a:ext cx="330200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03.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辩证法：对立统一，斗争即正义（核心创见）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对立面统一（</a:t>
            </a:r>
            <a:r>
              <a:rPr lang="en-US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ἑ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νάντια </a:t>
            </a:r>
            <a:r>
              <a:rPr lang="en-US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ἓ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ν）</a:t>
            </a: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，且相互转化</a:t>
            </a:r>
            <a:endParaRPr lang="en-US" altLang="zh-CN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战争（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πόλεμος）</a:t>
            </a: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是动力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批评荷马祈求“纷争消失”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3" name="AutoShape 7"/>
          <p:cNvSpPr/>
          <p:nvPr>
            <p:custDataLst>
              <p:tags r:id="rId10"/>
            </p:custDataLst>
          </p:nvPr>
        </p:nvSpPr>
        <p:spPr>
          <a:xfrm>
            <a:off x="8318500" y="2760345"/>
            <a:ext cx="314579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04.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逻各斯：理性秩序与认知（认识论）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贯穿宇宙万物的普遍、永恒的理性规律</a:t>
            </a:r>
            <a:endParaRPr lang="en-US" altLang="zh-CN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“一切是一”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需靠理性（努斯）把握逻各斯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4" name="AutoShape 13"/>
          <p:cNvSpPr/>
          <p:nvPr/>
        </p:nvSpPr>
        <p:spPr>
          <a:xfrm>
            <a:off x="762635" y="5482590"/>
            <a:ext cx="10701655" cy="11271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>
            <a:solidFill>
              <a:srgbClr val="0054A7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97000" y="5546725"/>
            <a:ext cx="9032875" cy="10236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 fontAlgn="auto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历史定位与影响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西方辩证法源头：首次系统论证对立统一、运动变化，影响柏拉图、亚里士多德、黑格尔、马克思。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自然理性传统：以火+逻各斯取代神话创世，确立自然自身解释自然的理性原则。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存在论转折：提出存在即流变，与巴门尼德“存在即不变”形成前苏格拉底两大对立路线，奠定西方哲学基本问题。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四、克塞诺芬尼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" y="1254125"/>
            <a:ext cx="3343910" cy="2110105"/>
          </a:xfrm>
          <a:prstGeom prst="rect">
            <a:avLst/>
          </a:prstGeom>
          <a:ln>
            <a:solidFill>
              <a:srgbClr val="0054A7"/>
            </a:solidFill>
          </a:ln>
        </p:spPr>
      </p:pic>
      <p:sp>
        <p:nvSpPr>
          <p:cNvPr id="31" name="文本框 30"/>
          <p:cNvSpPr txBox="1"/>
          <p:nvPr/>
        </p:nvSpPr>
        <p:spPr>
          <a:xfrm>
            <a:off x="676910" y="3630295"/>
            <a:ext cx="345503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克塞诺芬尼（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Xenophanes，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约前570—前475）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爱利亚学派思想先驱，游吟诗人兼哲学家，以批判荷马宗教、提出唯一神论、区分知识与意见著称，是联结伊奥尼亚自然哲学与爱利亚存在论的关键人物。著作仅存40余条残篇（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DK 21B）。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5" name="AutoShape 6"/>
          <p:cNvSpPr/>
          <p:nvPr>
            <p:custDataLst>
              <p:tags r:id="rId3"/>
            </p:custDataLst>
          </p:nvPr>
        </p:nvSpPr>
        <p:spPr>
          <a:xfrm>
            <a:off x="4445000" y="1085215"/>
            <a:ext cx="3429000" cy="204851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7"/>
          <p:cNvSpPr/>
          <p:nvPr>
            <p:custDataLst>
              <p:tags r:id="rId4"/>
            </p:custDataLst>
          </p:nvPr>
        </p:nvSpPr>
        <p:spPr>
          <a:xfrm>
            <a:off x="4572000" y="1270318"/>
            <a:ext cx="304800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01.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宗教批判：颠覆传统神话神学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痛斥荷马、赫西俄德神人同形同性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讽刺民族神差异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主张废除多神教，开启理性神学传统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27" name="AutoShape 8"/>
          <p:cNvSpPr/>
          <p:nvPr>
            <p:custDataLst>
              <p:tags r:id="rId5"/>
            </p:custDataLst>
          </p:nvPr>
        </p:nvSpPr>
        <p:spPr>
          <a:xfrm>
            <a:off x="8128000" y="1085215"/>
            <a:ext cx="3302000" cy="204914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9"/>
          <p:cNvSpPr/>
          <p:nvPr>
            <p:custDataLst>
              <p:tags r:id="rId6"/>
            </p:custDataLst>
          </p:nvPr>
        </p:nvSpPr>
        <p:spPr>
          <a:xfrm>
            <a:off x="8311515" y="1140143"/>
            <a:ext cx="2921000" cy="19386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02. </a:t>
            </a: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唯一神论：理性化的“一”神</a:t>
            </a:r>
            <a:endParaRPr lang="zh-CN" altLang="en-US" sz="1200" b="1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神的五大属性（与奥林匹斯诸神对立）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超绝人性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全知全能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永恒不动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内在宇宙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以哲学之“一”取代神话之“多”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29" name="AutoShape 10"/>
          <p:cNvSpPr/>
          <p:nvPr>
            <p:custDataLst>
              <p:tags r:id="rId7"/>
            </p:custDataLst>
          </p:nvPr>
        </p:nvSpPr>
        <p:spPr>
          <a:xfrm>
            <a:off x="4448175" y="3361690"/>
            <a:ext cx="3429000" cy="1524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12"/>
          <p:cNvSpPr/>
          <p:nvPr>
            <p:custDataLst>
              <p:tags r:id="rId8"/>
            </p:custDataLst>
          </p:nvPr>
        </p:nvSpPr>
        <p:spPr>
          <a:xfrm>
            <a:off x="8131175" y="3361690"/>
            <a:ext cx="3302000" cy="152400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7"/>
          <p:cNvSpPr/>
          <p:nvPr>
            <p:custDataLst>
              <p:tags r:id="rId9"/>
            </p:custDataLst>
          </p:nvPr>
        </p:nvSpPr>
        <p:spPr>
          <a:xfrm>
            <a:off x="4572000" y="3496945"/>
            <a:ext cx="330200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03.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认识论：区分真理（知识）与意见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真理（知识）人类无法获得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人类认知的局限状态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主张承认人类认知有限性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3" name="AutoShape 7"/>
          <p:cNvSpPr/>
          <p:nvPr>
            <p:custDataLst>
              <p:tags r:id="rId10"/>
            </p:custDataLst>
          </p:nvPr>
        </p:nvSpPr>
        <p:spPr>
          <a:xfrm>
            <a:off x="8314055" y="3496945"/>
            <a:ext cx="314579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04.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自然观：土本原+宇宙循环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继承米利都本原论，提出土是万物本原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土是循环核心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用自然原因取代神话解释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4" name="AutoShape 13"/>
          <p:cNvSpPr/>
          <p:nvPr/>
        </p:nvSpPr>
        <p:spPr>
          <a:xfrm>
            <a:off x="762635" y="5228590"/>
            <a:ext cx="10701655" cy="13811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 cap="flat" cmpd="sng">
            <a:solidFill>
              <a:srgbClr val="0054A7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109980" y="5319395"/>
            <a:ext cx="9968865" cy="11988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lvl="0" algn="l" fontAlgn="auto">
              <a:lnSpc>
                <a:spcPct val="130000"/>
              </a:lnSpc>
              <a:buClrTx/>
              <a:buSzTx/>
              <a:buFontTx/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对巴门尼德思想的决定性影响（核心传承）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克塞诺芬尼是巴门尼德直接思想源头，爱利亚学派“存在论”直接继承并改造其“唯一神论” 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“一”的继承：从“唯一神”到“唯一存在”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克塞诺芬尼的神的五大属性，全部被巴门尼德转化为存在的本质规定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认识论传承：理性高于感官、真理与意见二分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反流变、反多的立场奠基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3"/>
          <p:cNvSpPr/>
          <p:nvPr/>
        </p:nvSpPr>
        <p:spPr>
          <a:xfrm>
            <a:off x="6417945" y="1933575"/>
            <a:ext cx="5003800" cy="4724400"/>
          </a:xfrm>
          <a:prstGeom prst="roundRect">
            <a:avLst>
              <a:gd name="adj" fmla="val 0"/>
            </a:avLst>
          </a:prstGeom>
          <a:solidFill>
            <a:srgbClr val="FCFCFA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五、爱利亚学派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6910" y="71056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爱利亚学派（南意大利爱利亚城邦，前6—前5世纪），反米利都、反赫拉克利特流变观。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910" y="107886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核心主张：存在是唯一、永恒、不动、完整，感官流变世界是假象，唯有理性能把握真实存在。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6910" y="144716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代表：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巴门尼德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（奠基人）、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芝诺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（辩护者）。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12" name="AutoShape 3"/>
          <p:cNvSpPr/>
          <p:nvPr/>
        </p:nvSpPr>
        <p:spPr>
          <a:xfrm>
            <a:off x="787400" y="1933575"/>
            <a:ext cx="5003800" cy="4724400"/>
          </a:xfrm>
          <a:prstGeom prst="roundRect">
            <a:avLst>
              <a:gd name="adj" fmla="val 0"/>
            </a:avLst>
          </a:prstGeom>
          <a:solidFill>
            <a:srgbClr val="FCFCFA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4" name="组合 3"/>
          <p:cNvGrpSpPr/>
          <p:nvPr/>
        </p:nvGrpSpPr>
        <p:grpSpPr>
          <a:xfrm>
            <a:off x="1828800" y="3835400"/>
            <a:ext cx="2921000" cy="660400"/>
            <a:chOff x="2402" y="5941"/>
            <a:chExt cx="4600" cy="1040"/>
          </a:xfrm>
        </p:grpSpPr>
        <p:sp>
          <p:nvSpPr>
            <p:cNvPr id="39" name="AutoShape 5"/>
            <p:cNvSpPr/>
            <p:nvPr/>
          </p:nvSpPr>
          <p:spPr>
            <a:xfrm>
              <a:off x="2402" y="5941"/>
              <a:ext cx="4600" cy="9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 fontAlgn="auto">
                <a:lnSpc>
                  <a:spcPct val="125000"/>
                </a:lnSpc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巴门尼德（</a:t>
              </a:r>
              <a:r>
                <a:rPr lang="en-US" altLang="zh-CN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Parmenides</a:t>
              </a:r>
              <a:r>
                <a:rPr 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)</a:t>
              </a:r>
              <a:endPara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endParaRPr>
            </a:p>
            <a:p>
              <a:pPr indent="0" algn="ctr" fontAlgn="auto">
                <a:lnSpc>
                  <a:spcPct val="125000"/>
                </a:lnSpc>
                <a:defRPr/>
              </a:pPr>
              <a:r>
                <a:rPr lang="zh-CN" altLang="en-US" sz="120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约前515—前450</a:t>
              </a:r>
              <a:endPara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endParaRPr>
            </a:p>
          </p:txBody>
        </p:sp>
        <p:sp>
          <p:nvSpPr>
            <p:cNvPr id="40" name="AutoShape 6"/>
            <p:cNvSpPr/>
            <p:nvPr/>
          </p:nvSpPr>
          <p:spPr>
            <a:xfrm>
              <a:off x="3802" y="6941"/>
              <a:ext cx="1800" cy="40"/>
            </a:xfrm>
            <a:prstGeom prst="roundRect">
              <a:avLst>
                <a:gd name="adj" fmla="val 0"/>
              </a:avLst>
            </a:prstGeom>
            <a:solidFill>
              <a:srgbClr val="0054A7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</p:grpSp>
      <p:sp>
        <p:nvSpPr>
          <p:cNvPr id="41" name="AutoShape 7"/>
          <p:cNvSpPr/>
          <p:nvPr/>
        </p:nvSpPr>
        <p:spPr>
          <a:xfrm>
            <a:off x="977900" y="4725035"/>
            <a:ext cx="481330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著作：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《论自然》，以诗体残篇传世，分为《真理之路》《意见之路》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核心思想：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endParaRPr lang="en-US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endParaRPr lang="en-US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哲学贡献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：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690" y="2176780"/>
            <a:ext cx="2893060" cy="1524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415" y="2080260"/>
            <a:ext cx="2921635" cy="155384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661160" y="5600700"/>
            <a:ext cx="396113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西方哲学第一次严格区分本体/真实与现象/假象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确立理性高于感官的认识论原则，开启西方形而上学本体论传统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与赫拉克利特形成千古对立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35760" y="4910455"/>
            <a:ext cx="403098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 真理之路：认可「存在者存在」，意见之路：认可「非存在也存在」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存在的五大本质规定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459345" y="3835400"/>
            <a:ext cx="2921000" cy="660400"/>
            <a:chOff x="2402" y="5941"/>
            <a:chExt cx="4600" cy="1040"/>
          </a:xfrm>
        </p:grpSpPr>
        <p:sp>
          <p:nvSpPr>
            <p:cNvPr id="7" name="AutoShape 5"/>
            <p:cNvSpPr/>
            <p:nvPr/>
          </p:nvSpPr>
          <p:spPr>
            <a:xfrm>
              <a:off x="2402" y="5941"/>
              <a:ext cx="4600" cy="9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 fontAlgn="auto">
                <a:lnSpc>
                  <a:spcPct val="125000"/>
                </a:lnSpc>
                <a:defRPr/>
              </a:pPr>
              <a:r>
                <a:rPr lang="zh-CN" alt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芝诺（</a:t>
              </a:r>
              <a:r>
                <a:rPr lang="en-US" altLang="zh-CN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Zeno of Elea</a:t>
              </a:r>
              <a:r>
                <a:rPr lang="en-US" sz="1200" b="1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)</a:t>
              </a:r>
              <a:endPara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endParaRPr>
            </a:p>
            <a:p>
              <a:pPr indent="0" algn="ctr" fontAlgn="auto">
                <a:lnSpc>
                  <a:spcPct val="125000"/>
                </a:lnSpc>
                <a:defRPr/>
              </a:pPr>
              <a:r>
                <a:rPr lang="zh-CN" altLang="en-US" sz="1200" i="0" u="none" strike="noStrike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erif SC" panose="02020200000000000000" charset="-122"/>
                </a:rPr>
                <a:t>约前490—前430</a:t>
              </a:r>
              <a:endPara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endParaRPr>
            </a:p>
          </p:txBody>
        </p:sp>
        <p:sp>
          <p:nvSpPr>
            <p:cNvPr id="10" name="AutoShape 6"/>
            <p:cNvSpPr/>
            <p:nvPr/>
          </p:nvSpPr>
          <p:spPr>
            <a:xfrm>
              <a:off x="3802" y="6941"/>
              <a:ext cx="1800" cy="40"/>
            </a:xfrm>
            <a:prstGeom prst="roundRect">
              <a:avLst>
                <a:gd name="adj" fmla="val 0"/>
              </a:avLst>
            </a:prstGeom>
            <a:solidFill>
              <a:srgbClr val="0054A7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</p:grpSp>
      <p:sp>
        <p:nvSpPr>
          <p:cNvPr id="13" name="AutoShape 7"/>
          <p:cNvSpPr/>
          <p:nvPr/>
        </p:nvSpPr>
        <p:spPr>
          <a:xfrm>
            <a:off x="6608445" y="4609465"/>
            <a:ext cx="4813300" cy="1384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身份：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巴门尼德弟子，不是正面立论，而是以悖论反证：证明「运动、多不存在」，间接捍卫老师“存在唯一、不动”。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核心思想：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endParaRPr lang="en-US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endParaRPr lang="en-US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历史影响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：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98690" y="5035550"/>
            <a:ext cx="396113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四大经典悖论：阿喀琉斯追龟；飞矢不动；二分法悖论；运动场悖论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否定“多”的论证原文逻辑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98690" y="5720715"/>
            <a:ext cx="396113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l" fontAlgn="auto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开启多元论与原子论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深刻影响后世数学、哲学、物理学对无限、连续、运动的讨论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六、毕达哥拉斯学派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6910" y="710565"/>
            <a:ext cx="10901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核心人物：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毕达哥拉斯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（创始人，无著作传世）、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菲洛劳斯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（首位有著作传世者，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DK44）、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阿尔基塔斯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等。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核心定位：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西方首个数学+哲学+宗教一体化学派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，提出万物皆数，开启形而上学本体论与灵魂轮回说，影响柏拉图、欧几里得等。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6" name="AutoShape 5"/>
          <p:cNvSpPr/>
          <p:nvPr>
            <p:custDataLst>
              <p:tags r:id="rId2"/>
            </p:custDataLst>
          </p:nvPr>
        </p:nvSpPr>
        <p:spPr>
          <a:xfrm>
            <a:off x="270510" y="1853565"/>
            <a:ext cx="5730875" cy="2493645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453380" y="1426845"/>
            <a:ext cx="153098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主要思想（四大核心）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9570" y="1930400"/>
            <a:ext cx="563181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1. 数本原说：万物皆数（本体论革命）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本原定义：数是万物的本原（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arche）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数的生成（一元→多元），1（点）→2（线）→3（面）→4（体）→水火土气→万物；1是“一”，2是“不定的二”（质料） 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数的属性对应事物：- 1=理性/灵魂；2=女性/意见；3=男性/和谐；4=正义；5=婚姻；10=完满（神圣十数）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哲学突破：首次区分感性现象与抽象本质，认为数（思想对象）比感官事物更实在，开启西方理性本体论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5" name="AutoShape 5"/>
          <p:cNvSpPr/>
          <p:nvPr>
            <p:custDataLst>
              <p:tags r:id="rId3"/>
            </p:custDataLst>
          </p:nvPr>
        </p:nvSpPr>
        <p:spPr>
          <a:xfrm>
            <a:off x="6242050" y="1854200"/>
            <a:ext cx="5730875" cy="2493645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341110" y="1931035"/>
            <a:ext cx="563181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2. 和谐宇宙论：秩序=数的比例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和谐（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Harmonia）：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对立统一、比例秩序，宇宙是数的和谐整体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音乐和谐：发现音程与弦长的整数比（八度1:2、五度2:3、四度3:4）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天球音乐：天体按数学比例运行，产生人耳不可闻的宇宙和谐之音，宇宙是有生命的数的系统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对立表（十对）：有限/无限、奇/偶、一/多、静/动、直/曲、善/恶等，和谐统合对立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8" name="AutoShape 5"/>
          <p:cNvSpPr/>
          <p:nvPr>
            <p:custDataLst>
              <p:tags r:id="rId4"/>
            </p:custDataLst>
          </p:nvPr>
        </p:nvSpPr>
        <p:spPr>
          <a:xfrm>
            <a:off x="270510" y="4489450"/>
            <a:ext cx="5730875" cy="205359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69570" y="4566285"/>
            <a:ext cx="56318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3.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灵魂学说：不朽、轮回、净化（宗教核心）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灵魂本质：灵魂不朽，是以太碎片（热+冷）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轮回转世：灵魂死后循环往复；一切生物灵魂同源、皆为同类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净化（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Katharsis）：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数学/音乐研究，理性沉思数的和谐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戒律生活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伦理意义：众生平等、禁止杀生，奠定西方素食伦理基础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0" name="AutoShape 5"/>
          <p:cNvSpPr/>
          <p:nvPr>
            <p:custDataLst>
              <p:tags r:id="rId5"/>
            </p:custDataLst>
          </p:nvPr>
        </p:nvSpPr>
        <p:spPr>
          <a:xfrm>
            <a:off x="6242050" y="4489450"/>
            <a:ext cx="5730875" cy="205359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9050" cap="flat" cmpd="sng">
            <a:solidFill>
              <a:srgbClr val="0054A7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341110" y="4566285"/>
            <a:ext cx="5631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4. 学派生活：宗教共同体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秘密社团：克罗顿城邦的毕达哥拉斯同盟，财产共有、男女平等、严格戒律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marL="171450" lvl="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n"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学术分化：后分信条派（宗教神秘）与数理学派（数学科学），延续800年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七、阿那克萨戈拉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4474210" y="800735"/>
            <a:ext cx="6985000" cy="441452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15"/>
          <p:cNvSpPr/>
          <p:nvPr/>
        </p:nvSpPr>
        <p:spPr>
          <a:xfrm>
            <a:off x="4664710" y="992505"/>
            <a:ext cx="6604000" cy="11537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本原：种子（同类部分/同质体）</a:t>
            </a:r>
            <a:endParaRPr lang="zh-CN" altLang="en-US" sz="1200" b="1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1. 反对米利都单一元素本原、反对赫拉克利特火本原、反对恩培多克勒四元素简单组合。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2. 认为本原不是一种，而是无限多微小的“种子”：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骨头的种子、肉的种子、血的种子、金的种子、土的种子……万物各有自己的微小种子。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3. 世界初始是所有种子完全混合，混沌一团，无分别、无性状。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6910" y="3839845"/>
            <a:ext cx="36068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阿那克萨戈拉（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Anaxagoras，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约前500—前428）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生于伊奥尼亚克拉佐美奈，长期旅居雅典，是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把哲学带入雅典的第一人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前苏格拉底多元论代表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，苏格拉底的思想前辈。著作《论自然》存少量残篇（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DK 59）。</a:t>
            </a:r>
            <a:endParaRPr lang="en-US" altLang="zh-CN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0735"/>
            <a:ext cx="2973705" cy="3039110"/>
          </a:xfrm>
          <a:prstGeom prst="rect">
            <a:avLst/>
          </a:prstGeom>
          <a:ln w="19050">
            <a:solidFill>
              <a:srgbClr val="0054A7"/>
            </a:solidFill>
          </a:ln>
        </p:spPr>
      </p:pic>
      <p:sp>
        <p:nvSpPr>
          <p:cNvPr id="44" name="AutoShape 15"/>
          <p:cNvSpPr/>
          <p:nvPr/>
        </p:nvSpPr>
        <p:spPr>
          <a:xfrm>
            <a:off x="4664710" y="2323148"/>
            <a:ext cx="6604000" cy="6921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核心命题：万物包含一切</a:t>
            </a:r>
            <a:endParaRPr lang="zh-CN" altLang="en-US" sz="1200" b="1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- 任何一个事物里，都含有所有事物的种子；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- 一物之所以是此物，只因该类种子在其中占优势。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5" name="AutoShape 15"/>
          <p:cNvSpPr/>
          <p:nvPr/>
        </p:nvSpPr>
        <p:spPr>
          <a:xfrm>
            <a:off x="4664710" y="3192463"/>
            <a:ext cx="6604000" cy="1846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运动与秩序的终极动因：努斯（</a:t>
            </a:r>
            <a:r>
              <a:rPr lang="en-US" altLang="zh-CN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Nous，</a:t>
            </a: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心灵/理智）</a:t>
            </a:r>
            <a:endParaRPr lang="zh-CN" altLang="en-US" sz="1200" b="1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1. 种子本身只有混杂、没有自发运动能力，不能自己分离、排列、形成宇宙秩序。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2. 努斯属性：- 纯粹、不混杂，独立于万物之外；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- 无限、永恒、有理智；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- 支配、安排、推动宇宙旋转运动。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3. 宇宙生成过程：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indent="0" algn="l" fontAlgn="auto">
              <a:lnSpc>
                <a:spcPct val="125000"/>
              </a:lnSpc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努斯发动原初漩涡运动 → 混沌种子旋转分离 → 轻重、冷热、干湿分出 → 形成天地、日月、星辰、万物。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58190" y="5415915"/>
            <a:ext cx="10701020" cy="1197610"/>
            <a:chOff x="1164" y="8812"/>
            <a:chExt cx="16852" cy="1886"/>
          </a:xfrm>
        </p:grpSpPr>
        <p:sp>
          <p:nvSpPr>
            <p:cNvPr id="46" name="AutoShape 13"/>
            <p:cNvSpPr/>
            <p:nvPr/>
          </p:nvSpPr>
          <p:spPr>
            <a:xfrm>
              <a:off x="1164" y="8812"/>
              <a:ext cx="16853" cy="18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>
              <a:solidFill>
                <a:srgbClr val="0054A7">
                  <a:alpha val="30000"/>
                </a:srgbClr>
              </a:solidFill>
              <a:prstDash val="dash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605" y="8913"/>
              <a:ext cx="10592" cy="161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l" fontAlgn="auto">
                <a:lnSpc>
                  <a:spcPct val="125000"/>
                </a:lnSpc>
                <a:buClrTx/>
                <a:buSzTx/>
                <a:buFontTx/>
                <a:defRPr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思想定位与历史意义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lvl="0" indent="-171450" algn="l" fontAlgn="auto">
                <a:lnSpc>
                  <a:spcPct val="125000"/>
                </a:lnSpc>
                <a:buClrTx/>
                <a:buSzTx/>
                <a:buFont typeface="Wingdings" panose="05000000000000000000" charset="0"/>
                <a:buChar char="u"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从单一本原→多元种子本原，完善前苏格拉底自然哲学本原论。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lvl="0" indent="-171450" algn="l" fontAlgn="auto">
                <a:lnSpc>
                  <a:spcPct val="125000"/>
                </a:lnSpc>
                <a:buClrTx/>
                <a:buSzTx/>
                <a:buFont typeface="Wingdings" panose="05000000000000000000" charset="0"/>
                <a:buChar char="u"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首次提出精神性本原（努斯） 作为物质世界的运动与秩序根源，区分物质与精神两大原则。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lvl="0" indent="-171450" algn="l" fontAlgn="auto">
                <a:lnSpc>
                  <a:spcPct val="125000"/>
                </a:lnSpc>
                <a:buClrTx/>
                <a:buSzTx/>
                <a:buFont typeface="Wingdings" panose="05000000000000000000" charset="0"/>
                <a:buChar char="u"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把哲学从伊奥尼亚带入雅典，为雅典哲学繁荣、苏格拉底转向人事哲学铺垫思想基础。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lvl="0" indent="-171450" algn="l" fontAlgn="auto">
                <a:lnSpc>
                  <a:spcPct val="125000"/>
                </a:lnSpc>
                <a:buClrTx/>
                <a:buSzTx/>
                <a:buFont typeface="Wingdings" panose="05000000000000000000" charset="0"/>
                <a:buChar char="u"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影响后来原子论：从“微小种子”过渡到原子的微观本原思路。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七、恩培多克勒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2775" y="3553460"/>
            <a:ext cx="37687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恩培多克勒（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Empedocles，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约前492—前432）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西西里阿克拉伽斯（今阿格里真托）人，前苏格拉底多元论代表，著作《论自然》《净化篇》存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DK31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残篇约150条，核心是四根说+爱争动力+灵魂轮回，调和巴门尼德“存在不变”与现象“流变”。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58190" y="5213985"/>
            <a:ext cx="10701655" cy="1198245"/>
            <a:chOff x="1164" y="8812"/>
            <a:chExt cx="16853" cy="1887"/>
          </a:xfrm>
        </p:grpSpPr>
        <p:sp>
          <p:nvSpPr>
            <p:cNvPr id="46" name="AutoShape 13"/>
            <p:cNvSpPr/>
            <p:nvPr/>
          </p:nvSpPr>
          <p:spPr>
            <a:xfrm>
              <a:off x="1164" y="8812"/>
              <a:ext cx="16853" cy="18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>
              <a:solidFill>
                <a:srgbClr val="0054A7">
                  <a:alpha val="30000"/>
                </a:srgbClr>
              </a:solidFill>
              <a:prstDash val="dash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457" y="8913"/>
              <a:ext cx="16075" cy="161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noAutofit/>
            </a:bodyPr>
            <a:lstStyle/>
            <a:p>
              <a:pPr lvl="0" algn="l" fontAlgn="auto">
                <a:lnSpc>
                  <a:spcPct val="125000"/>
                </a:lnSpc>
                <a:buClrTx/>
                <a:buSzTx/>
                <a:buFontTx/>
                <a:defRPr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历史影响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lvl="0" indent="-171450" algn="l" fontAlgn="auto">
                <a:lnSpc>
                  <a:spcPct val="125000"/>
                </a:lnSpc>
                <a:buClrTx/>
                <a:buSzTx/>
                <a:buFont typeface="Wingdings" panose="05000000000000000000" charset="0"/>
                <a:buChar char="u"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哲学：调和巴门尼德不变论与赫拉克利特流变论，奠定多元论传统；“四根说”成为西方主流元素论，影响柏拉图、亚里士多德，沿用至中世纪。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lvl="0" indent="-171450" algn="l" fontAlgn="auto">
                <a:lnSpc>
                  <a:spcPct val="125000"/>
                </a:lnSpc>
                <a:buClrTx/>
                <a:buSzTx/>
                <a:buFont typeface="Wingdings" panose="05000000000000000000" charset="0"/>
                <a:buChar char="u"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科学：开创粒子混合说，启发原子论（留基伯、德谟克利特）；生物学解释生物演化（肢体组合）；医学影响体液说（希波克拉底）。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marL="171450" lvl="0" indent="-171450" algn="l" fontAlgn="auto">
                <a:lnSpc>
                  <a:spcPct val="125000"/>
                </a:lnSpc>
                <a:buClrTx/>
                <a:buSzTx/>
                <a:buFont typeface="Wingdings" panose="05000000000000000000" charset="0"/>
                <a:buChar char="u"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宗教伦理：灵魂轮回、素食戒杀影响俄耳甫斯教、柏拉图灵魂论，为西方生命伦理重要源头。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4" name="AutoShape 6"/>
          <p:cNvSpPr/>
          <p:nvPr>
            <p:custDataLst>
              <p:tags r:id="rId2"/>
            </p:custDataLst>
          </p:nvPr>
        </p:nvSpPr>
        <p:spPr>
          <a:xfrm>
            <a:off x="4445000" y="1085215"/>
            <a:ext cx="3429000" cy="174625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7"/>
          <p:cNvSpPr/>
          <p:nvPr>
            <p:custDataLst>
              <p:tags r:id="rId3"/>
            </p:custDataLst>
          </p:nvPr>
        </p:nvSpPr>
        <p:spPr>
          <a:xfrm>
            <a:off x="4514215" y="1212215"/>
            <a:ext cx="3290570" cy="1384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01.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四根说：永恒不变的多元本原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反对一元论（米利都、赫拉克利特），也反对巴门尼德绝对一元不动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提出火、气、水、土四种“根”（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rhizomata）</a:t>
            </a:r>
            <a:endParaRPr lang="en-US" altLang="zh-CN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万物生灭是四根的混合与分离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2" name="AutoShape 8"/>
          <p:cNvSpPr/>
          <p:nvPr>
            <p:custDataLst>
              <p:tags r:id="rId4"/>
            </p:custDataLst>
          </p:nvPr>
        </p:nvSpPr>
        <p:spPr>
          <a:xfrm>
            <a:off x="8128000" y="1085215"/>
            <a:ext cx="3302000" cy="174688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9"/>
          <p:cNvSpPr/>
          <p:nvPr>
            <p:custDataLst>
              <p:tags r:id="rId5"/>
            </p:custDataLst>
          </p:nvPr>
        </p:nvSpPr>
        <p:spPr>
          <a:xfrm>
            <a:off x="8223250" y="1211898"/>
            <a:ext cx="3118485" cy="1384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02. </a:t>
            </a:r>
            <a:r>
              <a:rPr lang="zh-CN" alt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爱与争：宇宙运动的双重动力</a:t>
            </a:r>
            <a:endParaRPr lang="zh-CN" altLang="en-US" sz="1200" b="1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四根自身无运动能力，需两种对立的神性力量推动：爱（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Philotes）</a:t>
            </a: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和争（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Neikos）</a:t>
            </a:r>
            <a:endParaRPr lang="en-US" altLang="zh-CN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p"/>
              <a:defRPr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宇宙在两种神性力量推动下循环周期（永恒轮回）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5" name="AutoShape 10"/>
          <p:cNvSpPr/>
          <p:nvPr>
            <p:custDataLst>
              <p:tags r:id="rId6"/>
            </p:custDataLst>
          </p:nvPr>
        </p:nvSpPr>
        <p:spPr>
          <a:xfrm>
            <a:off x="4446270" y="3020695"/>
            <a:ext cx="3429000" cy="186436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12"/>
          <p:cNvSpPr/>
          <p:nvPr>
            <p:custDataLst>
              <p:tags r:id="rId7"/>
            </p:custDataLst>
          </p:nvPr>
        </p:nvSpPr>
        <p:spPr>
          <a:xfrm>
            <a:off x="8131175" y="3021330"/>
            <a:ext cx="3302000" cy="186436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>
            <p:custDataLst>
              <p:tags r:id="rId8"/>
            </p:custDataLst>
          </p:nvPr>
        </p:nvSpPr>
        <p:spPr>
          <a:xfrm>
            <a:off x="4570095" y="2925445"/>
            <a:ext cx="3302000" cy="1960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03.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灵魂学说：轮回不朽与净化伦理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主张灵魂不朽、轮回转世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净化（</a:t>
            </a:r>
            <a:r>
              <a:rPr lang="en-US" altLang="zh-CN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Katharsis）</a:t>
            </a:r>
            <a:endParaRPr lang="en-US" altLang="zh-CN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通过虔诚、净化仪式，研究自然与哲学，回归理性，摆脱肉体束缚，使灵魂重返神界，脱离轮回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38" name="AutoShape 7"/>
          <p:cNvSpPr/>
          <p:nvPr>
            <p:custDataLst>
              <p:tags r:id="rId9"/>
            </p:custDataLst>
          </p:nvPr>
        </p:nvSpPr>
        <p:spPr>
          <a:xfrm>
            <a:off x="8314055" y="2994660"/>
            <a:ext cx="3145790" cy="14408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25000"/>
              </a:lnSpc>
              <a:defRPr/>
            </a:pPr>
            <a:r>
              <a:rPr lang="en-US" sz="1200" b="1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04. 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认识论：同类相知与流射说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同类相知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流射说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  <a:p>
            <a:pPr marL="171450" indent="-171450" algn="l" fontAlgn="auto">
              <a:lnSpc>
                <a:spcPct val="125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2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首次系统解释感知机制</a:t>
            </a:r>
            <a:endParaRPr lang="zh-CN" altLang="en-US" sz="12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65" y="1085215"/>
            <a:ext cx="3441700" cy="2414270"/>
          </a:xfrm>
          <a:prstGeom prst="rect">
            <a:avLst/>
          </a:prstGeom>
          <a:ln w="19050">
            <a:solidFill>
              <a:srgbClr val="0054A7"/>
            </a:solidFill>
          </a:ln>
        </p:spPr>
      </p:pic>
    </p:spTree>
    <p:custDataLst>
      <p:tags r:id="rId1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八、古希腊原子论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6910" y="710565"/>
            <a:ext cx="10901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原子论由留基伯（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Leucippus，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约前500—前440） 创立，德谟克利特（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Democritus，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约前460—前370） 系统完善。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910" y="1043305"/>
            <a:ext cx="108096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核心是原子与虚空，用机械唯物论解释宇宙，是前苏格拉底自然哲学的顶峰 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74" name="圆角矩形 73"/>
          <p:cNvSpPr/>
          <p:nvPr>
            <p:custDataLst>
              <p:tags r:id="rId2"/>
            </p:custDataLst>
          </p:nvPr>
        </p:nvSpPr>
        <p:spPr>
          <a:xfrm>
            <a:off x="4552315" y="2205355"/>
            <a:ext cx="2945130" cy="386080"/>
          </a:xfrm>
          <a:prstGeom prst="roundRect">
            <a:avLst>
              <a:gd name="adj" fmla="val 50000"/>
            </a:avLst>
          </a:prstGeom>
          <a:solidFill>
            <a:srgbClr val="0054A7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本原：原子（存在）+虚空（非存在）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AutoShape 5"/>
          <p:cNvSpPr/>
          <p:nvPr/>
        </p:nvSpPr>
        <p:spPr>
          <a:xfrm>
            <a:off x="5330825" y="1630680"/>
            <a:ext cx="153098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主要思想（五大核心）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3"/>
            </p:custDataLst>
          </p:nvPr>
        </p:nvSpPr>
        <p:spPr>
          <a:xfrm>
            <a:off x="4552315" y="2726055"/>
            <a:ext cx="2945130" cy="386080"/>
          </a:xfrm>
          <a:prstGeom prst="roundRect">
            <a:avLst>
              <a:gd name="adj" fmla="val 50000"/>
            </a:avLst>
          </a:prstGeom>
          <a:solidFill>
            <a:srgbClr val="0054A7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运动与生成：机械必然、原子聚散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4558665" y="3246755"/>
            <a:ext cx="2945130" cy="386080"/>
          </a:xfrm>
          <a:prstGeom prst="roundRect">
            <a:avLst>
              <a:gd name="adj" fmla="val 50000"/>
            </a:avLst>
          </a:prstGeom>
          <a:solidFill>
            <a:srgbClr val="0054A7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认识论：影像说+约定论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5"/>
            </p:custDataLst>
          </p:nvPr>
        </p:nvSpPr>
        <p:spPr>
          <a:xfrm>
            <a:off x="4558665" y="4288155"/>
            <a:ext cx="2945130" cy="386080"/>
          </a:xfrm>
          <a:prstGeom prst="roundRect">
            <a:avLst>
              <a:gd name="adj" fmla="val 50000"/>
            </a:avLst>
          </a:prstGeom>
          <a:solidFill>
            <a:srgbClr val="0054A7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灵魂学说：精细原子、肉体附属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6"/>
            </p:custDataLst>
          </p:nvPr>
        </p:nvSpPr>
        <p:spPr>
          <a:xfrm>
            <a:off x="4552315" y="3767455"/>
            <a:ext cx="2945130" cy="386080"/>
          </a:xfrm>
          <a:prstGeom prst="roundRect">
            <a:avLst>
              <a:gd name="adj" fmla="val 50000"/>
            </a:avLst>
          </a:prstGeom>
          <a:solidFill>
            <a:srgbClr val="0054A7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2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  <a:sym typeface="+mn-ea"/>
              </a:rPr>
              <a:t>伦理思想：节制宁静、理性幸福</a:t>
            </a:r>
            <a:endParaRPr lang="zh-CN" altLang="en-US" sz="12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63245" y="4972685"/>
            <a:ext cx="10923270" cy="1641475"/>
          </a:xfrm>
          <a:prstGeom prst="roundRect">
            <a:avLst/>
          </a:prstGeom>
          <a:noFill/>
          <a:ln w="19050">
            <a:solidFill>
              <a:srgbClr val="0054A7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944245" y="5125085"/>
            <a:ext cx="10207625" cy="13360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lvl="0" algn="l" fontAlgn="auto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历史影响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哲学：终结前苏格拉底本原之争，奠定机械唯物论传统；突破巴门尼德“存在不变”，用多元+运动解释现象，为原子论→近代科学奠基 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科学：开创粒子物理思路，启发道尔顿近代原子论；影像说影响光学与感知心理学；机械因果成为近代科学核心方法论 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对比：- 恩培多克勒：四根+爱争（动力二元）；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阿那克萨戈拉：种子+努斯（精神动力）；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原子论：原子+虚空（彻底机械唯物）。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九、古希腊智者派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6910" y="710565"/>
            <a:ext cx="10901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智者派是公元前5世纪希腊的职业教师群体，游走各城邦，教授修辞、辩论、政治、伦理，收费授徒。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核心转向人本主义、相对主义、怀疑主义。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代表人物：普罗泰戈拉、高尔吉亚、希庇亚、普罗狄科、色拉叙马霍斯 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45160" y="1710055"/>
            <a:ext cx="4948555" cy="1232535"/>
            <a:chOff x="1186" y="2680"/>
            <a:chExt cx="7793" cy="1941"/>
          </a:xfrm>
        </p:grpSpPr>
        <p:sp>
          <p:nvSpPr>
            <p:cNvPr id="5" name="文本框 4"/>
            <p:cNvSpPr txBox="1"/>
            <p:nvPr/>
          </p:nvSpPr>
          <p:spPr>
            <a:xfrm>
              <a:off x="1747" y="2680"/>
              <a:ext cx="72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普罗泰戈拉（</a:t>
              </a:r>
              <a:r>
                <a:rPr lang="en-US" altLang="zh-CN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Protagoras，</a:t>
              </a: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约前490—前420，“智者之首”）</a:t>
              </a:r>
              <a:endPara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  <p:pic>
          <p:nvPicPr>
            <p:cNvPr id="8" name="Pictur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86" y="2799"/>
              <a:ext cx="480" cy="48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747" y="3169"/>
              <a:ext cx="7233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（1）人是万物的尺度（</a:t>
              </a: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DK80B1，</a:t>
              </a: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最核心）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（2）不可知论（</a:t>
              </a: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DK80B4）</a:t>
              </a:r>
              <a:endPara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（3）德性可教（柏拉图《普罗泰戈拉篇》328</a:t>
              </a: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c）</a:t>
              </a:r>
              <a:endPara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014720" y="1710055"/>
            <a:ext cx="6080760" cy="1232535"/>
            <a:chOff x="1186" y="2680"/>
            <a:chExt cx="9576" cy="1941"/>
          </a:xfrm>
        </p:grpSpPr>
        <p:sp>
          <p:nvSpPr>
            <p:cNvPr id="22" name="文本框 21"/>
            <p:cNvSpPr txBox="1"/>
            <p:nvPr/>
          </p:nvSpPr>
          <p:spPr>
            <a:xfrm>
              <a:off x="1747" y="2680"/>
              <a:ext cx="72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高尔吉亚（</a:t>
              </a:r>
              <a:r>
                <a:rPr lang="en-US" altLang="zh-CN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Gorgias，</a:t>
              </a: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约前483—前375，“虚无主义之父”）</a:t>
              </a:r>
              <a:endPara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  <p:pic>
          <p:nvPicPr>
            <p:cNvPr id="23" name="Picture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86" y="2799"/>
              <a:ext cx="480" cy="480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1747" y="3169"/>
              <a:ext cx="9015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（1）三大否定命题（《论非存在或论自然》，</a:t>
              </a: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DK82B3）</a:t>
              </a:r>
              <a:endPara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        </a:t>
              </a: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无物存在；即使有物存在，也不可认识；即使可以认识，也无法传达给他人。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（2）修辞即力量（《海伦颂》）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45160" y="3034030"/>
            <a:ext cx="4949190" cy="678815"/>
            <a:chOff x="1186" y="2680"/>
            <a:chExt cx="7794" cy="1069"/>
          </a:xfrm>
        </p:grpSpPr>
        <p:sp>
          <p:nvSpPr>
            <p:cNvPr id="26" name="文本框 25"/>
            <p:cNvSpPr txBox="1"/>
            <p:nvPr/>
          </p:nvSpPr>
          <p:spPr>
            <a:xfrm>
              <a:off x="1747" y="2680"/>
              <a:ext cx="72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色拉叙马霍斯（</a:t>
              </a:r>
              <a:r>
                <a:rPr lang="en-US" altLang="zh-CN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Thrasymachus，</a:t>
              </a: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约前459—前400）</a:t>
              </a:r>
              <a:endPara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  <p:pic>
          <p:nvPicPr>
            <p:cNvPr id="28" name="Picture 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86" y="2799"/>
              <a:ext cx="480" cy="480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747" y="3169"/>
              <a:ext cx="72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正义即强者利益（柏拉图《理想国》338</a:t>
              </a: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c）</a:t>
              </a:r>
              <a:endPara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014720" y="3034030"/>
            <a:ext cx="4949190" cy="678815"/>
            <a:chOff x="1186" y="2680"/>
            <a:chExt cx="7794" cy="1069"/>
          </a:xfrm>
        </p:grpSpPr>
        <p:sp>
          <p:nvSpPr>
            <p:cNvPr id="31" name="文本框 30"/>
            <p:cNvSpPr txBox="1"/>
            <p:nvPr/>
          </p:nvSpPr>
          <p:spPr>
            <a:xfrm>
              <a:off x="1747" y="2680"/>
              <a:ext cx="723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普罗狄科（</a:t>
              </a:r>
              <a:r>
                <a:rPr lang="en-US" altLang="zh-CN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Prodicus，</a:t>
              </a: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约前465—前395）</a:t>
              </a:r>
              <a:endPara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  <p:pic>
          <p:nvPicPr>
            <p:cNvPr id="32" name="Picture 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86" y="2799"/>
              <a:ext cx="480" cy="480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1747" y="3169"/>
              <a:ext cx="72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神源于实用（</a:t>
              </a:r>
              <a:r>
                <a:rPr lang="en-US" altLang="zh-CN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DK84B5）</a:t>
              </a:r>
              <a:endPara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</p:grpSp>
      <p:cxnSp>
        <p:nvCxnSpPr>
          <p:cNvPr id="35" name="直接连接符 34"/>
          <p:cNvCxnSpPr/>
          <p:nvPr/>
        </p:nvCxnSpPr>
        <p:spPr>
          <a:xfrm flipV="1">
            <a:off x="224155" y="3882390"/>
            <a:ext cx="11659235" cy="50165"/>
          </a:xfrm>
          <a:prstGeom prst="line">
            <a:avLst/>
          </a:prstGeom>
          <a:ln w="28575" cap="flat" cmpd="sng" algn="ctr">
            <a:solidFill>
              <a:srgbClr val="0054A7"/>
            </a:solidFill>
            <a:prstDash val="lg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AutoShape 5"/>
          <p:cNvSpPr/>
          <p:nvPr/>
        </p:nvSpPr>
        <p:spPr>
          <a:xfrm>
            <a:off x="5064760" y="4002405"/>
            <a:ext cx="153098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主要思想（四大核心）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40330" y="4400550"/>
            <a:ext cx="2953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1. 人本主义转向：从“自然”到“人”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370955" y="4358005"/>
            <a:ext cx="2953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2. 相对主义与怀疑主义：拒斥绝对真理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640965" y="4726305"/>
            <a:ext cx="3227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3. 自然（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Physis）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与约定（</a:t>
            </a: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Nomos）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之争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370955" y="4726305"/>
            <a:ext cx="3227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4. 修辞学与语言哲学：语言即权力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1" name="AutoShape 5"/>
          <p:cNvSpPr/>
          <p:nvPr/>
        </p:nvSpPr>
        <p:spPr>
          <a:xfrm>
            <a:off x="5064760" y="5062220"/>
            <a:ext cx="1530985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历史影响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255395" y="5417503"/>
            <a:ext cx="10207625" cy="1384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哲学：开创西方人本主义、相对主义、怀疑主义传统，影响苏格拉底、柏拉图、亚里士多德（批判中吸收） 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打破传统权威（神、自然、习俗），推动理性独立思考，为启蒙运动奠基。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政治伦理：民主思想源头：普罗泰戈拉“德性可教、人人有德性”，支持直接民主、公民平等 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契约论萌芽：法律与正义是人为约定，非神授或自然，影响霍布斯、洛克、卢梭。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lvl="0" indent="-17145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教育文化：创立西方高等教育范式：修辞、辩论、文法、政治、伦理，影响希腊化教育、罗马教育、中世纪七艺。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indent="0" algn="l" fontAlgn="auto">
              <a:lnSpc>
                <a:spcPct val="125000"/>
              </a:lnSpc>
              <a:buClrTx/>
              <a:buSzTx/>
              <a:buFont typeface="Wingdings" panose="05000000000000000000" charset="0"/>
              <a:buNone/>
              <a:defRPr/>
            </a:pPr>
            <a:r>
              <a:rPr lang="en-US" altLang="zh-CN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推动希腊语言规范化、散文文体成熟，高尔吉亚被称为“修辞学之父”。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十、苏格拉底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rcRect t="6584" b="6584"/>
          <a:stretch>
            <a:fillRect/>
          </a:stretch>
        </p:blipFill>
        <p:spPr>
          <a:xfrm>
            <a:off x="994410" y="1523365"/>
            <a:ext cx="2914015" cy="3811270"/>
          </a:xfrm>
          <a:prstGeom prst="rect">
            <a:avLst/>
          </a:prstGeom>
          <a:noFill/>
          <a:ln w="1905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1" name="AutoShape 5"/>
          <p:cNvSpPr/>
          <p:nvPr/>
        </p:nvSpPr>
        <p:spPr>
          <a:xfrm>
            <a:off x="4572000" y="1340485"/>
            <a:ext cx="697547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“苏格拉底是西方哲学的分水岭，他将哲学的目光从</a:t>
            </a:r>
            <a:r>
              <a:rPr lang="zh-CN" alt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自然哲学转向人事哲学，聚焦伦理、德性、自我认识。</a:t>
            </a:r>
            <a:r>
              <a:rPr lang="en-US" sz="1400" b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”</a:t>
            </a:r>
            <a:endParaRPr lang="en-US" sz="1400" b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445000" y="2353310"/>
            <a:ext cx="7294880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苏格拉底（前469—前399）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雅典古典哲学开创者，西方哲学分水岭；无著作，思想主要留存于柏拉图对话、色诺芬《回忆苏格拉底》、阿里斯托芬喜剧。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5" name="AutoShape 8"/>
          <p:cNvSpPr/>
          <p:nvPr/>
        </p:nvSpPr>
        <p:spPr>
          <a:xfrm>
            <a:off x="4689475" y="3598545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9"/>
          <p:cNvSpPr/>
          <p:nvPr/>
        </p:nvSpPr>
        <p:spPr>
          <a:xfrm>
            <a:off x="4816475" y="3725545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🎯 自知无知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“我自知我一无所知。”承认自己的无知，正是获得真正智慧的开端。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0" name="AutoShape 10"/>
          <p:cNvSpPr/>
          <p:nvPr/>
        </p:nvSpPr>
        <p:spPr>
          <a:xfrm>
            <a:off x="8245475" y="3598545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11"/>
          <p:cNvSpPr/>
          <p:nvPr/>
        </p:nvSpPr>
        <p:spPr>
          <a:xfrm>
            <a:off x="8372475" y="3725545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🗣️ 精神助产术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通过“诘问”与“反讽”的对话技巧，像助产士一样，引导人们发现内心中早已存在的真理。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2" name="AutoShape 12"/>
          <p:cNvSpPr/>
          <p:nvPr/>
        </p:nvSpPr>
        <p:spPr>
          <a:xfrm>
            <a:off x="4689475" y="4995545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13"/>
          <p:cNvSpPr/>
          <p:nvPr/>
        </p:nvSpPr>
        <p:spPr>
          <a:xfrm>
            <a:off x="4816475" y="5122545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📜 德性即知识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一切德性皆源于知识。无人会自愿作恶，所有恶行都源于对“善”的无知。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54" name="AutoShape 14"/>
          <p:cNvSpPr/>
          <p:nvPr/>
        </p:nvSpPr>
        <p:spPr>
          <a:xfrm>
            <a:off x="8245475" y="4995545"/>
            <a:ext cx="330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15"/>
          <p:cNvSpPr/>
          <p:nvPr/>
        </p:nvSpPr>
        <p:spPr>
          <a:xfrm>
            <a:off x="8372475" y="5122545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⚖️ 未经省察的人生不值得过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理性的反思与自我审视是人生的最高价值。这不仅是他的人生信条，更是他为哲学殉道的精神宣言。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十一、柏拉图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303395" y="1083310"/>
            <a:ext cx="729488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柏拉图（前427—前347）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苏格拉底弟子，西方形而上学、政治哲学、美学奠基人，创立学园（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Arcadia），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著作皆以对话体传世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核心理论：理念论、回忆说、灵魂三分、理想国、哲学王。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6022" r="26022"/>
          <a:stretch>
            <a:fillRect/>
          </a:stretch>
        </p:blipFill>
        <p:spPr>
          <a:xfrm>
            <a:off x="704215" y="1358265"/>
            <a:ext cx="2879090" cy="3987165"/>
          </a:xfrm>
          <a:prstGeom prst="rect">
            <a:avLst/>
          </a:prstGeom>
          <a:noFill/>
          <a:ln w="1905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445000" y="2588260"/>
            <a:ext cx="3429000" cy="1841500"/>
          </a:xfrm>
          <a:prstGeom prst="roundRect">
            <a:avLst>
              <a:gd name="adj" fmla="val 413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778760"/>
            <a:ext cx="304800" cy="304800"/>
          </a:xfrm>
          <a:prstGeom prst="rect">
            <a:avLst/>
          </a:prstGeom>
        </p:spPr>
      </p:pic>
      <p:sp>
        <p:nvSpPr>
          <p:cNvPr id="3" name="AutoShape 8"/>
          <p:cNvSpPr/>
          <p:nvPr/>
        </p:nvSpPr>
        <p:spPr>
          <a:xfrm>
            <a:off x="5080000" y="274066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理念论 (Theory of Forms)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635500" y="324866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提出“理念世界”与“感性世界”的二重划分。认为理念世界是真实、永恒、完美的本质原型；而我们身处的感性世界，只是对理念的不完善、暂时的摹本。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2588260"/>
            <a:ext cx="3429000" cy="1841500"/>
          </a:xfrm>
          <a:prstGeom prst="roundRect">
            <a:avLst>
              <a:gd name="adj" fmla="val 413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4429" r="4429"/>
          <a:stretch>
            <a:fillRect/>
          </a:stretch>
        </p:blipFill>
        <p:spPr>
          <a:xfrm>
            <a:off x="8255000" y="2778760"/>
            <a:ext cx="1016000" cy="146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2"/>
          <p:cNvSpPr/>
          <p:nvPr/>
        </p:nvSpPr>
        <p:spPr>
          <a:xfrm>
            <a:off x="9398000" y="274066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洞穴喻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生动比喻了人类认知的局限：常人误把墙上的影子当作真实，只有经过艰苦哲学训练的人，才能走出洞穴，直视“理念”的真理之光。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5" name="AutoShape 13"/>
          <p:cNvSpPr/>
          <p:nvPr/>
        </p:nvSpPr>
        <p:spPr>
          <a:xfrm>
            <a:off x="4445000" y="4620260"/>
            <a:ext cx="3429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4810760"/>
            <a:ext cx="304800" cy="304800"/>
          </a:xfrm>
          <a:prstGeom prst="rect">
            <a:avLst/>
          </a:prstGeom>
        </p:spPr>
      </p:pic>
      <p:sp>
        <p:nvSpPr>
          <p:cNvPr id="17" name="AutoShape 15"/>
          <p:cNvSpPr/>
          <p:nvPr/>
        </p:nvSpPr>
        <p:spPr>
          <a:xfrm>
            <a:off x="5080000" y="477266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回忆说 (Anamnesis)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8" name="AutoShape 16"/>
          <p:cNvSpPr/>
          <p:nvPr/>
        </p:nvSpPr>
        <p:spPr>
          <a:xfrm>
            <a:off x="4635500" y="5249545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认为灵魂不朽，在进入肉体前已认识理念。所以，后天的学习过程，本质上就是在理性的引导下，“回忆”起灵魂先天就拥有的知识。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9" name="AutoShape 17"/>
          <p:cNvSpPr/>
          <p:nvPr/>
        </p:nvSpPr>
        <p:spPr>
          <a:xfrm>
            <a:off x="8128000" y="4620260"/>
            <a:ext cx="3429000" cy="1651000"/>
          </a:xfrm>
          <a:prstGeom prst="roundRect">
            <a:avLst>
              <a:gd name="adj" fmla="val 461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4810760"/>
            <a:ext cx="304800" cy="304800"/>
          </a:xfrm>
          <a:prstGeom prst="rect">
            <a:avLst/>
          </a:prstGeom>
        </p:spPr>
      </p:pic>
      <p:sp>
        <p:nvSpPr>
          <p:cNvPr id="21" name="AutoShape 19"/>
          <p:cNvSpPr/>
          <p:nvPr/>
        </p:nvSpPr>
        <p:spPr>
          <a:xfrm>
            <a:off x="8826500" y="477266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理想国 (The Republic)</a:t>
            </a:r>
            <a:endParaRPr 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22" name="AutoShape 20"/>
          <p:cNvSpPr/>
          <p:nvPr/>
        </p:nvSpPr>
        <p:spPr>
          <a:xfrm>
            <a:off x="8318500" y="5249545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设计了一个由“哲学王”统治的正义城邦蓝图，将公民分为统治者、护卫者、生产者三个等级，各安其位，各司其职，实现城邦整体的正义与和谐。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十二、亚里士多德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2"/>
          <a:srcRect l="1337" r="1337"/>
          <a:stretch>
            <a:fillRect/>
          </a:stretch>
        </p:blipFill>
        <p:spPr>
          <a:xfrm>
            <a:off x="703580" y="1270000"/>
            <a:ext cx="2794000" cy="4318000"/>
          </a:xfrm>
          <a:prstGeom prst="rect">
            <a:avLst/>
          </a:prstGeom>
          <a:noFill/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7" name="AutoShape 5"/>
          <p:cNvSpPr/>
          <p:nvPr/>
        </p:nvSpPr>
        <p:spPr>
          <a:xfrm>
            <a:off x="3878580" y="1143000"/>
            <a:ext cx="7933690" cy="4959350"/>
          </a:xfrm>
          <a:prstGeom prst="roundRect">
            <a:avLst>
              <a:gd name="adj" fmla="val 631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4A7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6"/>
          <p:cNvSpPr/>
          <p:nvPr/>
        </p:nvSpPr>
        <p:spPr>
          <a:xfrm>
            <a:off x="4132580" y="1333500"/>
            <a:ext cx="698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Noto Serif SC" panose="02020200000000000000" charset="-122"/>
                <a:sym typeface="Noto Serif SC" panose="02020200000000000000" charset="-122"/>
              </a:rPr>
              <a:t>思想总基调：吾爱吾师，吾更爱真理；批判柏拉图理念与感性事物分离，主张现实即实在、经验出发、形式与质料内在统一。 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4132580" y="2159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▍批判柏拉图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反对“理念”与事物分离，主张“形式”内在于具体事物之中，强调从经验出发认识世界。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6545580" y="2159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本体论：第一哲学、实体学说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万物运动是从“潜能”向“现实”转化的过程，解释了自然变化与发展的动力与本质。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4" name="AutoShape 9"/>
          <p:cNvSpPr/>
          <p:nvPr/>
        </p:nvSpPr>
        <p:spPr>
          <a:xfrm>
            <a:off x="4138930" y="3429000"/>
            <a:ext cx="215201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潜能与现实学说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万物运动是从“潜能”向“现实”转化的过程，解释了自然变化与发展的动力与本质。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8" name="AutoShape 12"/>
          <p:cNvSpPr/>
          <p:nvPr/>
        </p:nvSpPr>
        <p:spPr>
          <a:xfrm>
            <a:off x="9017000" y="2092960"/>
            <a:ext cx="262699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▍四因说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提出解释万物生成与变化的四个维度：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质料因</a:t>
            </a: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（构成）、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形式因</a:t>
            </a: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（结构）、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动力因</a:t>
            </a: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（推动）与</a:t>
            </a: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目的因</a:t>
            </a: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（导向）。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19" name="AutoShape 13"/>
          <p:cNvSpPr/>
          <p:nvPr/>
        </p:nvSpPr>
        <p:spPr>
          <a:xfrm>
            <a:off x="6545580" y="3429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▍逻辑学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创立形式逻辑体系，提出著名的“三段论”，为科学研究奠定了严谨的推理与论证基础。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2140" y="5715000"/>
            <a:ext cx="31165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亚里士多德（前384—前322）</a:t>
            </a:r>
            <a:endParaRPr lang="zh-CN" altLang="en-US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柏拉图弟子，古希腊哲学集大成者，百科全书式思想家；创立吕克昂学园、逍遥学派。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0" name="AutoShape 12"/>
          <p:cNvSpPr/>
          <p:nvPr/>
        </p:nvSpPr>
        <p:spPr>
          <a:xfrm>
            <a:off x="9003030" y="3351530"/>
            <a:ext cx="2626995" cy="1070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伦理学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德性是适度，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幸福是最高善，伦理立足人的现实生活。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21" name="AutoShape 9"/>
          <p:cNvSpPr/>
          <p:nvPr/>
        </p:nvSpPr>
        <p:spPr>
          <a:xfrm>
            <a:off x="4132580" y="4699000"/>
            <a:ext cx="215201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政治哲学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提出人是政治的动物，推崇中道政体</a:t>
            </a:r>
            <a:r>
              <a:rPr 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。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  <p:sp>
        <p:nvSpPr>
          <p:cNvPr id="22" name="AutoShape 9"/>
          <p:cNvSpPr/>
          <p:nvPr/>
        </p:nvSpPr>
        <p:spPr>
          <a:xfrm>
            <a:off x="6545580" y="4699000"/>
            <a:ext cx="215201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▍</a:t>
            </a: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灵魂学说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灵魂不是独立不朽的理念式实体，而是肉体的形式与现实，灵魂是分层的。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erif SC" panose="0202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十三、古典三圣之后五大希腊哲学流派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76910" y="710565"/>
            <a:ext cx="109010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苏格拉底（前469–前399）→柏拉图（前427–前347）→亚里士多德（前384–前322），三人合称希腊古典三圣。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三圣之后，希腊城邦文明衰落、马其顿崛起、亚历山大东征、希腊化时代开启，哲学从城邦公共政治思辨转向个人安身立命、心灵安顿，诞生五大主流流派：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犬儒主义、斯多葛主义、伊壁鸠鲁主义、怀疑主义、新柏拉图主义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67840"/>
            <a:ext cx="5207000" cy="2769235"/>
          </a:xfrm>
          <a:prstGeom prst="roundRect">
            <a:avLst>
              <a:gd name="adj" fmla="val 0"/>
            </a:avLst>
          </a:prstGeom>
          <a:solidFill>
            <a:srgbClr val="FAF9F6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16000" y="2021840"/>
            <a:ext cx="4699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犬儒主义 (Cynicism)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诞生时间：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公元前4世纪初，苏格拉底死后不久，与柏拉图学园同期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历史背景：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伯罗奔尼撒战争的失败导致雅典霸权衰落，传统伦理与宗教秩序崩塌；苏格拉底之死促使部分追随者转向反世俗、反礼法，希腊社会从城邦共同体向个体游离、价值崩坏的过渡。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代表人物：</a:t>
            </a: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安提斯泰尼、第欧根尼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核心思想：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摒弃文明习俗、财富、荣誉、家庭、礼法，主张回归自然、极简禁欲、精神自足，以蔑视世俗名利为德性。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223000" y="1767840"/>
            <a:ext cx="5354955" cy="2769235"/>
          </a:xfrm>
          <a:prstGeom prst="roundRect">
            <a:avLst>
              <a:gd name="adj" fmla="val 0"/>
            </a:avLst>
          </a:prstGeom>
          <a:solidFill>
            <a:srgbClr val="FAF9F6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353810" y="2029460"/>
            <a:ext cx="5093970" cy="237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erif SC" panose="02020200000000000000" charset="-122"/>
              </a:rPr>
              <a:t>伊壁鸠鲁主义 (Epicureanism)</a:t>
            </a:r>
            <a:endParaRPr 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诞生时间：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公元前306年，伊壁鸠鲁在雅典建立“花园学派”，希腊化早期正式成型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历史背景：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亚历山大病逝后帝国分裂，希腊城邦丧失独立，公民无法通过参政实现价值，转而退守内心追求宁静；战乱频繁、命运不可控，大众渴求避苦求乐、摆脱恐惧的人生哲学。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代表人物：</a:t>
            </a:r>
            <a:r>
              <a:rPr 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伊壁鸠鲁</a:t>
            </a:r>
            <a:endParaRPr 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核心思想：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以原子论为宇宙基础，追求不动心的宁静快乐，反对宗教迷信、怕死惧神，主张简朴生活、友谊至上，快乐是人生最高善。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0" name="AutoShape 4"/>
          <p:cNvSpPr/>
          <p:nvPr>
            <p:custDataLst>
              <p:tags r:id="rId6"/>
            </p:custDataLst>
          </p:nvPr>
        </p:nvSpPr>
        <p:spPr>
          <a:xfrm>
            <a:off x="762000" y="4824095"/>
            <a:ext cx="10816590" cy="1914525"/>
          </a:xfrm>
          <a:prstGeom prst="roundRect">
            <a:avLst>
              <a:gd name="adj" fmla="val 0"/>
            </a:avLst>
          </a:prstGeom>
          <a:solidFill>
            <a:srgbClr val="FAF9F6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6"/>
          <p:cNvSpPr/>
          <p:nvPr>
            <p:custDataLst>
              <p:tags r:id="rId7"/>
            </p:custDataLst>
          </p:nvPr>
        </p:nvSpPr>
        <p:spPr>
          <a:xfrm>
            <a:off x="1016000" y="5032375"/>
            <a:ext cx="9759950" cy="14973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斯多葛主义（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Stoicism）</a:t>
            </a:r>
            <a:endParaRPr lang="en-US" altLang="zh-CN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诞生时间：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公元前300年左右，创始人芝诺在雅典画廊（斯多亚柱廊）讲学，因此得名斯多葛学派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历史背景：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王权取代城邦民主，社会动荡、阶层流动，需要一套顺应命运、理性自律、内心强大的处世哲学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代表人物：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创始人芝诺，中期潘尼提乌斯、波西多尼乌斯，晚期塞涅卡、爱比克泰德、马可·奥勒留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核心思想：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宇宙有理性逻各斯，人当顺应自然与天命；区分可控的内心德性与不可控的外部命运，以理性禁欲、承担责任、恬淡隐忍为最高幸福。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36905" y="1235710"/>
            <a:ext cx="5207000" cy="2769235"/>
          </a:xfrm>
          <a:prstGeom prst="roundRect">
            <a:avLst>
              <a:gd name="adj" fmla="val 0"/>
            </a:avLst>
          </a:prstGeom>
          <a:solidFill>
            <a:srgbClr val="FAF9F6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890905" y="1489710"/>
            <a:ext cx="489077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怀疑主义（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Skepticism）</a:t>
            </a:r>
            <a:endParaRPr lang="en-US" altLang="zh-CN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诞生时间：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公元前4世纪末–前3世纪，分两系：皮浪怀疑派、学园怀疑派</a:t>
            </a:r>
            <a:endParaRPr lang="zh-CN" altLang="en-US" sz="1200" b="1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历史背景：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各哲学流派各执一词，都宣称掌握绝对真理，反而引发人们对“人能否认识真理”的反思</a:t>
            </a:r>
            <a:r>
              <a:rPr lang="zh-CN" altLang="en-US" sz="120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。时代精神疲惫，不再追求建构体系，转而悬置判断、避免执念、求得心灵安宁。</a:t>
            </a:r>
            <a:endParaRPr lang="zh-CN" altLang="en-US" sz="120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代表人物：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皮浪、蒂孟、塞克斯都·恩披里柯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核心思想：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悬置一切判断，不肯定、不否定任何事物的本性；放弃对真理的执着，从而摆脱烦恼，达到灵魂安宁。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097905" y="1235710"/>
            <a:ext cx="5354955" cy="2769235"/>
          </a:xfrm>
          <a:prstGeom prst="roundRect">
            <a:avLst>
              <a:gd name="adj" fmla="val 0"/>
            </a:avLst>
          </a:prstGeom>
          <a:solidFill>
            <a:srgbClr val="FAF9F6">
              <a:alpha val="95000"/>
            </a:srgbClr>
          </a:solidFill>
          <a:ln w="25400" cap="flat" cmpd="sng">
            <a:solidFill>
              <a:srgbClr val="0054A7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6228715" y="1507808"/>
            <a:ext cx="5093970" cy="2353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新柏拉图主义（</a:t>
            </a:r>
            <a:r>
              <a:rPr lang="en-US" altLang="zh-CN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Neoplatonism）</a:t>
            </a:r>
            <a:endParaRPr lang="en-US" altLang="zh-CN" sz="12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spcAft>
                <a:spcPts val="1000"/>
              </a:spcAft>
              <a:defRPr/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诞生时间：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公元3世纪（罗马帝国晚期），正式成型；兴盛于3–5世纪，是古希腊哲学最后的集大成形态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历史背景：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罗马帝国晚期战乱频繁、道德衰败，基督教兴起并逐渐壮大，异教希腊哲学需要构建终极形而上学体系</a:t>
            </a:r>
            <a:r>
              <a: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。</a:t>
            </a:r>
            <a:endParaRPr lang="zh-CN" altLang="en-US" sz="12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Aft>
                <a:spcPts val="800"/>
              </a:spcAft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代表人物：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普罗提诺、波菲利、扬布里柯、普罗克洛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核心思想：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以柏拉图理念论为核心，提出太一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→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理智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→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灵魂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→</a:t>
            </a:r>
            <a:r>
              <a:rPr lang="en-US" altLang="zh-CN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 </a:t>
            </a:r>
            <a:r>
              <a:rPr lang="zh-CN" altLang="en-US" sz="1200" b="0" i="0" u="none" strike="noStrike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物质的流溢说；主张灵魂脱离肉体、回归太一，融合哲学与神秘主义，深刻影响基督教神学、中世纪经院哲学。</a:t>
            </a:r>
            <a:endParaRPr lang="zh-CN" altLang="en-US" sz="1200" b="0" i="0" u="none" strike="noStrike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1" name="TextBox 2"/>
          <p:cNvSpPr txBox="1"/>
          <p:nvPr>
            <p:custDataLst>
              <p:tags r:id="rId5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十三、古典三圣之后五大希腊哲学流派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41350" y="4488815"/>
            <a:ext cx="10811510" cy="2025015"/>
            <a:chOff x="1164" y="8812"/>
            <a:chExt cx="16853" cy="3189"/>
          </a:xfrm>
        </p:grpSpPr>
        <p:sp>
          <p:nvSpPr>
            <p:cNvPr id="46" name="AutoShape 13"/>
            <p:cNvSpPr/>
            <p:nvPr/>
          </p:nvSpPr>
          <p:spPr>
            <a:xfrm>
              <a:off x="1164" y="8812"/>
              <a:ext cx="16853" cy="318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9050" cap="flat" cmpd="sng">
              <a:solidFill>
                <a:srgbClr val="0054A7">
                  <a:alpha val="30000"/>
                </a:srgbClr>
              </a:solidFill>
              <a:prstDash val="dash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6749" y="9098"/>
              <a:ext cx="10783" cy="2617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lvl="0" algn="l" fontAlgn="auto">
                <a:lnSpc>
                  <a:spcPct val="150000"/>
                </a:lnSpc>
                <a:buClrTx/>
                <a:buSzTx/>
                <a:buFontTx/>
                <a:defRPr/>
              </a:pPr>
              <a:r>
                <a:rPr lang="zh-CN" altLang="en-US" sz="12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时间线总览</a:t>
              </a:r>
              <a:endParaRPr lang="zh-CN" altLang="en-US" sz="12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indent="0" algn="l" fontAlgn="auto">
                <a:lnSpc>
                  <a:spcPct val="150000"/>
                </a:lnSpc>
                <a:buClrTx/>
                <a:buSzTx/>
                <a:buFont typeface="Wingdings" panose="05000000000000000000" charset="0"/>
                <a:buNone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1. 前4世纪初：犬儒主义（苏格拉底死后，城邦衰落）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indent="0" algn="l" fontAlgn="auto">
                <a:lnSpc>
                  <a:spcPct val="150000"/>
                </a:lnSpc>
                <a:buClrTx/>
                <a:buSzTx/>
                <a:buFont typeface="Wingdings" panose="05000000000000000000" charset="0"/>
                <a:buNone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2. 前306年：伊壁鸠鲁主义（亚历山大死后，希腊化开局）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indent="0" algn="l" fontAlgn="auto">
                <a:lnSpc>
                  <a:spcPct val="150000"/>
                </a:lnSpc>
                <a:buClrTx/>
                <a:buSzTx/>
                <a:buFont typeface="Wingdings" panose="05000000000000000000" charset="0"/>
                <a:buNone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3. 前300年：斯多葛主义（同期希腊化，后风靡罗马）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indent="0" algn="l" fontAlgn="auto">
                <a:lnSpc>
                  <a:spcPct val="150000"/>
                </a:lnSpc>
                <a:buClrTx/>
                <a:buSzTx/>
                <a:buFont typeface="Wingdings" panose="05000000000000000000" charset="0"/>
                <a:buNone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4. 前4世纪末–前3世纪：怀疑主义（学派纷争，放弃绝对真理）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  <a:p>
              <a:pPr lvl="0" indent="0" algn="l" fontAlgn="auto">
                <a:lnSpc>
                  <a:spcPct val="150000"/>
                </a:lnSpc>
                <a:buClrTx/>
                <a:buSzTx/>
                <a:buFont typeface="Wingdings" panose="05000000000000000000" charset="0"/>
                <a:buNone/>
                <a:defRPr/>
              </a:pPr>
              <a:r>
                <a:rPr lang="zh-CN" altLang="en-US" sz="12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5. 公元3世纪：新柏拉图主义（罗马晚期，哲学神秘化、集大成收尾）</a:t>
              </a:r>
              <a:endParaRPr lang="zh-CN" altLang="en-US" sz="12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十三、古典三圣之后五大希腊哲学流派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6875" y="687840"/>
            <a:ext cx="10255986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新柏拉图主义对基督教神学的深刻影响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aphicFrame>
        <p:nvGraphicFramePr>
          <p:cNvPr id="2" name="Table 3"/>
          <p:cNvGraphicFramePr>
            <a:graphicFrameLocks noGrp="1"/>
          </p:cNvGraphicFramePr>
          <p:nvPr/>
        </p:nvGraphicFramePr>
        <p:xfrm>
          <a:off x="798195" y="1236980"/>
          <a:ext cx="10979150" cy="5129530"/>
        </p:xfrm>
        <a:graphic>
          <a:graphicData uri="http://schemas.openxmlformats.org/drawingml/2006/table">
            <a:tbl>
              <a:tblPr firstRow="1">
                <a:tableStyleId>{3F837627-1ABE-4DA3-9284-A35E9730AB2B}</a:tableStyleId>
              </a:tblPr>
              <a:tblGrid>
                <a:gridCol w="2435860"/>
                <a:gridCol w="2746375"/>
                <a:gridCol w="2740025"/>
                <a:gridCol w="3056890"/>
              </a:tblGrid>
              <a:tr h="52959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endParaRPr lang="en-US" sz="12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新柏拉图主义</a:t>
                      </a:r>
                      <a:endParaRPr lang="zh-CN" altLang="en-US" sz="12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基督教</a:t>
                      </a:r>
                      <a:endParaRPr lang="zh-CN" altLang="en-US" sz="12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影响</a:t>
                      </a:r>
                      <a:endParaRPr lang="zh-CN" altLang="en-US" sz="12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  <a:solidFill>
                      <a:srgbClr val="0054A7"/>
                    </a:solidFill>
                  </a:tcPr>
                </a:tc>
              </a:tr>
              <a:tr h="619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最高本体：「太一」→「上帝」</a:t>
                      </a:r>
                      <a:endParaRPr lang="zh-CN" altLang="en-US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太一超越存在、超越思维、无规定、绝对完满、万有的终极本源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将太一直接对应上帝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确立基督教否定神学传统——只能说上帝“不是什么”，无法完全正面定义上帝。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619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宇宙层级：</a:t>
                      </a:r>
                      <a:endParaRPr lang="zh-CN" altLang="en-US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流溢说 → 上帝创世的等级宇宙</a:t>
                      </a:r>
                      <a:endParaRPr lang="zh-CN" altLang="en-US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太一 → 努斯（理智/理念）→ 世界灵魂 → 物质世界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改写「自然流溢」为上帝自由意志创世（拒绝泛神论，守住造物主与受造物二分）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确立精神高于物质、灵魂高于肉体的神学价值观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619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努斯、逻各斯 → 基督圣子、道（</a:t>
                      </a:r>
                      <a:r>
                        <a:rPr lang="en-US" altLang="zh-CN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Logos）</a:t>
                      </a:r>
                      <a:endParaRPr lang="en-US" altLang="zh-CN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努斯是太一的直接显现，包含一切理念、永恒理智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将努斯/宇宙逻各斯 等同于 《约翰福音》道（逻各斯）、基督圣子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为基督道成肉身提供形而上学理论支撑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619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灵魂论：灵魂不朽、堕落、回归 → 原罪与救赎</a:t>
                      </a:r>
                      <a:endParaRPr lang="zh-CN" altLang="en-US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灵魂源自神圣、先在不朽；灵魂堕入肉体是沉沦、堕落；人生使命：净化、沉思、向上攀升、回归太一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灵魂不朽、属灵本源；把「灵魂堕落」改造为原罪状态；信仰、禁欲、修德、灵性攀升、回归上帝是救赎路径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深刻影响奥古斯丁的原罪论、恩典论、灵魂返乡论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619200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善恶观：物质非至善、匮乏即恶 → 恶是善的缺乏</a:t>
                      </a:r>
                      <a:endParaRPr lang="zh-CN" altLang="en-US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离太一越远越不完满，物质是最低层级、匮乏、有缺陷；恶不是实体，而是善的缺失、完满的匮乏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拒绝摩尼教“善恶二元对立”；上帝只创造善，恶是受造物不完满、背离上帝造成，无独立恶的本体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成为基督教正统善恶论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619200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认识论与神秘主义：神秘直观、迷狂合一</a:t>
                      </a:r>
                      <a:endParaRPr lang="zh-CN" altLang="en-US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真理不止靠理性论证，更靠灵魂神秘直观、超越理性的迷狂，与太一合一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zh-CN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altLang="zh-CN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开启基督教神秘神学传统；强调个人心灵静观、内向修行、与上帝神秘契合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  <a:tr h="619200">
                <a:tc>
                  <a:txBody>
                    <a:bodyPr/>
                    <a:p>
                      <a:pPr indent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b="1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禁欲与修行伦理</a:t>
                      </a:r>
                      <a:endParaRPr lang="zh-CN" altLang="en-US" sz="1200" b="1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贬抑物质、轻视肉体、推崇禁欲沉思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禁欲主义、隐修生活、轻视世俗享乐、追求灵性完善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zh-CN" altLang="en-US" sz="1200" u="none" strike="noStrike">
                          <a:solidFill>
                            <a:srgbClr val="0054A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塑造基督教修道传统</a:t>
                      </a:r>
                      <a:endParaRPr lang="zh-CN" altLang="en-US" sz="1200" u="none" strike="noStrike">
                        <a:solidFill>
                          <a:srgbClr val="0054A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0" marR="101600" marT="101600" marB="101600" anchor="ctr" anchorCtr="0">
                    <a:lnL w="12700" cmpd="sng">
                      <a:solidFill>
                        <a:srgbClr val="0054A7"/>
                      </a:solidFill>
                      <a:prstDash val="solid"/>
                    </a:lnL>
                    <a:lnR w="12700" cmpd="sng">
                      <a:solidFill>
                        <a:srgbClr val="0054A7"/>
                      </a:solidFill>
                      <a:prstDash val="solid"/>
                    </a:lnR>
                    <a:lnT w="12700" cmpd="sng">
                      <a:solidFill>
                        <a:srgbClr val="0054A7"/>
                      </a:solidFill>
                      <a:prstDash val="solid"/>
                    </a:lnT>
                    <a:lnB w="12700" cmpd="sng">
                      <a:solidFill>
                        <a:srgbClr val="0054A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古希腊哲学核心概念集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6580" y="1107758"/>
            <a:ext cx="5080000" cy="4683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一、神话</a:t>
            </a:r>
            <a:r>
              <a:rPr 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宇宙秩序源头概念</a:t>
            </a:r>
            <a:endParaRPr 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Μο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ῖ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ρα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Moira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·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摩伊拉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命运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定数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本分）</a:t>
            </a:r>
            <a:endParaRPr 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Μ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ῦ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θος（Mythos·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秘索斯/神话/叙事/传统说辞）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二、自然哲学本原核心概念</a:t>
            </a:r>
            <a:endParaRPr lang="en-US" alt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Ἀ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ρχή（Arche·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本原/始基/开端/主宰）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Ἄ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πειρον（Apeiron·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阿派朗/无定形/无限者/无界限）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 Φύσις（Physis·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斐西斯/自然/本性/生长/天性）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 Νόμος（Nomos·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诺莫斯/习俗/约定/法律/人为规范）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三、理性与精神本体概念</a:t>
            </a:r>
            <a:endParaRPr lang="en-US" alt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 Λόγος（Logos·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逻各斯/言说/理性/尺度/法则/道）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8. Νο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ῦ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ς（Nous·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努斯/心灵/理智/纯粹精神/心智）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9. Ἕ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ν（Hen·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一/单一/整全/绝对同一）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56580" y="1016635"/>
            <a:ext cx="6096000" cy="4774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四、形而上学与理念论核心概念</a:t>
            </a:r>
            <a:endParaRPr lang="en-US" alt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10. Ε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ἶ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δος（Eidos·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艾多斯/型相/形式）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11. Ἰ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δέα（Idea·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理念/原型/范式）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12. Ὄ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ν（On/Being·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存在/是者/实在）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13. Μ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ὴ Ὄ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ν（Me on·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非存在/虚无/缺失）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14. Ο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σία（Ousia·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本体/实体/实在/本质）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15. Φαινόμενον（Phenomenon·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现象/显现/表象）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五、认识论核心概念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16. 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πιστήμη（Episteme·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知识/真理/真知）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17. Δόξα（Doxa·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意见/表象/俗见）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18. Νοε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ῖ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ν（Noein·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思维/思想/理性觉知）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19. Ε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ἶ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ναι（Einai·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存在/是）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20. Α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ἴ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σθησις（Aisthesis·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感性/感官知觉）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古希腊哲学核心概念集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2945" y="912496"/>
            <a:ext cx="5080000" cy="2277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六、亚里士多德本体与运动核心概念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21. Ὕ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λη（Hyle·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质料/物质基底）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22. Μορφή（Morphe·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形式/型相/本质结构）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23. Δύναμις（Dynamis·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潜能/潜在性）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24. 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νέργεια（Energeia·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现实/实现/成全）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25. Καθ’ 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ἕ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καστον（Kath’ Hekaston·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个别/殊相）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26. Καθόλου（Katholou·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一般/共相/种属）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82945" y="912495"/>
            <a:ext cx="6096000" cy="4087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七、伦理、灵魂与希腊化核心概念</a:t>
            </a:r>
            <a:endParaRPr lang="en-US" altLang="zh-CN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27. Ψυχή（Psyche·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灵魂/生命本原/心智）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28. Σ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ῶ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μα（Soma·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肉体/躯壳/形体）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29. Ἀ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ρετή（Arete·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德性/卓越/品格完善）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30. Ἡ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δονή（Hedone·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快乐/感官愉悦）</a:t>
            </a:r>
            <a:endParaRPr lang="en-US" altLang="zh-CN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31. Ἀ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νάγκη（Ananke·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必然/宿命/强制）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32. Προαίρεσις（Prohairesis·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自由意志/道德抉择） 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33. Πνε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ῦ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μα（Pneuma·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普纽玛/气息/宇宙精气/精神） 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34. Κάθαρσις（Katharsis·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卡塔西斯/净化/涤罪/灵魂升华） 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35. Αταραξία（Ataraxia·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阿塔拉西亚/不动心/心灵宁静） 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36. 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ποχή（Epoch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ē·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悬置判断/中止断定） 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37. Α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τάρκεια（Autarkeia·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自足/自给自足） 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>
            <p:custDataLst>
              <p:tags r:id="rId1"/>
            </p:custDataLst>
          </p:nvPr>
        </p:nvSpPr>
        <p:spPr>
          <a:xfrm>
            <a:off x="270496" y="227497"/>
            <a:ext cx="582582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6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古希腊哲学核心概念集</a:t>
            </a:r>
            <a:endParaRPr lang="zh-CN" altLang="en-US" sz="16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55390" y="756603"/>
            <a:ext cx="5080000" cy="5714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zh-CN" altLang="en-US" sz="14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八、古希腊哲学核心概念二元对立总表</a:t>
            </a:r>
            <a:endParaRPr lang="zh-CN" altLang="en-US" sz="1400" b="1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1. Μ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ῦ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θος VS Λόγος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神话—理性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 Φύσις VS Νόμος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自然—约定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 Ἄ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πειρον VS Πέρας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无定—有限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 Ἕ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 VS Πολλά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一—多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 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πιστήμη VS Δόξα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真理—意见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6. Νοε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ῖ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 VS Ε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ἶ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ναι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思维—存在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7. Ὄ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 VS Μ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ὴ Ὄ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存在—非存在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8. Μορφή VS 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Ὕ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λη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形式—质料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9. Δύναμις VS 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νέργεια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潜能—现实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10. Καθ’ 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ἕ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καστον VS Καθόλου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个别—共相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11. Α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ἴ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σθησις VS Νο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ῦ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ς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感性—理性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12. Φαινόμενον VS Ο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σία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现象—本体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13. Ἀ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νάγκη VS Προαίρεσις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必然—自由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14. Ἀ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ρετή VS 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Ἡ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δονή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德性—快乐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15. Ψυχή VS Σ</a:t>
            </a: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ῶ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μα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灵魂—肉体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l">
              <a:spcAft>
                <a:spcPts val="1000"/>
              </a:spcAft>
              <a:buClrTx/>
              <a:buSzTx/>
              <a:buFontTx/>
              <a:defRPr/>
            </a:pPr>
            <a:r>
              <a:rPr lang="en-US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16. Ἐ</a:t>
            </a:r>
            <a:r>
              <a:rPr lang="en-US" altLang="zh-CN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ποχή VS Αταραξία  </a:t>
            </a:r>
            <a:r>
              <a:rPr lang="zh-CN" altLang="en-US" sz="1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悬置判断—不动心</a:t>
            </a:r>
            <a:endParaRPr lang="zh-CN" altLang="en-US" sz="1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0209" y="742436"/>
            <a:ext cx="1055251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</a:pP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突破哲学三角（世界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意识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语言），从大脑内部意识状态（唯我论）走向经验世界，进入伦理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政治生活，重视肉身尊重情感；通过文化异化批判，拓展语言边界，打破符号暴力与逻辑垄断，从艺术创造、本真需求体会中获得灵感。升级对身心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-</a:t>
            </a:r>
            <a:r>
              <a:rPr lang="en-US" altLang="zh-CN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 </a:t>
            </a:r>
            <a:r>
              <a: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rPr>
              <a:t>世界的解释范式。</a:t>
            </a:r>
            <a:endParaRPr lang="zh-CN" altLang="en-US" sz="10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7486650" y="3417545"/>
            <a:ext cx="3016728" cy="1790696"/>
            <a:chOff x="10936" y="3165"/>
            <a:chExt cx="5151" cy="3135"/>
          </a:xfrm>
        </p:grpSpPr>
        <p:sp>
          <p:nvSpPr>
            <p:cNvPr id="100" name="TextBox 2"/>
            <p:cNvSpPr txBox="1"/>
            <p:nvPr/>
          </p:nvSpPr>
          <p:spPr>
            <a:xfrm>
              <a:off x="11258" y="3233"/>
              <a:ext cx="3580" cy="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维特根斯坦：语言游戏与生活形式</a:t>
              </a:r>
              <a:endParaRPr 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10936" y="3165"/>
              <a:ext cx="5151" cy="3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2" name="TextBox 2"/>
            <p:cNvSpPr txBox="1"/>
            <p:nvPr/>
          </p:nvSpPr>
          <p:spPr>
            <a:xfrm>
              <a:off x="12344" y="3545"/>
              <a:ext cx="2563" cy="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私人语言不存在</a:t>
              </a:r>
              <a:endParaRPr 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</p:txBody>
        </p:sp>
        <p:sp>
          <p:nvSpPr>
            <p:cNvPr id="103" name="TextBox 2"/>
            <p:cNvSpPr txBox="1"/>
            <p:nvPr/>
          </p:nvSpPr>
          <p:spPr>
            <a:xfrm>
              <a:off x="11258" y="3867"/>
              <a:ext cx="4044" cy="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奥斯汀：以言行事，以言表意，以言取效</a:t>
              </a:r>
              <a:endParaRPr 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皮尔斯：对象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-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符号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-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解释项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三元关系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卡西尔：人是符号的动物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奎因：经验主义的两个教条，整体论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福柯：真理，话语，权力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莱考夫：身体的隐喻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古德曼：构造世界的多种方式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864235" y="3464310"/>
            <a:ext cx="3444061" cy="1747953"/>
            <a:chOff x="976" y="4438"/>
            <a:chExt cx="5881" cy="3060"/>
          </a:xfrm>
        </p:grpSpPr>
        <p:grpSp>
          <p:nvGrpSpPr>
            <p:cNvPr id="105" name="组合 104"/>
            <p:cNvGrpSpPr/>
            <p:nvPr/>
          </p:nvGrpSpPr>
          <p:grpSpPr>
            <a:xfrm>
              <a:off x="976" y="4615"/>
              <a:ext cx="5881" cy="2883"/>
              <a:chOff x="1135" y="1578"/>
              <a:chExt cx="5881" cy="2883"/>
            </a:xfrm>
          </p:grpSpPr>
          <p:grpSp>
            <p:nvGrpSpPr>
              <p:cNvPr id="106" name="组合 105"/>
              <p:cNvGrpSpPr/>
              <p:nvPr/>
            </p:nvGrpSpPr>
            <p:grpSpPr>
              <a:xfrm>
                <a:off x="1135" y="1578"/>
                <a:ext cx="5881" cy="2883"/>
                <a:chOff x="503" y="1182"/>
                <a:chExt cx="5881" cy="2883"/>
              </a:xfrm>
            </p:grpSpPr>
            <p:sp>
              <p:nvSpPr>
                <p:cNvPr id="107" name="TextBox 2"/>
                <p:cNvSpPr txBox="1"/>
                <p:nvPr/>
              </p:nvSpPr>
              <p:spPr>
                <a:xfrm>
                  <a:off x="651" y="1563"/>
                  <a:ext cx="5384" cy="11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indent="0">
                    <a:lnSpc>
                      <a:spcPct val="150000"/>
                    </a:lnSpc>
                    <a:buNone/>
                  </a:pPr>
                  <a:r>
                    <a:rPr lang="zh-CN" sz="800">
                      <a:solidFill>
                        <a:srgbClr val="0054A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FZYouH_508R"/>
                    </a:rPr>
                    <a:t>马克思：社会存在决定意识</a:t>
                  </a:r>
                  <a:endParaRPr lang="zh-CN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</a:endParaRPr>
                </a:p>
                <a:p>
                  <a:pPr indent="0">
                    <a:lnSpc>
                      <a:spcPct val="150000"/>
                    </a:lnSpc>
                    <a:buNone/>
                  </a:pPr>
                  <a:r>
                    <a:rPr lang="zh-CN" sz="800">
                      <a:solidFill>
                        <a:srgbClr val="0054A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FZYouH_508R"/>
                      <a:sym typeface="+mn-ea"/>
                    </a:rPr>
                    <a:t>杜威：用经验替代意识</a:t>
                  </a:r>
                  <a:endParaRPr lang="zh-CN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endParaRPr>
                </a:p>
                <a:p>
                  <a:pPr indent="0">
                    <a:lnSpc>
                      <a:spcPct val="150000"/>
                    </a:lnSpc>
                    <a:buNone/>
                  </a:pPr>
                  <a:r>
                    <a:rPr lang="zh-CN" sz="800">
                      <a:solidFill>
                        <a:srgbClr val="0054A7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FZYouH_508R"/>
                      <a:sym typeface="+mn-ea"/>
                    </a:rPr>
                    <a:t>海德格尔：将意向性改造为存在的敞开性</a:t>
                  </a:r>
                  <a:endParaRPr lang="zh-CN" altLang="en-US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endParaRPr>
                </a:p>
              </p:txBody>
            </p:sp>
            <p:sp>
              <p:nvSpPr>
                <p:cNvPr id="108" name="矩形 107"/>
                <p:cNvSpPr/>
                <p:nvPr/>
              </p:nvSpPr>
              <p:spPr>
                <a:xfrm>
                  <a:off x="503" y="1182"/>
                  <a:ext cx="5881" cy="2883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600"/>
                </a:p>
              </p:txBody>
            </p:sp>
          </p:grpSp>
          <p:sp>
            <p:nvSpPr>
              <p:cNvPr id="109" name="TextBox 2"/>
              <p:cNvSpPr txBox="1"/>
              <p:nvPr/>
            </p:nvSpPr>
            <p:spPr>
              <a:xfrm>
                <a:off x="2146" y="2940"/>
                <a:ext cx="4666" cy="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lnSpc>
                    <a:spcPct val="150000"/>
                  </a:lnSpc>
                  <a:buNone/>
                </a:pPr>
                <a:r>
                  <a:rPr lang="zh-CN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rPr>
                  <a:t>将现象学发展为存在的自我揭示的诠释学，存在</a:t>
                </a:r>
                <a:r>
                  <a:rPr lang="en-US" altLang="zh-CN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rPr>
                  <a:t>→</a:t>
                </a:r>
                <a:r>
                  <a:rPr lang="zh-CN" altLang="en-US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rPr>
                  <a:t>共在</a:t>
                </a:r>
                <a:endPara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endParaRPr>
              </a:p>
            </p:txBody>
          </p:sp>
          <p:sp>
            <p:nvSpPr>
              <p:cNvPr id="110" name="TextBox 2"/>
              <p:cNvSpPr txBox="1"/>
              <p:nvPr/>
            </p:nvSpPr>
            <p:spPr>
              <a:xfrm>
                <a:off x="1282" y="3254"/>
                <a:ext cx="5565" cy="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lnSpc>
                    <a:spcPct val="150000"/>
                  </a:lnSpc>
                  <a:buNone/>
                </a:pPr>
                <a:r>
                  <a:rPr lang="zh-CN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</a:rPr>
                  <a:t>弗洛伊德：透明的意识其实被幽暗的潜意识控制</a:t>
                </a:r>
                <a:endPara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endParaRPr>
              </a:p>
              <a:p>
                <a:pPr indent="0">
                  <a:lnSpc>
                    <a:spcPct val="150000"/>
                  </a:lnSpc>
                  <a:buNone/>
                </a:pPr>
                <a:r>
                  <a:rPr lang="zh-CN" altLang="en-US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rPr>
                  <a:t>梅洛</a:t>
                </a:r>
                <a:r>
                  <a:rPr lang="en-US" altLang="zh-CN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rPr>
                  <a:t>·</a:t>
                </a:r>
                <a:r>
                  <a:rPr lang="zh-CN" altLang="en-US" sz="800">
                    <a:solidFill>
                      <a:srgbClr val="0054A7"/>
                    </a:solidFill>
                    <a:latin typeface="微软雅黑" panose="020B0503020204020204" charset="-122"/>
                    <a:ea typeface="微软雅黑" panose="020B0503020204020204" charset="-122"/>
                    <a:cs typeface="FZYouH_508R"/>
                    <a:sym typeface="+mn-ea"/>
                  </a:rPr>
                  <a:t>庞蒂：意识根植于身体图式，知觉先于意识</a:t>
                </a:r>
                <a:endPara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endParaRPr>
              </a:p>
            </p:txBody>
          </p:sp>
        </p:grpSp>
        <p:sp>
          <p:nvSpPr>
            <p:cNvPr id="111" name="文本框 110"/>
            <p:cNvSpPr txBox="1"/>
            <p:nvPr>
              <p:custDataLst>
                <p:tags r:id="rId1"/>
              </p:custDataLst>
            </p:nvPr>
          </p:nvSpPr>
          <p:spPr>
            <a:xfrm>
              <a:off x="2613" y="4438"/>
              <a:ext cx="2541" cy="375"/>
            </a:xfrm>
            <a:prstGeom prst="rect">
              <a:avLst/>
            </a:prstGeom>
            <a:solidFill>
              <a:srgbClr val="0054A7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sz="800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对意识的突破</a:t>
              </a:r>
              <a:endPara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2" name="文本框 111"/>
          <p:cNvSpPr txBox="1"/>
          <p:nvPr>
            <p:custDataLst>
              <p:tags r:id="rId2"/>
            </p:custDataLst>
          </p:nvPr>
        </p:nvSpPr>
        <p:spPr>
          <a:xfrm>
            <a:off x="8349177" y="3295638"/>
            <a:ext cx="1290253" cy="220968"/>
          </a:xfrm>
          <a:prstGeom prst="rect">
            <a:avLst/>
          </a:prstGeom>
          <a:solidFill>
            <a:srgbClr val="0054A7"/>
          </a:solidFill>
        </p:spPr>
        <p:txBody>
          <a:bodyPr wrap="square" rtlCol="0">
            <a:noAutofit/>
          </a:bodyPr>
          <a:p>
            <a:pPr algn="ctr"/>
            <a:r>
              <a:rPr lang="zh-CN" altLang="en-US" sz="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对语言的突破</a:t>
            </a:r>
            <a:endParaRPr lang="zh-CN" altLang="en-US" sz="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2092960" y="5251887"/>
            <a:ext cx="7989789" cy="1198755"/>
            <a:chOff x="1589" y="7392"/>
            <a:chExt cx="13644" cy="2098"/>
          </a:xfrm>
        </p:grpSpPr>
        <p:sp>
          <p:nvSpPr>
            <p:cNvPr id="114" name="矩形 113"/>
            <p:cNvSpPr/>
            <p:nvPr/>
          </p:nvSpPr>
          <p:spPr>
            <a:xfrm>
              <a:off x="1589" y="7453"/>
              <a:ext cx="13644" cy="196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TextBox 2"/>
            <p:cNvSpPr txBox="1"/>
            <p:nvPr/>
          </p:nvSpPr>
          <p:spPr>
            <a:xfrm>
              <a:off x="2473" y="7392"/>
              <a:ext cx="5706" cy="2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现象学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存在主义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解释学</a:t>
              </a:r>
              <a:endParaRPr 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分析哲学与实用主义结合：新实用主义</a:t>
              </a:r>
              <a:endParaRPr 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理性批判深化：工具理性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交往理性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关系理性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结构主义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解构主义，后现代主义及其纠正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实践，存在论转向及伦理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政治转向：政治哲学成为显学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科学哲学在理性与非理性之间摇摆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  <p:sp>
          <p:nvSpPr>
            <p:cNvPr id="116" name="TextBox 2"/>
            <p:cNvSpPr txBox="1"/>
            <p:nvPr/>
          </p:nvSpPr>
          <p:spPr>
            <a:xfrm>
              <a:off x="8180" y="7411"/>
              <a:ext cx="6770" cy="1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符号学、认知科学的诞生与兴起</a:t>
              </a:r>
              <a:endParaRPr 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未来哲学、技术哲学面对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AI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时代的挑战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关系本体论：自我的重构，人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物、人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机、人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人、人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-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符号的关系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</p:grpSp>
      <p:grpSp>
        <p:nvGrpSpPr>
          <p:cNvPr id="117" name="组合 116"/>
          <p:cNvGrpSpPr/>
          <p:nvPr>
            <p:custDataLst>
              <p:tags r:id="rId3"/>
            </p:custDataLst>
          </p:nvPr>
        </p:nvGrpSpPr>
        <p:grpSpPr>
          <a:xfrm>
            <a:off x="3385185" y="1776095"/>
            <a:ext cx="4322220" cy="1477695"/>
            <a:chOff x="-558" y="1813"/>
            <a:chExt cx="7381" cy="2586"/>
          </a:xfrm>
        </p:grpSpPr>
        <p:sp>
          <p:nvSpPr>
            <p:cNvPr id="118" name="文本框 117"/>
            <p:cNvSpPr txBox="1"/>
            <p:nvPr>
              <p:custDataLst>
                <p:tags r:id="rId4"/>
              </p:custDataLst>
            </p:nvPr>
          </p:nvSpPr>
          <p:spPr>
            <a:xfrm>
              <a:off x="2771" y="1813"/>
              <a:ext cx="1392" cy="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</a:rPr>
                <a:t>世界</a:t>
              </a:r>
              <a:endParaRPr lang="zh-CN" altLang="en-US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5"/>
              </p:custDataLst>
            </p:nvPr>
          </p:nvSpPr>
          <p:spPr>
            <a:xfrm>
              <a:off x="813" y="3756"/>
              <a:ext cx="1392" cy="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</a:rPr>
                <a:t>自我</a:t>
              </a:r>
              <a:endParaRPr lang="zh-CN" altLang="en-US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0" name="文本框 119"/>
            <p:cNvSpPr txBox="1"/>
            <p:nvPr>
              <p:custDataLst>
                <p:tags r:id="rId6"/>
              </p:custDataLst>
            </p:nvPr>
          </p:nvSpPr>
          <p:spPr>
            <a:xfrm>
              <a:off x="4987" y="3744"/>
              <a:ext cx="1398" cy="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1000" b="1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</a:rPr>
                <a:t>语言</a:t>
              </a:r>
              <a:endParaRPr lang="zh-CN" altLang="en-US" sz="1000" b="1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1" name="等腰三角形 120"/>
            <p:cNvSpPr/>
            <p:nvPr>
              <p:custDataLst>
                <p:tags r:id="rId7"/>
              </p:custDataLst>
            </p:nvPr>
          </p:nvSpPr>
          <p:spPr>
            <a:xfrm>
              <a:off x="1948" y="2393"/>
              <a:ext cx="3039" cy="1556"/>
            </a:xfrm>
            <a:prstGeom prst="triangle">
              <a:avLst/>
            </a:prstGeom>
            <a:noFill/>
            <a:ln>
              <a:solidFill>
                <a:srgbClr val="0054A7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文本框 121"/>
            <p:cNvSpPr txBox="1"/>
            <p:nvPr>
              <p:custDataLst>
                <p:tags r:id="rId8"/>
              </p:custDataLst>
            </p:nvPr>
          </p:nvSpPr>
          <p:spPr>
            <a:xfrm>
              <a:off x="4077" y="2554"/>
              <a:ext cx="2746" cy="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</a:rPr>
                <a:t>词与物，指称关系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3" name="文本框 122"/>
            <p:cNvSpPr txBox="1"/>
            <p:nvPr>
              <p:custDataLst>
                <p:tags r:id="rId9"/>
              </p:custDataLst>
            </p:nvPr>
          </p:nvSpPr>
          <p:spPr>
            <a:xfrm>
              <a:off x="-558" y="2554"/>
              <a:ext cx="3329" cy="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</a:rPr>
                <a:t>主体与客体，主客关系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10"/>
              </p:custDataLst>
            </p:nvPr>
          </p:nvSpPr>
          <p:spPr>
            <a:xfrm>
              <a:off x="1538" y="4025"/>
              <a:ext cx="3858" cy="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</a:rPr>
                <a:t>意识，认知，思考，言说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881380" y="1454150"/>
            <a:ext cx="2378095" cy="1799256"/>
            <a:chOff x="149" y="1210"/>
            <a:chExt cx="4060" cy="3149"/>
          </a:xfrm>
        </p:grpSpPr>
        <p:sp>
          <p:nvSpPr>
            <p:cNvPr id="126" name="TextBox 2"/>
            <p:cNvSpPr txBox="1"/>
            <p:nvPr/>
          </p:nvSpPr>
          <p:spPr>
            <a:xfrm>
              <a:off x="473" y="1233"/>
              <a:ext cx="3736" cy="3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理性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/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经验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/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先验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/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意识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/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意志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/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情感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我思故我在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心灵白板说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存在就是被感知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理性主义</a:t>
              </a: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 VS </a:t>
              </a: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经验主义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浪漫主义（情感）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绝对精神的环节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意志哲学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  <a:sym typeface="+mn-ea"/>
                </a:rPr>
                <a:t>现象学，意识的本质结构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  <a:sym typeface="+mn-ea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149" y="1210"/>
              <a:ext cx="3702" cy="314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/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8224723" y="1418040"/>
            <a:ext cx="2278261" cy="1819180"/>
            <a:chOff x="13008" y="1420"/>
            <a:chExt cx="3890" cy="3184"/>
          </a:xfrm>
        </p:grpSpPr>
        <p:sp>
          <p:nvSpPr>
            <p:cNvPr id="129" name="TextBox 2"/>
            <p:cNvSpPr txBox="1"/>
            <p:nvPr/>
          </p:nvSpPr>
          <p:spPr>
            <a:xfrm>
              <a:off x="13323" y="1480"/>
              <a:ext cx="3413" cy="31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indent="0">
                <a:lnSpc>
                  <a:spcPct val="150000"/>
                </a:lnSpc>
                <a:buNone/>
              </a:pPr>
              <a:r>
                <a:rPr 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太初有道（言）</a:t>
              </a:r>
              <a:endParaRPr 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en-US" altLang="zh-CN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Logos</a:t>
              </a:r>
              <a:endParaRPr lang="en-US" altLang="zh-CN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指称魔力论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共相，本质，理念，唯理论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先验范畴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逻辑原子主义，图像论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逻辑实证主义，还原论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语义真值条件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  <a:p>
              <a:pPr indent="0">
                <a:lnSpc>
                  <a:spcPct val="150000"/>
                </a:lnSpc>
                <a:buNone/>
              </a:pPr>
              <a:r>
                <a:rPr lang="zh-CN" altLang="en-US" sz="800">
                  <a:solidFill>
                    <a:srgbClr val="0054A7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世界的逻辑构造</a:t>
              </a:r>
              <a:endParaRPr lang="zh-CN" altLang="en-US" sz="8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13008" y="1420"/>
              <a:ext cx="3890" cy="316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/>
            </a:p>
          </p:txBody>
        </p:sp>
      </p:grpSp>
      <p:grpSp>
        <p:nvGrpSpPr>
          <p:cNvPr id="131" name="组合 130"/>
          <p:cNvGrpSpPr/>
          <p:nvPr>
            <p:custDataLst>
              <p:tags r:id="rId11"/>
            </p:custDataLst>
          </p:nvPr>
        </p:nvGrpSpPr>
        <p:grpSpPr>
          <a:xfrm rot="0">
            <a:off x="5951855" y="1543050"/>
            <a:ext cx="823552" cy="346057"/>
            <a:chOff x="9964" y="1041"/>
            <a:chExt cx="1406" cy="605"/>
          </a:xfrm>
        </p:grpSpPr>
        <p:sp>
          <p:nvSpPr>
            <p:cNvPr id="132" name="矩形 131"/>
            <p:cNvSpPr/>
            <p:nvPr>
              <p:custDataLst>
                <p:tags r:id="rId12"/>
              </p:custDataLst>
            </p:nvPr>
          </p:nvSpPr>
          <p:spPr>
            <a:xfrm>
              <a:off x="9964" y="1041"/>
              <a:ext cx="1406" cy="605"/>
            </a:xfrm>
            <a:prstGeom prst="rect">
              <a:avLst/>
            </a:prstGeom>
            <a:solidFill>
              <a:srgbClr val="0054A7"/>
            </a:solidFill>
            <a:ln w="25400" cap="flat" cmpd="sng" algn="ctr">
              <a:noFill/>
              <a:prstDash val="solid"/>
            </a:ln>
            <a:effectLst/>
          </p:spPr>
          <p:txBody>
            <a:bodyPr lIns="91397" tIns="45715" rIns="91397" bIns="45715" rtlCol="0" anchor="ctr"/>
            <a:p>
              <a:pPr algn="ctr" defTabSz="914400"/>
              <a:endParaRPr lang="zh-CN" altLang="en-US" sz="14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3" name="TextBox 2"/>
            <p:cNvSpPr txBox="1"/>
            <p:nvPr>
              <p:custDataLst>
                <p:tags r:id="rId13"/>
              </p:custDataLst>
            </p:nvPr>
          </p:nvSpPr>
          <p:spPr>
            <a:xfrm>
              <a:off x="10003" y="1051"/>
              <a:ext cx="1331" cy="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50000"/>
                </a:lnSpc>
                <a:buNone/>
              </a:pPr>
              <a:r>
                <a:rPr 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实在论</a:t>
              </a:r>
              <a:endParaRPr lang="zh-CN" altLang="zh-CN" sz="9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</p:txBody>
        </p:sp>
      </p:grpSp>
      <p:grpSp>
        <p:nvGrpSpPr>
          <p:cNvPr id="134" name="组合 133"/>
          <p:cNvGrpSpPr/>
          <p:nvPr>
            <p:custDataLst>
              <p:tags r:id="rId14"/>
            </p:custDataLst>
          </p:nvPr>
        </p:nvGrpSpPr>
        <p:grpSpPr>
          <a:xfrm rot="0">
            <a:off x="3311525" y="2829560"/>
            <a:ext cx="823552" cy="346057"/>
            <a:chOff x="9964" y="1041"/>
            <a:chExt cx="1406" cy="605"/>
          </a:xfrm>
        </p:grpSpPr>
        <p:sp>
          <p:nvSpPr>
            <p:cNvPr id="135" name="矩形 134"/>
            <p:cNvSpPr/>
            <p:nvPr>
              <p:custDataLst>
                <p:tags r:id="rId15"/>
              </p:custDataLst>
            </p:nvPr>
          </p:nvSpPr>
          <p:spPr>
            <a:xfrm>
              <a:off x="9964" y="1041"/>
              <a:ext cx="1406" cy="605"/>
            </a:xfrm>
            <a:prstGeom prst="rect">
              <a:avLst/>
            </a:prstGeom>
            <a:solidFill>
              <a:srgbClr val="0054A7"/>
            </a:solidFill>
            <a:ln w="25400" cap="flat" cmpd="sng" algn="ctr">
              <a:noFill/>
              <a:prstDash val="solid"/>
            </a:ln>
            <a:effectLst/>
          </p:spPr>
          <p:txBody>
            <a:bodyPr lIns="91397" tIns="45715" rIns="91397" bIns="45715" rtlCol="0" anchor="ctr"/>
            <a:p>
              <a:pPr algn="ctr" defTabSz="914400"/>
              <a:endParaRPr lang="zh-CN" altLang="en-US" sz="16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6" name="TextBox 2"/>
            <p:cNvSpPr txBox="1"/>
            <p:nvPr>
              <p:custDataLst>
                <p:tags r:id="rId16"/>
              </p:custDataLst>
            </p:nvPr>
          </p:nvSpPr>
          <p:spPr>
            <a:xfrm>
              <a:off x="9964" y="1041"/>
              <a:ext cx="1331" cy="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50000"/>
                </a:lnSpc>
                <a:buNone/>
              </a:pPr>
              <a:r>
                <a:rPr 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唯心论</a:t>
              </a:r>
              <a:endParaRPr lang="zh-CN" altLang="zh-CN" sz="9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</p:txBody>
        </p:sp>
      </p:grpSp>
      <p:grpSp>
        <p:nvGrpSpPr>
          <p:cNvPr id="137" name="组合 136"/>
          <p:cNvGrpSpPr/>
          <p:nvPr>
            <p:custDataLst>
              <p:tags r:id="rId17"/>
            </p:custDataLst>
          </p:nvPr>
        </p:nvGrpSpPr>
        <p:grpSpPr>
          <a:xfrm rot="0">
            <a:off x="7192010" y="2830195"/>
            <a:ext cx="823552" cy="346057"/>
            <a:chOff x="9964" y="1041"/>
            <a:chExt cx="1406" cy="605"/>
          </a:xfrm>
        </p:grpSpPr>
        <p:sp>
          <p:nvSpPr>
            <p:cNvPr id="138" name="矩形 137"/>
            <p:cNvSpPr/>
            <p:nvPr>
              <p:custDataLst>
                <p:tags r:id="rId18"/>
              </p:custDataLst>
            </p:nvPr>
          </p:nvSpPr>
          <p:spPr>
            <a:xfrm>
              <a:off x="9964" y="1041"/>
              <a:ext cx="1406" cy="605"/>
            </a:xfrm>
            <a:prstGeom prst="rect">
              <a:avLst/>
            </a:prstGeom>
            <a:solidFill>
              <a:srgbClr val="0054A7"/>
            </a:solidFill>
            <a:ln w="25400" cap="flat" cmpd="sng" algn="ctr">
              <a:noFill/>
              <a:prstDash val="solid"/>
            </a:ln>
            <a:effectLst/>
          </p:spPr>
          <p:txBody>
            <a:bodyPr lIns="91397" tIns="45715" rIns="91397" bIns="45715" rtlCol="0" anchor="ctr"/>
            <a:p>
              <a:pPr algn="ctr" defTabSz="914400"/>
              <a:endParaRPr lang="zh-CN" altLang="en-US" sz="1600" kern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9" name="TextBox 2"/>
            <p:cNvSpPr txBox="1"/>
            <p:nvPr>
              <p:custDataLst>
                <p:tags r:id="rId19"/>
              </p:custDataLst>
            </p:nvPr>
          </p:nvSpPr>
          <p:spPr>
            <a:xfrm>
              <a:off x="9999" y="1041"/>
              <a:ext cx="1331" cy="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50000"/>
                </a:lnSpc>
                <a:buNone/>
              </a:pPr>
              <a:r>
                <a:rPr lang="zh-CN" sz="9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FZYouH_508R"/>
                </a:rPr>
                <a:t>构造论</a:t>
              </a:r>
              <a:endParaRPr lang="zh-CN" altLang="zh-CN" sz="9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endParaRPr>
            </a:p>
          </p:txBody>
        </p:sp>
      </p:grpSp>
      <p:sp>
        <p:nvSpPr>
          <p:cNvPr id="5" name="矩形 4"/>
          <p:cNvSpPr/>
          <p:nvPr>
            <p:custDataLst>
              <p:tags r:id="rId20"/>
            </p:custDataLst>
          </p:nvPr>
        </p:nvSpPr>
        <p:spPr>
          <a:xfrm>
            <a:off x="5250538" y="4884325"/>
            <a:ext cx="1294063" cy="346057"/>
          </a:xfrm>
          <a:prstGeom prst="rect">
            <a:avLst/>
          </a:prstGeom>
          <a:solidFill>
            <a:srgbClr val="0054A7"/>
          </a:solidFill>
          <a:ln w="25400" cap="flat" cmpd="sng" algn="ctr">
            <a:noFill/>
            <a:prstDash val="solid"/>
          </a:ln>
          <a:effectLst/>
        </p:spPr>
        <p:txBody>
          <a:bodyPr lIns="91397" tIns="45715" rIns="91397" bIns="45715" rtlCol="0" anchor="ctr"/>
          <a:p>
            <a:pPr algn="ctr" defTabSz="914400"/>
            <a:endParaRPr lang="zh-CN" altLang="en-US" sz="1600" ker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2"/>
          <p:cNvSpPr txBox="1"/>
          <p:nvPr/>
        </p:nvSpPr>
        <p:spPr>
          <a:xfrm>
            <a:off x="5374357" y="4890040"/>
            <a:ext cx="1047060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>
              <a:lnSpc>
                <a:spcPct val="150000"/>
              </a:lnSpc>
              <a:buNone/>
            </a:pPr>
            <a:r>
              <a:rPr lang="zh-CN" sz="1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rPr>
              <a:t>生活世界大地</a:t>
            </a:r>
            <a:endParaRPr lang="zh-CN" sz="1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FZYouH_508R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15018" t="28320" r="14560" b="17224"/>
          <a:stretch>
            <a:fillRect/>
          </a:stretch>
        </p:blipFill>
        <p:spPr>
          <a:xfrm>
            <a:off x="5082910" y="2728631"/>
            <a:ext cx="2026646" cy="2033894"/>
          </a:xfrm>
          <a:prstGeom prst="rect">
            <a:avLst/>
          </a:prstGeom>
        </p:spPr>
      </p:pic>
      <p:sp>
        <p:nvSpPr>
          <p:cNvPr id="2" name="中标题文字位置"/>
          <p:cNvSpPr txBox="1"/>
          <p:nvPr>
            <p:custDataLst>
              <p:tags r:id="rId2"/>
            </p:custDataLst>
          </p:nvPr>
        </p:nvSpPr>
        <p:spPr>
          <a:xfrm>
            <a:off x="2983025" y="900235"/>
            <a:ext cx="6226517" cy="1325880"/>
          </a:xfrm>
          <a:prstGeom prst="rect">
            <a:avLst/>
          </a:prstGeom>
          <a:ln w="12700">
            <a:miter lim="400000"/>
          </a:ln>
        </p:spPr>
        <p:txBody>
          <a:bodyPr wrap="square" lIns="48204" tIns="48204" rIns="48204" bIns="48204" anchor="ctr">
            <a:spAutoFit/>
          </a:bodyPr>
          <a:lstStyle>
            <a:lvl1pPr defTabSz="457200">
              <a:defRPr sz="9000">
                <a:solidFill>
                  <a:srgbClr val="FFFFFF"/>
                </a:solidFill>
                <a:latin typeface="FZYouH_510M"/>
                <a:ea typeface="FZYouH_510M"/>
                <a:cs typeface="FZYouH_510M"/>
                <a:sym typeface="FZYouH_510M"/>
              </a:defRPr>
            </a:lvl1pPr>
          </a:lstStyle>
          <a:p>
            <a:pPr algn="ctr"/>
            <a:r>
              <a:rPr lang="zh-CN" altLang="en-US" sz="8000" smtClean="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lang="zh-CN" altLang="en-US" sz="8000" dirty="0" err="1" smtClean="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85702" y="5077374"/>
            <a:ext cx="382186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>
              <a:lnSpc>
                <a:spcPct val="150000"/>
              </a:lnSpc>
              <a:buNone/>
            </a:pPr>
            <a:r>
              <a:rPr lang="zh-CN" sz="2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rPr>
              <a:t>视频号：老</a:t>
            </a:r>
            <a:r>
              <a:rPr lang="en-US" altLang="zh-CN" sz="2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rPr>
              <a:t>K</a:t>
            </a:r>
            <a:r>
              <a:rPr lang="zh-CN" altLang="en-US" sz="2400">
                <a:solidFill>
                  <a:srgbClr val="0054A7"/>
                </a:solidFill>
                <a:latin typeface="微软雅黑" panose="020B0503020204020204" charset="-122"/>
                <a:ea typeface="微软雅黑" panose="020B0503020204020204" charset="-122"/>
                <a:cs typeface="FZYouH_508R"/>
              </a:rPr>
              <a:t>的呐喊</a:t>
            </a:r>
            <a:endParaRPr lang="zh-CN" altLang="en-US" sz="2400">
              <a:solidFill>
                <a:srgbClr val="0054A7"/>
              </a:solidFill>
              <a:latin typeface="微软雅黑" panose="020B0503020204020204" charset="-122"/>
              <a:ea typeface="微软雅黑" panose="020B0503020204020204" charset="-122"/>
              <a:cs typeface="FZYouH_508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4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i*1_1_4"/>
  <p:tag name="KSO_WM_TEMPLATE_CATEGORY" val="diagram"/>
  <p:tag name="KSO_WM_TEMPLATE_INDEX" val="20230962"/>
  <p:tag name="KSO_WM_UNIT_LAYERLEVEL" val="1_1_1"/>
  <p:tag name="KSO_WM_TAG_VERSION" val="3.0"/>
  <p:tag name="KSO_WM_DIAGRAM_GROUP_CODE" val="n1-1"/>
  <p:tag name="KSO_WM_UNIT_TYPE" val="n_h_i"/>
  <p:tag name="KSO_WM_UNIT_INDEX" val="1_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15000000596046448,&quot;transparency&quot;:1},{&quot;brightness&quot;:0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  <p:tag name="KSO_WM_BEAUTIFY_FLAG" val="#wm#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DIAGRAM_VIRTUALLY_FRAME" val="{&quot;height&quot;:368.4065673828125,&quot;left&quot;:52.95,&quot;top&quot;:116.2,&quot;width&quot;:861.4975590551181}"/>
</p:tagLst>
</file>

<file path=ppt/tags/tag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62_5*n_h_h_f*1_2_1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UNIT_TEXT_LAYER_COUNT" val="1"/>
  <p:tag name="KSO_WM_BEAUTIFY_FLAG" val="#wm#"/>
  <p:tag name="KSO_WM_UNIT_PRESET_TEXT" val="单击此处输入正文，文字是您思想的提炼，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62_5*n_h_h_a*1_2_1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1_2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gradient&quot;:[{&quot;brightness&quot;:0,&quot;colorType&quot;:2,&quot;pos&quot;:0.949999988079071,&quot;rgb&quot;:&quot;#376fff&quot;,&quot;transparency&quot;:1},{&quot;brightness&quot;:0,&quot;colorType&quot;:1,&quot;foreColorIndex&quot;:5,&quot;pos&quot;:0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DIAGRAM_USE_COLOR_VALUE" val="{&quot;color_scheme&quot;:1,&quot;color_type&quot;:1,&quot;theme_color_indexes&quot;:[5,6,5,6,5,6]}"/>
</p:tagLst>
</file>

<file path=ppt/tags/tag10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.xml><?xml version="1.0" encoding="utf-8"?>
<p:tagLst xmlns:p="http://schemas.openxmlformats.org/presentationml/2006/main">
  <p:tag name="KSO_WM_DIAGRAM_VIRTUALLY_FRAME" val="{&quot;height&quot;:368.4065673828125,&quot;left&quot;:52.95,&quot;top&quot;:116.2,&quot;width&quot;:861.4975590551181}"/>
</p:tagLst>
</file>

<file path=ppt/tags/tag1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62_5*n_h_h_f*1_2_2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UNIT_TEXT_LAYER_COUNT" val="1"/>
  <p:tag name="KSO_WM_BEAUTIFY_FLAG" val="#wm#"/>
  <p:tag name="KSO_WM_UNIT_PRESET_TEXT" val="单击此处输入正文，文字是您思想的提炼，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62_5*n_h_h_a*1_2_2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1_2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3.1057012410802,&quot;left&quot;:69.65,&quot;top&quot;:131.50086614173227,&quot;width&quot;:822.7975590551181}"/>
  <p:tag name="KSO_WM_DIAGRAM_COLOR_MATCH_VALUE" val="{&quot;shape&quot;:{&quot;fill&quot;:{&quot;type&quot;:0},&quot;glow&quot;:{&quot;colorType&quot;:0},&quot;line&quot;:{&quot;gradient&quot;:[{&quot;brightness&quot;:0,&quot;colorType&quot;:2,&quot;pos&quot;:0.949999988079071,&quot;rgb&quot;:&quot;#376fff&quot;,&quot;transparency&quot;:1},{&quot;brightness&quot;:0,&quot;colorType&quot;:1,&quot;foreColorIndex&quot;:5,&quot;pos&quot;:0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DIAGRAM_VIRTUALLY_FRAME" val="{&quot;height&quot;:368.4065673828125,&quot;left&quot;:52.95,&quot;top&quot;:116.2,&quot;width&quot;:861.4975590551181}"/>
</p:tagLst>
</file>

<file path=ppt/tags/tag1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62_5*n_h_h_f*1_2_3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USESOURCEFORMAT_APPLY" val="1"/>
  <p:tag name="KSO_WM_UNIT_TEXT_LAYER_COUNT" val="1"/>
  <p:tag name="KSO_WM_BEAUTIFY_FLAG" val="#wm#"/>
  <p:tag name="KSO_WM_UNIT_PRESET_TEXT" val="单击此处输入正文，文字是您思想的提炼，请言简意赅的阐述观点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3_2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gradient&quot;:[{&quot;brightness&quot;:0,&quot;colorType&quot;:2,&quot;pos&quot;:0.949999988079071,&quot;rgb&quot;:&quot;#376fff&quot;,&quot;transparency&quot;:1},{&quot;brightness&quot;:0,&quot;colorType&quot;:1,&quot;foreColorIndex&quot;:5,&quot;pos&quot;:0,&quot;transparency&quot;:1},{&quot;brightness&quot;:0,&quot;colorType&quot;:1,&quot;foreColorIndex&quot;:5,&quot;pos&quot;:0.5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62_5*n_h_h_a*1_2_2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3.1057012410802,&quot;left&quot;:52.95,&quot;top&quot;:131.50086614173227,&quot;width&quot;:839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DIAGRAM_VIRTUALLY_FRAME" val="{&quot;height&quot;:368.4065673828125,&quot;left&quot;:52.95,&quot;top&quot;:116.2,&quot;width&quot;:861.4975590551181}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0962_5*n_h_h_f*1_2_5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UNIT_TEXT_LAYER_COUNT" val="1"/>
  <p:tag name="KSO_WM_BEAUTIFY_FLAG" val="#wm#"/>
  <p:tag name="KSO_WM_UNIT_PRESET_TEXT" val="单击此处输入正文，文字是您思想的提炼，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5_2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5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gradient&quot;:[{&quot;brightness&quot;:0,&quot;colorType&quot;:2,&quot;pos&quot;:0.949999988079071,&quot;rgb&quot;:&quot;#376fff&quot;,&quot;transparency&quot;:1},{&quot;brightness&quot;:0,&quot;colorType&quot;:1,&quot;foreColorIndex&quot;:5,&quot;pos&quot;:0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5_1"/>
  <p:tag name="KSO_WM_UNIT_ID" val="diagram20230962_5*n_h_h_a*1_2_5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3.1057012410802,&quot;left&quot;:52.95,&quot;top&quot;:131.50086614173227,&quot;width&quot;:839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VIRTUALLY_FRAME" val="{&quot;height&quot;:368.4065673828125,&quot;left&quot;:52.95,&quot;top&quot;:116.2,&quot;width&quot;:861.4975590551181}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5_1"/>
  <p:tag name="KSO_WM_UNIT_ID" val="diagram20230962_5*n_h_h_a*1_2_5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BEAUTIFY_FLAG" val="#wm#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0962_5*n_h_h_f*1_2_5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3.1057012410802,&quot;left&quot;:52.95,&quot;top&quot;:131.50086614173227,&quot;width&quot;:839.49755905511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USESOURCEFORMAT_APPLY" val="1"/>
  <p:tag name="KSO_WM_UNIT_TEXT_LAYER_COUNT" val="1"/>
  <p:tag name="KSO_WM_UNIT_PRESET_TEXT" val="单击此处输入正文，文字是您思想的提炼，请言简意赅的阐述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5_2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5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3.1057012410802,&quot;left&quot;:52.95,&quot;top&quot;:131.50086614173227,&quot;width&quot;:839.4975590551181}"/>
  <p:tag name="KSO_WM_DIAGRAM_COLOR_MATCH_VALUE" val="{&quot;shape&quot;:{&quot;fill&quot;:{&quot;type&quot;:0},&quot;glow&quot;:{&quot;colorType&quot;:0},&quot;line&quot;:{&quot;gradient&quot;:[{&quot;brightness&quot;:0,&quot;colorType&quot;:2,&quot;pos&quot;:0.949999988079071,&quot;rgb&quot;:&quot;#376fff&quot;,&quot;transparency&quot;:1},{&quot;brightness&quot;:0,&quot;colorType&quot;:1,&quot;foreColorIndex&quot;:5,&quot;pos&quot;:0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VIRTUALLY_FRAME" val="{&quot;height&quot;:368.4065673828125,&quot;left&quot;:52.95,&quot;top&quot;:116.2,&quot;width&quot;:861.4975590551181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i*1_1_6"/>
  <p:tag name="KSO_WM_TEMPLATE_CATEGORY" val="diagram"/>
  <p:tag name="KSO_WM_TEMPLATE_INDEX" val="20230962"/>
  <p:tag name="KSO_WM_UNIT_LAYERLEVEL" val="1_1_1"/>
  <p:tag name="KSO_WM_TAG_VERSION" val="3.0"/>
  <p:tag name="KSO_WM_DIAGRAM_GROUP_CODE" val="n1-1"/>
  <p:tag name="KSO_WM_UNIT_TYPE" val="n_h_i"/>
  <p:tag name="KSO_WM_UNIT_INDEX" val="1_1_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07999999821186066,&quot;transparency&quot;:1},{&quot;brightness&quot;:0,&quot;colorType&quot;:1,&quot;foreColorIndex&quot;:5,&quot;pos&quot;:1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  <p:tag name="KSO_WM_BEAUTIFY_FLAG" val="#wm#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5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1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1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1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3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1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0962_5*n_h_i*1_1_1"/>
  <p:tag name="KSO_WM_TEMPLATE_CATEGORY" val="diagram"/>
  <p:tag name="KSO_WM_TEMPLATE_INDEX" val="2023096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gradient&quot;:[{&quot;brightness&quot;:0,&quot;colorType&quot;:1,&quot;foreColorIndex&quot;:5,&quot;pos&quot;:0,&quot;transparency&quot;:1},{&quot;brightness&quot;:0.4000000059604645,&quot;colorType&quot;:1,&quot;foreColorIndex&quot;:5,&quot;pos&quot;:0.7200000286102295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0962_5*n_h_i*1_1_2"/>
  <p:tag name="KSO_WM_TEMPLATE_CATEGORY" val="diagram"/>
  <p:tag name="KSO_WM_TEMPLATE_INDEX" val="2023096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gradient&quot;:[{&quot;brightness&quot;:0,&quot;colorType&quot;:1,&quot;foreColorIndex&quot;:5,&quot;pos&quot;:0.11999999731779099,&quot;transparency&quot;:1},{&quot;brightness&quot;:0.6000000238418579,&quot;colorType&quot;:1,&quot;foreColorIndex&quot;:5,&quot;pos&quot;:1,&quot;transparency&quot;:0.31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i*1_1_3"/>
  <p:tag name="KSO_WM_TEMPLATE_CATEGORY" val="diagram"/>
  <p:tag name="KSO_WM_TEMPLATE_INDEX" val="2023096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gradient&quot;:[{&quot;brightness&quot;:0,&quot;colorType&quot;:1,&quot;foreColorIndex&quot;:5,&quot;pos&quot;:0.1599999964237213,&quot;transparency&quot;:1},{&quot;brightness&quot;:0.6000000238418579,&quot;colorType&quot;:1,&quot;foreColorIndex&quot;:5,&quot;pos&quot;:1,&quot;transparency&quot;:0.20000000298023224}],&quot;type&quot;:3},&quot;glow&quot;:{&quot;colorType&quot;:0},&quot;line&quot;:{&quot;gradient&quot;:[{&quot;brightness&quot;:0,&quot;colorType&quot;:1,&quot;foreColorIndex&quot;:5,&quot;pos&quot;:0,&quot;transparency&quot;:0.15000000596046448},{&quot;brightness&quot;:0,&quot;colorType&quot;:1,&quot;foreColorIndex&quot;:5,&quot;pos&quot;:0.6800000071525574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56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0962_5*n_h_a*1_1_1"/>
  <p:tag name="KSO_WM_TEMPLATE_CATEGORY" val="diagram"/>
  <p:tag name="KSO_WM_TEMPLATE_INDEX" val="2023096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8.4065673828125,&quot;left&quot;:52.95,&quot;top&quot;:116.2,&quot;width&quot;:861.4975590551181}"/>
  <p:tag name="KSO_WM_DIAGRAM_COLOR_MATCH_VALUE" val="{&quot;shape&quot;:{&quot;fill&quot;:{&quot;gradient&quot;:[{&quot;brightness&quot;:0.949999988079071,&quot;colorType&quot;:1,&quot;foreColorIndex&quot;:5,&quot;pos&quot;:0,&quot;transparency&quot;:1},{&quot;brightness&quot;:0.4000000059604645,&quot;colorType&quot;:1,&quot;foreColorIndex&quot;:5,&quot;pos&quot;:0.800000011920929,&quot;transparency&quot;:0.699999988079071}],&quot;type&quot;:3},&quot;glow&quot;:{&quot;colorType&quot;:0},&quot;line&quot;:{&quot;gradient&quot;:[{&quot;brightness&quot;:0,&quot;colorType&quot;:1,&quot;foreColorIndex&quot;:5,&quot;pos&quot;:0.25999999046325684,&quot;transparency&quot;:1},{&quot;brightness&quot;:0,&quot;colorType&quot;:1,&quot;foreColorIndex&quot;:5,&quot;pos&quot;:1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此处&#10;添加标题"/>
  <p:tag name="KSO_WM_UNIT_FILL_TYPE" val="3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3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3.1057012410802,&quot;left&quot;:52.95,&quot;top&quot;:131.50086614173227,&quot;width&quot;:839.4975590551181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1"/>
  <p:tag name="KSO_WM_UNIT_FILL_TYPE" val="3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2_5*n_h_h_i*1_2_5_1"/>
  <p:tag name="KSO_WM_TEMPLATE_CATEGORY" val="diagram"/>
  <p:tag name="KSO_WM_TEMPLATE_INDEX" val="20230962"/>
  <p:tag name="KSO_WM_UNIT_LAYERLEVEL" val="1_1_1_1"/>
  <p:tag name="KSO_WM_TAG_VERSION" val="3.0"/>
  <p:tag name="KSO_WM_DIAGRAM_GROUP_CODE" val="n1-1"/>
  <p:tag name="KSO_WM_UNIT_TYPE" val="n_h_h_i"/>
  <p:tag name="KSO_WM_UNIT_INDEX" val="1_2_5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3.1057012410802,&quot;left&quot;:52.95,&quot;top&quot;:131.50086614173227,&quot;width&quot;:861.4975590551181}"/>
  <p:tag name="KSO_WM_DIAGRAM_COLOR_MATCH_VALUE" val="{&quot;shape&quot;:{&quot;fill&quot;:{&quot;gradient&quot;:[{&quot;brightness&quot;:0.800000011920929,&quot;colorType&quot;:1,&quot;foreColorIndex&quot;:5,&quot;pos&quot;:1,&quot;transparency&quot;:0},{&quot;brightness&quot;:0.4000000059604645,&quot;colorType&quot;:1,&quot;foreColorIndex&quot;:5,&quot;pos&quot;:0,&quot;transparency&quot;:0},{&quot;brightness&quot;:0,&quot;colorType&quot;:1,&quot;foreColorIndex&quot;:5,&quot;pos&quot;:0.3400000035762787,&quot;transparency&quot;:0},{&quot;brightness&quot;:0,&quot;colorType&quot;:1,&quot;foreColorIndex&quot;:5,&quot;pos&quot;:0.6200000047683716,&quot;transparency&quot;:0}],&quot;type&quot;:3},&quot;glow&quot;:{&quot;colorType&quot;:0},&quot;line&quot;:{&quot;gradient&quot;:[{&quot;brightness&quot;:0.800000011920929,&quot;colorType&quot;:1,&quot;foreColorIndex&quot;:5,&quot;pos&quot;:0,&quot;transparency&quot;:0},{&quot;brightness&quot;:0.949999988079071,&quot;colorType&quot;:2,&quot;pos&quot;:0.3700000047683716,&quot;rgb&quot;:&quot;#fdfeff&quot;,&quot;transparency&quot;:0},{&quot;brightness&quot;:0.800000011920929,&quot;colorType&quot;:1,&quot;foreColorIndex&quot;:5,&quot;pos&quot;:0.7099999785423279,&quot;transparency&quot;:0},{&quot;brightness&quot;:0,&quot;colorType&quot;:2,&quot;pos&quot;:1,&quot;rgb&quot;:&quot;#ffffff&quot;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4"/>
  <p:tag name="KSO_WM_UNIT_TEXT_FILL_TYPE" val="1"/>
  <p:tag name="KSO_WM_UNIT_USESOURCEFORMAT_APPLY" val="1"/>
  <p:tag name="KSO_WM_UNIT_FILL_TYPE" val="3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SLIDE_ID" val="custom40492928_1"/>
  <p:tag name="KSO_WM_TEMPLATE_SUBCATEGORY" val="0"/>
  <p:tag name="KSO_WM_TEMPLATE_MASTER_TYPE" val="0"/>
  <p:tag name="KSO_WM_TEMPLATE_COLOR_TYPE" val="0"/>
  <p:tag name="KSO_WM_SLIDE_ITEM_CNT" val="6"/>
  <p:tag name="KSO_WM_SLIDE_INDEX" val="1"/>
  <p:tag name="KSO_WM_TAG_VERSION" val="3.0"/>
  <p:tag name="KSO_WM_BEAUTIFY_FLAG" val="#wm#"/>
  <p:tag name="KSO_WM_TEMPLATE_CATEGORY" val="custom"/>
  <p:tag name="KSO_WM_TEMPLATE_INDEX" val="40492928"/>
  <p:tag name="KSO_WM_SLIDE_TYPE" val="text"/>
  <p:tag name="KSO_WM_SLIDE_SUBTYPE" val="picTxt"/>
  <p:tag name="KSO_WM_SLIDE_SIZE" val="822.75*317.062"/>
  <p:tag name="KSO_WM_SLIDE_POSITION" val="69.65*159.089"/>
  <p:tag name="KSO_WM_SLIDE_LAYOUT" val="a_n"/>
  <p:tag name="KSO_WM_SLIDE_LAYOUT_CNT" val="1_1"/>
  <p:tag name="KSO_WM_SPECIAL_SOURCE" val="bdnull"/>
  <p:tag name="KSO_WM_DIAGRAM_GROUP_CODE" val="n1-1"/>
  <p:tag name="KSO_WM_SLIDE_DIAGTYPE" val="n"/>
  <p:tag name="resource_record_key" val="{&quot;65&quot;:[40492928],&quot;70&quot;:[3312594]}"/>
</p:tagLst>
</file>

<file path=ppt/tags/tag39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40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41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42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43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44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45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46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47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48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49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0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1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2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3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4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5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6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57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8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59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60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61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62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63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64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65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66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67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68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69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70.xml><?xml version="1.0" encoding="utf-8"?>
<p:tagLst xmlns:p="http://schemas.openxmlformats.org/presentationml/2006/main">
  <p:tag name="KSO_WM_DIAGRAM_VIRTUALLY_FRAME" val="{&quot;height&quot;:280,&quot;left&quot;:350,&quot;top&quot;:140,&quot;width&quot;:550}"/>
</p:tagLst>
</file>

<file path=ppt/tags/tag71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72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73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74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75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76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77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78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79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80.xml><?xml version="1.0" encoding="utf-8"?>
<p:tagLst xmlns:p="http://schemas.openxmlformats.org/presentationml/2006/main">
  <p:tag name="KSO_WM_DIAGRAM_VIRTUALLY_FRAME" val="{&quot;height&quot;:261.4,&quot;left&quot;:350,&quot;top&quot;:130,&quot;width&quot;:576.15}"/>
</p:tagLst>
</file>

<file path=ppt/tags/tag81.xml><?xml version="1.0" encoding="utf-8"?>
<p:tagLst xmlns:p="http://schemas.openxmlformats.org/presentationml/2006/main">
  <p:tag name="KSO_WM_SLIDE_ID" val="diagram20231636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1636"/>
  <p:tag name="KSO_WM_SLIDE_TYPE" val="text"/>
  <p:tag name="KSO_WM_SLIDE_SUBTYPE" val="diag"/>
  <p:tag name="KSO_WM_SLIDE_SIZE" val="850.394*351.675"/>
  <p:tag name="KSO_WM_SLIDE_POSITION" val="54.8031*136.966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82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NDEX" val="1_2_1_1"/>
  <p:tag name="KSO_WM_TEMPLATE_CATEGORY" val="diagram"/>
  <p:tag name="KSO_WM_TEMPLATE_INDEX" val="20233163"/>
  <p:tag name="KSO_WM_UNIT_LAYERLEVEL" val="1_1_1_1"/>
  <p:tag name="KSO_WM_TAG_VERSION" val="3.0"/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99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88.08322834645674,&quot;left&quot;:42.078260142409,&quot;top&quot;:122.63094488188976,&quot;width&quot;:863.121826171875}"/>
  <p:tag name="KSO_WM_UNIT_ISCONTENTSTITLE" val="0"/>
  <p:tag name="KSO_WM_UNIT_ISNUMDGMTITLE" val="0"/>
  <p:tag name="KSO_WM_UNIT_NOCLEAR" val="0"/>
  <p:tag name="KSO_WM_UNIT_TYPE" val="n_h_h_a"/>
  <p:tag name="KSO_WM_UNIT_ID" val="diagram20233163_1*n_h_h_a*1_2_1_1"/>
  <p:tag name="KSO_WM_UNIT_VALUE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88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89.xml><?xml version="1.0" encoding="utf-8"?>
<p:tagLst xmlns:p="http://schemas.openxmlformats.org/presentationml/2006/main">
  <p:tag name="KSO_WM_DIAGRAM_VIRTUALLY_FRAME" val="{&quot;height&quot;:285,&quot;left&quot;:330,&quot;top&quot;:140,&quot;width&quot;:570}"/>
</p:tagLst>
</file>

<file path=ppt/tags/tag90.xml><?xml version="1.0" encoding="utf-8"?>
<p:tagLst xmlns:p="http://schemas.openxmlformats.org/presentationml/2006/main">
  <p:tag name="KSO_WM_DIAGRAM_VIRTUALLY_FRAME" val="{&quot;height&quot;:285,&quot;left&quot;:330,&quot;top&quot;:140,&quot;width&quot;:570}"/>
</p:tagLst>
</file>

<file path=ppt/tags/tag91.xml><?xml version="1.0" encoding="utf-8"?>
<p:tagLst xmlns:p="http://schemas.openxmlformats.org/presentationml/2006/main">
  <p:tag name="KSO_WM_DIAGRAM_VIRTUALLY_FRAME" val="{&quot;height&quot;:285,&quot;left&quot;:330,&quot;top&quot;:140,&quot;width&quot;:570}"/>
</p:tagLst>
</file>

<file path=ppt/tags/tag92.xml><?xml version="1.0" encoding="utf-8"?>
<p:tagLst xmlns:p="http://schemas.openxmlformats.org/presentationml/2006/main">
  <p:tag name="KSO_WM_DIAGRAM_VIRTUALLY_FRAME" val="{&quot;height&quot;:285,&quot;left&quot;:330,&quot;top&quot;:140,&quot;width&quot;:570}"/>
</p:tagLst>
</file>

<file path=ppt/tags/tag93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94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95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96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97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98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99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0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1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2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3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4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5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6.xml><?xml version="1.0" encoding="utf-8"?>
<p:tagLst xmlns:p="http://schemas.openxmlformats.org/presentationml/2006/main">
  <p:tag name="KSO_WM_DIAGRAM_VIRTUALLY_FRAME" val="{&quot;height&quot;:238.3,&quot;left&quot;:60,&quot;top&quot;:130,&quot;width&quot;:851.65}"/>
</p:tagLst>
</file>

<file path=ppt/tags/tag107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08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09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0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1.xml><?xml version="1.0" encoding="utf-8"?>
<p:tagLst xmlns:p="http://schemas.openxmlformats.org/presentationml/2006/main">
  <p:tag name="KSO_WM_DIAGRAM_VIRTUALLY_FRAME" val="{&quot;height&quot;:301.35,&quot;left&quot;:209.8,&quot;top&quot;:160.9,&quot;width&quot;:613}"/>
</p:tagLst>
</file>

<file path=ppt/tags/tag112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13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14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15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16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17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18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19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0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1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2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3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4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5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6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7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8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29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30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31.xml><?xml version="1.0" encoding="utf-8"?>
<p:tagLst xmlns:p="http://schemas.openxmlformats.org/presentationml/2006/main">
  <p:tag name="KSO_WM_DIAGRAM_VIRTUALLY_FRAME" val="{&quot;height&quot;:337.6,&quot;left&quot;:257.45,&quot;top&quot;:16.65,&quot;width&quot;:432.95}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commondata" val="eyJoZGlkIjoiNDM3YmUzODhiYTU1YWFkNTFhNDM4NjQ5M2M3NWNkMTUifQ=="/>
  <p:tag name="resource_record_key" val="{&quot;29&quot;:[50000076,50000031],&quot;65&quot;:[40492928],&quot;70&quot;:[3312594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12682</Words>
  <Application>WPS 演示</Application>
  <PresentationFormat>自定义</PresentationFormat>
  <Paragraphs>743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FZYouH_510M</vt:lpstr>
      <vt:lpstr>Segoe Print</vt:lpstr>
      <vt:lpstr>微软雅黑</vt:lpstr>
      <vt:lpstr>FZYouH_508R</vt:lpstr>
      <vt:lpstr>Noto Serif SC</vt:lpstr>
      <vt:lpstr>Noto Sans SC</vt:lpstr>
      <vt:lpstr>Wingdings</vt:lpstr>
      <vt:lpstr>+中文标题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钟欣-HG32118</dc:creator>
  <cp:lastModifiedBy>皇左文策</cp:lastModifiedBy>
  <cp:revision>345</cp:revision>
  <dcterms:created xsi:type="dcterms:W3CDTF">2023-04-20T03:20:00Z</dcterms:created>
  <dcterms:modified xsi:type="dcterms:W3CDTF">2026-05-11T05:45:56Z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9A412AC9E62F4775A87B32614B348703_13</vt:lpwstr>
  </property>
  <property fmtid="{D5CDD505-2E9C-101B-9397-08002B2CF9AE}" pid="3" name="KSOProductBuildVer">
    <vt:lpwstr>2052-12.1.0.25865</vt:lpwstr>
  </property>
</Properties>
</file>