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61" r:id="rId3"/>
    <p:sldId id="665" r:id="rId5"/>
    <p:sldId id="667" r:id="rId6"/>
    <p:sldId id="659" r:id="rId7"/>
  </p:sldIdLst>
  <p:sldSz cx="12192000" cy="6858000"/>
  <p:notesSz cx="9144000" cy="6858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5" userDrawn="1">
          <p15:clr>
            <a:srgbClr val="A4A3A4"/>
          </p15:clr>
        </p15:guide>
        <p15:guide id="2" pos="36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54A7"/>
    <a:srgbClr val="AD2D2D"/>
    <a:srgbClr val="0070C0"/>
    <a:srgbClr val="FFD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93" d="100"/>
          <a:sy n="93" d="100"/>
        </p:scale>
        <p:origin x="-132" y="-1134"/>
      </p:cViewPr>
      <p:guideLst>
        <p:guide orient="horz" pos="2435"/>
        <p:guide pos="36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88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562C9-D1D7-41F1-AA2A-B1961229F0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850D2-B7D3-4387-8F63-665DFC42E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1" y="1122363"/>
            <a:ext cx="91444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1" y="3602038"/>
            <a:ext cx="914442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89" y="1709739"/>
            <a:ext cx="105160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89" y="4589464"/>
            <a:ext cx="105160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38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487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365126"/>
            <a:ext cx="10516087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27" y="1681163"/>
            <a:ext cx="51580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27" y="2505075"/>
            <a:ext cx="515802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486" y="1681163"/>
            <a:ext cx="518342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486" y="2505075"/>
            <a:ext cx="518342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365125"/>
            <a:ext cx="10516235" cy="469900"/>
          </a:xfrm>
        </p:spPr>
        <p:txBody>
          <a:bodyPr>
            <a:noAutofit/>
          </a:bodyPr>
          <a:lstStyle>
            <a:lvl1pPr>
              <a:defRPr sz="2400" b="1">
                <a:solidFill>
                  <a:srgbClr val="0054A7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305" y="365125"/>
            <a:ext cx="2629022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38" y="365125"/>
            <a:ext cx="773465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39" y="365126"/>
            <a:ext cx="10516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39" y="1825625"/>
            <a:ext cx="105160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38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788" y="6356351"/>
            <a:ext cx="4114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001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9" Type="http://schemas.openxmlformats.org/officeDocument/2006/relationships/notesSlide" Target="../notesSlides/notesSlide1.x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8" Type="http://schemas.openxmlformats.org/officeDocument/2006/relationships/notesSlide" Target="../notesSlides/notesSlide2.xml"/><Relationship Id="rId37" Type="http://schemas.openxmlformats.org/officeDocument/2006/relationships/slideLayout" Target="../slideLayouts/slideLayout6.xml"/><Relationship Id="rId36" Type="http://schemas.openxmlformats.org/officeDocument/2006/relationships/tags" Target="../tags/tag87.xml"/><Relationship Id="rId35" Type="http://schemas.openxmlformats.org/officeDocument/2006/relationships/tags" Target="../tags/tag86.xml"/><Relationship Id="rId34" Type="http://schemas.openxmlformats.org/officeDocument/2006/relationships/tags" Target="../tags/tag85.xml"/><Relationship Id="rId33" Type="http://schemas.openxmlformats.org/officeDocument/2006/relationships/tags" Target="../tags/tag84.xml"/><Relationship Id="rId32" Type="http://schemas.openxmlformats.org/officeDocument/2006/relationships/tags" Target="../tags/tag83.xml"/><Relationship Id="rId31" Type="http://schemas.openxmlformats.org/officeDocument/2006/relationships/tags" Target="../tags/tag82.xml"/><Relationship Id="rId30" Type="http://schemas.openxmlformats.org/officeDocument/2006/relationships/tags" Target="../tags/tag81.xml"/><Relationship Id="rId3" Type="http://schemas.openxmlformats.org/officeDocument/2006/relationships/tags" Target="../tags/tag54.xml"/><Relationship Id="rId29" Type="http://schemas.openxmlformats.org/officeDocument/2006/relationships/tags" Target="../tags/tag80.xml"/><Relationship Id="rId28" Type="http://schemas.openxmlformats.org/officeDocument/2006/relationships/tags" Target="../tags/tag79.xml"/><Relationship Id="rId27" Type="http://schemas.openxmlformats.org/officeDocument/2006/relationships/tags" Target="../tags/tag78.xml"/><Relationship Id="rId26" Type="http://schemas.openxmlformats.org/officeDocument/2006/relationships/tags" Target="../tags/tag77.xml"/><Relationship Id="rId25" Type="http://schemas.openxmlformats.org/officeDocument/2006/relationships/tags" Target="../tags/tag76.xml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tags" Target="../tags/tag73.xml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tags" Target="../tags/tag53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矩形 52"/>
          <p:cNvSpPr/>
          <p:nvPr/>
        </p:nvSpPr>
        <p:spPr>
          <a:xfrm>
            <a:off x="4649470" y="4072890"/>
            <a:ext cx="6156000" cy="237553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49470" y="1259205"/>
            <a:ext cx="6156000" cy="237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标题 1"/>
          <p:cNvSpPr>
            <a:spLocks noGrp="1"/>
          </p:cNvSpPr>
          <p:nvPr/>
        </p:nvSpPr>
        <p:spPr>
          <a:xfrm>
            <a:off x="4828540" y="1067435"/>
            <a:ext cx="1144270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费希特</a:t>
            </a:r>
            <a:endParaRPr lang="zh-CN" altLang="en-US" sz="16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p>
            <a:r>
              <a:rPr lang="zh-CN" altLang="en-US"/>
              <a:t>宇宙观演变（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9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58130" y="4383723"/>
            <a:ext cx="1467485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现象界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标题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401310" y="4833620"/>
            <a:ext cx="1467485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纯粹理性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标题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401310" y="5292725"/>
            <a:ext cx="1467485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现象物自体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标题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401310" y="5751830"/>
            <a:ext cx="1467485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知性为自然立法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标题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986905" y="5098415"/>
            <a:ext cx="1467485" cy="73723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审美判断力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桥梁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标题 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491220" y="4383723"/>
            <a:ext cx="1467485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物质体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超越界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标题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559165" y="4833620"/>
            <a:ext cx="1467485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道德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标题 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566785" y="5140325"/>
            <a:ext cx="1467485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理性的自我立法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标题 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434070" y="5447348"/>
            <a:ext cx="1798955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灵魂不灭，自由意志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标题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15935" y="5753735"/>
            <a:ext cx="236855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上帝存在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7149465" y="5500370"/>
            <a:ext cx="1168400" cy="5080"/>
          </a:xfrm>
          <a:prstGeom prst="line">
            <a:avLst/>
          </a:prstGeom>
          <a:ln w="3175">
            <a:solidFill>
              <a:srgbClr val="0054A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标题 1"/>
          <p:cNvSpPr>
            <a:spLocks noGrp="1"/>
          </p:cNvSpPr>
          <p:nvPr/>
        </p:nvSpPr>
        <p:spPr>
          <a:xfrm>
            <a:off x="4897120" y="3870960"/>
            <a:ext cx="1000760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康</a:t>
            </a:r>
            <a:r>
              <a:rPr lang="en-US" altLang="zh-CN" sz="1600">
                <a:sym typeface="+mn-ea"/>
              </a:rPr>
              <a:t>   </a:t>
            </a:r>
            <a:r>
              <a:rPr lang="zh-CN" altLang="en-US" sz="1600">
                <a:sym typeface="+mn-ea"/>
              </a:rPr>
              <a:t>德</a:t>
            </a:r>
            <a:endParaRPr lang="zh-CN" altLang="en-US" sz="1600">
              <a:sym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156970" y="4072890"/>
            <a:ext cx="3073400" cy="237553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156970" y="1259205"/>
            <a:ext cx="3047365" cy="237680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38910" y="1821902"/>
            <a:ext cx="2374265" cy="1360152"/>
            <a:chOff x="1293" y="3194"/>
            <a:chExt cx="3218" cy="1721"/>
          </a:xfrm>
        </p:grpSpPr>
        <p:sp>
          <p:nvSpPr>
            <p:cNvPr id="3" name="标题 3"/>
            <p:cNvSpPr>
              <a:spLocks noGrp="1"/>
            </p:cNvSpPr>
            <p:nvPr>
              <p:custDataLst>
                <p:tags r:id="rId11"/>
              </p:custDataLst>
            </p:nvPr>
          </p:nvSpPr>
          <p:spPr>
            <a:xfrm>
              <a:off x="1878" y="3194"/>
              <a:ext cx="2249" cy="52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太一</a:t>
              </a:r>
              <a:endPara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标题 3"/>
            <p:cNvSpPr>
              <a:spLocks noGrp="1"/>
            </p:cNvSpPr>
            <p:nvPr>
              <p:custDataLst>
                <p:tags r:id="rId12"/>
              </p:custDataLst>
            </p:nvPr>
          </p:nvSpPr>
          <p:spPr>
            <a:xfrm>
              <a:off x="1878" y="3785"/>
              <a:ext cx="2249" cy="52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Nous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标题 3"/>
            <p:cNvSpPr>
              <a:spLocks noGrp="1"/>
            </p:cNvSpPr>
            <p:nvPr>
              <p:custDataLst>
                <p:tags r:id="rId13"/>
              </p:custDataLst>
            </p:nvPr>
          </p:nvSpPr>
          <p:spPr>
            <a:xfrm>
              <a:off x="1878" y="4391"/>
              <a:ext cx="2249" cy="52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zh-CN" altLang="en-US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自然世界</a:t>
              </a:r>
              <a:endPara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标题 3"/>
            <p:cNvSpPr>
              <a:spLocks noGrp="1"/>
            </p:cNvSpPr>
            <p:nvPr>
              <p:custDataLst>
                <p:tags r:id="rId14"/>
              </p:custDataLst>
            </p:nvPr>
          </p:nvSpPr>
          <p:spPr>
            <a:xfrm>
              <a:off x="1293" y="3511"/>
              <a:ext cx="1216" cy="933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↓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50000"/>
                </a:lnSpc>
              </a:pPr>
              <a:r>
                <a:rPr lang="zh-CN" altLang="en-US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流溢</a:t>
              </a:r>
              <a:endPara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标题 3"/>
            <p:cNvSpPr>
              <a:spLocks noGrp="1"/>
            </p:cNvSpPr>
            <p:nvPr>
              <p:custDataLst>
                <p:tags r:id="rId15"/>
              </p:custDataLst>
            </p:nvPr>
          </p:nvSpPr>
          <p:spPr>
            <a:xfrm>
              <a:off x="3636" y="3511"/>
              <a:ext cx="875" cy="933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↑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50000"/>
                </a:lnSpc>
              </a:pPr>
              <a:r>
                <a:rPr lang="zh-CN" altLang="en-US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回溯</a:t>
              </a:r>
              <a:endPara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2" name="标题 1"/>
          <p:cNvSpPr>
            <a:spLocks noGrp="1"/>
          </p:cNvSpPr>
          <p:nvPr/>
        </p:nvSpPr>
        <p:spPr>
          <a:xfrm>
            <a:off x="1438910" y="3839210"/>
            <a:ext cx="960755" cy="49466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基督教</a:t>
            </a:r>
            <a:endParaRPr lang="zh-CN" altLang="en-US" sz="1600">
              <a:sym typeface="+mn-ea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1424305" y="1067435"/>
            <a:ext cx="1373505" cy="49466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1600">
                <a:sym typeface="+mn-ea"/>
              </a:rPr>
              <a:t>柏拉图主义</a:t>
            </a:r>
            <a:endParaRPr lang="zh-CN" altLang="en-US" sz="1600">
              <a:sym typeface="+mn-ea"/>
            </a:endParaRPr>
          </a:p>
        </p:txBody>
      </p:sp>
      <p:sp>
        <p:nvSpPr>
          <p:cNvPr id="23" name="标题 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916295" y="1649095"/>
            <a:ext cx="1188085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三层结构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标题 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864735" y="2408555"/>
            <a:ext cx="108331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本原显现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标题 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864735" y="2703830"/>
            <a:ext cx="108331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Logos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标题 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897563" y="2587625"/>
            <a:ext cx="1296000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绝对自我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标题 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5897563" y="3001645"/>
            <a:ext cx="1296000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有限自我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标题 3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7559675" y="2067560"/>
            <a:ext cx="3251200" cy="15367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有限自我克服非我，回归绝对自我</a:t>
            </a:r>
            <a:endParaRPr lang="zh-CN" sz="1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人通过信仰回归上帝</a:t>
            </a:r>
            <a:endParaRPr lang="zh-CN" sz="1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自然因果必然性是自我实现自由自我所设的限制</a:t>
            </a:r>
            <a:endParaRPr lang="zh-CN" altLang="en-US" sz="1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自我</a:t>
            </a:r>
            <a:r>
              <a:rPr lang="en-US" altLang="zh-CN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非我（客观世界）</a:t>
            </a:r>
            <a:r>
              <a:rPr lang="zh-CN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是Logos分化出的现象整体</a:t>
            </a:r>
            <a:endParaRPr lang="zh-CN" sz="1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世界存在的目的是让绝对自我在道德实践中完成自身</a:t>
            </a:r>
            <a:endParaRPr lang="zh-CN" altLang="en-US" sz="1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5954395" y="2057400"/>
            <a:ext cx="1188085" cy="5715"/>
          </a:xfrm>
          <a:prstGeom prst="line">
            <a:avLst/>
          </a:prstGeom>
          <a:ln w="3175">
            <a:solidFill>
              <a:srgbClr val="0054A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标题 3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1308735" y="4606925"/>
            <a:ext cx="106299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上帝创世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标题 3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2398395" y="4606925"/>
            <a:ext cx="163576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恩典、救赎、启示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标题 3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1308735" y="5112385"/>
            <a:ext cx="106299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道成肉身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标题 3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1297940" y="5576570"/>
            <a:ext cx="106299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人的响应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标题 3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2588895" y="5576570"/>
            <a:ext cx="1198880" cy="41402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自然、理性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2587625" y="5333365"/>
            <a:ext cx="1243330" cy="0"/>
          </a:xfrm>
          <a:prstGeom prst="line">
            <a:avLst/>
          </a:prstGeom>
          <a:ln w="6350" cap="flat" cmpd="sng" algn="ctr">
            <a:solidFill>
              <a:srgbClr val="0054A7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897563" y="2173605"/>
            <a:ext cx="129600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神圣本原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34070" y="4833620"/>
            <a:ext cx="1763395" cy="1409065"/>
          </a:xfrm>
          <a:prstGeom prst="rect">
            <a:avLst/>
          </a:prstGeom>
          <a:noFill/>
          <a:ln w="3175">
            <a:solidFill>
              <a:srgbClr val="0054A7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71770" y="4833620"/>
            <a:ext cx="1763395" cy="1408430"/>
          </a:xfrm>
          <a:prstGeom prst="rect">
            <a:avLst/>
          </a:prstGeom>
          <a:noFill/>
          <a:ln w="3175">
            <a:solidFill>
              <a:srgbClr val="0054A7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下箭头 69"/>
          <p:cNvSpPr/>
          <p:nvPr/>
        </p:nvSpPr>
        <p:spPr>
          <a:xfrm>
            <a:off x="3471962" y="3547378"/>
            <a:ext cx="252000" cy="324000"/>
          </a:xfrm>
          <a:prstGeom prst="downArrow">
            <a:avLst/>
          </a:prstGeom>
          <a:solidFill>
            <a:srgbClr val="0054A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下箭头 70"/>
          <p:cNvSpPr/>
          <p:nvPr/>
        </p:nvSpPr>
        <p:spPr>
          <a:xfrm rot="16200000">
            <a:off x="4117122" y="5954663"/>
            <a:ext cx="252000" cy="324000"/>
          </a:xfrm>
          <a:prstGeom prst="downArrow">
            <a:avLst/>
          </a:prstGeom>
          <a:solidFill>
            <a:srgbClr val="0054A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下箭头 71"/>
          <p:cNvSpPr/>
          <p:nvPr/>
        </p:nvSpPr>
        <p:spPr>
          <a:xfrm rot="10800000">
            <a:off x="10232807" y="3871863"/>
            <a:ext cx="252000" cy="324000"/>
          </a:xfrm>
          <a:prstGeom prst="downArrow">
            <a:avLst/>
          </a:prstGeom>
          <a:solidFill>
            <a:srgbClr val="0054A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 rot="16200000">
            <a:off x="10752237" y="1885583"/>
            <a:ext cx="252000" cy="324000"/>
          </a:xfrm>
          <a:prstGeom prst="downArrow">
            <a:avLst/>
          </a:prstGeom>
          <a:solidFill>
            <a:srgbClr val="0054A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标题 69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宇宙观演变（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86790" y="1148715"/>
            <a:ext cx="10338435" cy="14763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214755" y="960120"/>
            <a:ext cx="1270635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谢林（早期）</a:t>
            </a:r>
            <a:endParaRPr lang="en-US" altLang="zh-CN" sz="1600">
              <a:sym typeface="+mn-ea"/>
            </a:endParaRPr>
          </a:p>
        </p:txBody>
      </p:sp>
      <p:sp>
        <p:nvSpPr>
          <p:cNvPr id="5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93165" y="1863408"/>
            <a:ext cx="93218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r" fontAlgn="auto">
              <a:lnSpc>
                <a:spcPct val="150000"/>
              </a:lnSpc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绝对同一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标题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540635" y="1591628"/>
            <a:ext cx="3763645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自然哲学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物质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意识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精神，顶点是人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标题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40635" y="2211388"/>
            <a:ext cx="969010" cy="3067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00000"/>
              </a:lnSpc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先验哲学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标题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589135" y="1701801"/>
            <a:ext cx="117030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自然与理智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原初同一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肘形连接符 9"/>
          <p:cNvCxnSpPr>
            <a:stCxn id="5" idx="3"/>
            <a:endCxn id="7" idx="1"/>
          </p:cNvCxnSpPr>
          <p:nvPr/>
        </p:nvCxnSpPr>
        <p:spPr>
          <a:xfrm flipV="1">
            <a:off x="2125345" y="1798955"/>
            <a:ext cx="415290" cy="271780"/>
          </a:xfrm>
          <a:prstGeom prst="bentConnector3">
            <a:avLst>
              <a:gd name="adj1" fmla="val 50000"/>
            </a:avLst>
          </a:prstGeom>
          <a:ln>
            <a:solidFill>
              <a:srgbClr val="0054A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5" idx="3"/>
            <a:endCxn id="8" idx="1"/>
          </p:cNvCxnSpPr>
          <p:nvPr/>
        </p:nvCxnSpPr>
        <p:spPr>
          <a:xfrm>
            <a:off x="2125345" y="2070735"/>
            <a:ext cx="415290" cy="294640"/>
          </a:xfrm>
          <a:prstGeom prst="bentConnector3">
            <a:avLst>
              <a:gd name="adj1" fmla="val 50000"/>
            </a:avLst>
          </a:prstGeom>
          <a:ln>
            <a:solidFill>
              <a:srgbClr val="0054A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右中括号 11"/>
          <p:cNvSpPr/>
          <p:nvPr/>
        </p:nvSpPr>
        <p:spPr>
          <a:xfrm>
            <a:off x="9351010" y="1776730"/>
            <a:ext cx="76200" cy="610235"/>
          </a:xfrm>
          <a:prstGeom prst="rightBracket">
            <a:avLst/>
          </a:prstGeom>
          <a:ln>
            <a:solidFill>
              <a:srgbClr val="0054A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stCxn id="12" idx="2"/>
          </p:cNvCxnSpPr>
          <p:nvPr/>
        </p:nvCxnSpPr>
        <p:spPr>
          <a:xfrm>
            <a:off x="9427210" y="2082165"/>
            <a:ext cx="254635" cy="0"/>
          </a:xfrm>
          <a:prstGeom prst="straightConnector1">
            <a:avLst/>
          </a:prstGeom>
          <a:ln>
            <a:solidFill>
              <a:srgbClr val="0054A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标题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132455" y="1186815"/>
            <a:ext cx="1136015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平行演化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85845" y="2211388"/>
            <a:ext cx="5675630" cy="306705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绝对在意识中自觉展开，从感性、知性、理性走向自由实践、艺术直观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80440" y="2860040"/>
            <a:ext cx="10344150" cy="182753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标题 1"/>
          <p:cNvSpPr>
            <a:spLocks noGrp="1"/>
          </p:cNvSpPr>
          <p:nvPr/>
        </p:nvSpPr>
        <p:spPr>
          <a:xfrm>
            <a:off x="1208405" y="2719705"/>
            <a:ext cx="1360170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谢林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（</a:t>
            </a:r>
            <a:r>
              <a:rPr lang="zh-CN" altLang="en-US" sz="1600">
                <a:sym typeface="+mn-ea"/>
              </a:rPr>
              <a:t>中期）</a:t>
            </a:r>
            <a:endParaRPr lang="zh-CN" altLang="en-US" sz="1600">
              <a:sym typeface="+mn-ea"/>
            </a:endParaRPr>
          </a:p>
        </p:txBody>
      </p:sp>
      <p:sp>
        <p:nvSpPr>
          <p:cNvPr id="31" name="标题 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221105" y="3153410"/>
            <a:ext cx="236474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本源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（上帝）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的双重根基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485265" y="3563620"/>
            <a:ext cx="1778000" cy="0"/>
          </a:xfrm>
          <a:prstGeom prst="line">
            <a:avLst/>
          </a:prstGeom>
          <a:ln w="6350">
            <a:solidFill>
              <a:srgbClr val="0054A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标题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111250" y="3586798"/>
            <a:ext cx="317690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深渊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原始意志（黑暗、欲望、潜能）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理性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光明（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Logos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秩序）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标题 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247640" y="3153410"/>
            <a:ext cx="143510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宇宙分化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5085080" y="3563620"/>
            <a:ext cx="1778000" cy="0"/>
          </a:xfrm>
          <a:prstGeom prst="line">
            <a:avLst/>
          </a:prstGeom>
          <a:ln w="6350">
            <a:solidFill>
              <a:srgbClr val="0054A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标题 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28235" y="3586798"/>
            <a:ext cx="270319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上帝内在原始意志挣脱混沌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分化出自然世界，人是宇宙顶点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标题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457565" y="3153410"/>
            <a:ext cx="143510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8286115" y="3563620"/>
            <a:ext cx="1778000" cy="0"/>
          </a:xfrm>
          <a:prstGeom prst="line">
            <a:avLst/>
          </a:prstGeom>
          <a:ln w="6350">
            <a:solidFill>
              <a:srgbClr val="0054A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标题 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201025" y="3587115"/>
            <a:ext cx="3002915" cy="10604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历史是上帝通过人的自由克服内在黑暗完成自我完满的过程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宇宙历史是神自我完成的救赎史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86790" y="4902200"/>
            <a:ext cx="10337800" cy="173291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标题 1"/>
          <p:cNvSpPr>
            <a:spLocks noGrp="1"/>
          </p:cNvSpPr>
          <p:nvPr/>
        </p:nvSpPr>
        <p:spPr>
          <a:xfrm>
            <a:off x="1214755" y="4761865"/>
            <a:ext cx="1360170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谢林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（晚期）</a:t>
            </a:r>
            <a:endParaRPr lang="zh-CN" altLang="en-US" sz="1600">
              <a:sym typeface="+mn-ea"/>
            </a:endParaRPr>
          </a:p>
        </p:txBody>
      </p:sp>
      <p:sp>
        <p:nvSpPr>
          <p:cNvPr id="44" name="标题 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70355" y="5120005"/>
            <a:ext cx="143510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第一阶段：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标题 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221105" y="5484495"/>
            <a:ext cx="3046730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本源：位格化的三位一体的上帝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神的内在永恒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标题 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170170" y="5120005"/>
            <a:ext cx="143510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第二阶段：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标题 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928235" y="5484495"/>
            <a:ext cx="2703195" cy="7372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创世：上帝自动分离自身底层的黑暗潜能，创造客观宇宙及人类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标题 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371205" y="5120005"/>
            <a:ext cx="1435100" cy="414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第三阶段：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标题 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286115" y="5484495"/>
            <a:ext cx="2917825" cy="106045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人类神话，多神教铺垫，最终通过基督启示完成创世救赎，整个宇宙终将回归与神合一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右箭头 53"/>
          <p:cNvSpPr/>
          <p:nvPr/>
        </p:nvSpPr>
        <p:spPr>
          <a:xfrm>
            <a:off x="4422775" y="3865880"/>
            <a:ext cx="315595" cy="207010"/>
          </a:xfrm>
          <a:prstGeom prst="rightArrow">
            <a:avLst/>
          </a:prstGeom>
          <a:noFill/>
          <a:ln>
            <a:solidFill>
              <a:srgbClr val="0054A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右箭头 55"/>
          <p:cNvSpPr/>
          <p:nvPr/>
        </p:nvSpPr>
        <p:spPr>
          <a:xfrm>
            <a:off x="7767320" y="3865880"/>
            <a:ext cx="315595" cy="207010"/>
          </a:xfrm>
          <a:prstGeom prst="rightArrow">
            <a:avLst/>
          </a:prstGeom>
          <a:noFill/>
          <a:ln>
            <a:solidFill>
              <a:srgbClr val="0054A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右箭头 60"/>
          <p:cNvSpPr/>
          <p:nvPr/>
        </p:nvSpPr>
        <p:spPr>
          <a:xfrm>
            <a:off x="4422775" y="5707380"/>
            <a:ext cx="315595" cy="207010"/>
          </a:xfrm>
          <a:prstGeom prst="rightArrow">
            <a:avLst/>
          </a:prstGeom>
          <a:noFill/>
          <a:ln>
            <a:solidFill>
              <a:srgbClr val="0054A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>
            <a:off x="7767320" y="5707380"/>
            <a:ext cx="315595" cy="207010"/>
          </a:xfrm>
          <a:prstGeom prst="rightArrow">
            <a:avLst/>
          </a:prstGeom>
          <a:noFill/>
          <a:ln>
            <a:solidFill>
              <a:srgbClr val="0054A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下箭头 64"/>
          <p:cNvSpPr/>
          <p:nvPr/>
        </p:nvSpPr>
        <p:spPr>
          <a:xfrm rot="16200000">
            <a:off x="889417" y="2199273"/>
            <a:ext cx="252000" cy="324000"/>
          </a:xfrm>
          <a:prstGeom prst="downArrow">
            <a:avLst/>
          </a:prstGeom>
          <a:solidFill>
            <a:srgbClr val="0054A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下箭头 70"/>
          <p:cNvSpPr/>
          <p:nvPr/>
        </p:nvSpPr>
        <p:spPr>
          <a:xfrm rot="16200000">
            <a:off x="11239917" y="6146433"/>
            <a:ext cx="252000" cy="324000"/>
          </a:xfrm>
          <a:prstGeom prst="downArrow">
            <a:avLst/>
          </a:prstGeom>
          <a:solidFill>
            <a:srgbClr val="0054A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宇宙观演变（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96745" y="1625600"/>
            <a:ext cx="8294891" cy="3905885"/>
            <a:chOff x="4642" y="2866"/>
            <a:chExt cx="10222" cy="4813"/>
          </a:xfrm>
        </p:grpSpPr>
        <p:sp>
          <p:nvSpPr>
            <p:cNvPr id="13" name="矩形 12"/>
            <p:cNvSpPr/>
            <p:nvPr/>
          </p:nvSpPr>
          <p:spPr>
            <a:xfrm>
              <a:off x="4642" y="3121"/>
              <a:ext cx="10222" cy="45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4" name="标题 1"/>
            <p:cNvSpPr>
              <a:spLocks noGrp="1"/>
            </p:cNvSpPr>
            <p:nvPr/>
          </p:nvSpPr>
          <p:spPr>
            <a:xfrm>
              <a:off x="4806" y="2866"/>
              <a:ext cx="1732" cy="740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1600"/>
                <a:t>黑格尔</a:t>
              </a:r>
              <a:endParaRPr lang="zh-CN" altLang="en-US" sz="1600"/>
            </a:p>
          </p:txBody>
        </p:sp>
        <p:sp>
          <p:nvSpPr>
            <p:cNvPr id="15" name="弧形 14"/>
            <p:cNvSpPr/>
            <p:nvPr/>
          </p:nvSpPr>
          <p:spPr>
            <a:xfrm>
              <a:off x="7438" y="4445"/>
              <a:ext cx="2697" cy="2639"/>
            </a:xfrm>
            <a:prstGeom prst="arc">
              <a:avLst>
                <a:gd name="adj1" fmla="val 13283653"/>
                <a:gd name="adj2" fmla="val 9403073"/>
              </a:avLst>
            </a:prstGeom>
            <a:ln>
              <a:solidFill>
                <a:srgbClr val="0054A7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标题 3"/>
            <p:cNvSpPr>
              <a:spLocks noGrp="1"/>
            </p:cNvSpPr>
            <p:nvPr>
              <p:custDataLst>
                <p:tags r:id="rId1"/>
              </p:custDataLst>
            </p:nvPr>
          </p:nvSpPr>
          <p:spPr>
            <a:xfrm>
              <a:off x="10135" y="4339"/>
              <a:ext cx="3837" cy="908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哲学是绝对精神自我认识的最高形态</a:t>
              </a:r>
              <a:endPara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50000"/>
                </a:lnSpc>
              </a:pPr>
              <a:r>
                <a:rPr 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理性高于艺术及天启信仰</a:t>
              </a:r>
              <a:endPara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标题 3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7755" y="5111"/>
              <a:ext cx="2010" cy="1307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逻辑</a:t>
              </a:r>
              <a:endPara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50000"/>
                </a:lnSpc>
              </a:pPr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自然</a:t>
              </a:r>
              <a:endPara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50000"/>
                </a:lnSpc>
              </a:pPr>
              <a:r>
                <a:rPr lang="zh-CN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人类历史</a:t>
              </a:r>
              <a:endPara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标题 3"/>
            <p:cNvSpPr>
              <a:spLocks noGrp="1"/>
            </p:cNvSpPr>
            <p:nvPr>
              <p:custDataLst>
                <p:tags r:id="rId3"/>
              </p:custDataLst>
            </p:nvPr>
          </p:nvSpPr>
          <p:spPr>
            <a:xfrm>
              <a:off x="10784" y="6683"/>
              <a:ext cx="1630" cy="510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辩证运动</a:t>
              </a:r>
              <a:endPara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标题 3"/>
            <p:cNvSpPr>
              <a:spLocks noGrp="1"/>
            </p:cNvSpPr>
            <p:nvPr>
              <p:custDataLst>
                <p:tags r:id="rId4"/>
              </p:custDataLst>
            </p:nvPr>
          </p:nvSpPr>
          <p:spPr>
            <a:xfrm>
              <a:off x="5278" y="6550"/>
              <a:ext cx="2160" cy="643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00000"/>
                </a:lnSpc>
              </a:pPr>
              <a:r>
                <a:rPr 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异化、外化</a:t>
              </a:r>
              <a:endPara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道成肉身</a:t>
              </a:r>
              <a:endPara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标题 3"/>
            <p:cNvSpPr>
              <a:spLocks noGrp="1"/>
            </p:cNvSpPr>
            <p:nvPr>
              <p:custDataLst>
                <p:tags r:id="rId5"/>
              </p:custDataLst>
            </p:nvPr>
          </p:nvSpPr>
          <p:spPr>
            <a:xfrm>
              <a:off x="5279" y="4339"/>
              <a:ext cx="2010" cy="510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rgbClr val="0054A7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algn="ctr" fontAlgn="auto">
                <a:lnSpc>
                  <a:spcPct val="150000"/>
                </a:lnSpc>
              </a:pPr>
              <a:r>
                <a:rPr lang="zh-CN" sz="1400" b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绝对精神</a:t>
              </a:r>
              <a:endPara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5" name="下箭头 64"/>
          <p:cNvSpPr/>
          <p:nvPr/>
        </p:nvSpPr>
        <p:spPr>
          <a:xfrm rot="16200000">
            <a:off x="1742222" y="2275473"/>
            <a:ext cx="252000" cy="324000"/>
          </a:xfrm>
          <a:prstGeom prst="downArrow">
            <a:avLst/>
          </a:prstGeom>
          <a:solidFill>
            <a:srgbClr val="0054A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3014345" y="1189990"/>
            <a:ext cx="8914765" cy="5393055"/>
          </a:xfrm>
          <a:prstGeom prst="rect">
            <a:avLst/>
          </a:prstGeom>
          <a:solidFill>
            <a:schemeClr val="bg1"/>
          </a:solidFill>
          <a:ln w="6350">
            <a:solidFill>
              <a:srgbClr val="0054A7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9240" y="1456690"/>
            <a:ext cx="6930390" cy="495681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神学、哲学及其交叉领域核心问题图谱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72440" y="1253490"/>
            <a:ext cx="966470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600"/>
              <a:t>神学</a:t>
            </a:r>
            <a:endParaRPr lang="zh-CN" altLang="en-US" sz="160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892800" y="1261110"/>
            <a:ext cx="1106805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600"/>
              <a:t>交叉领域</a:t>
            </a:r>
            <a:endParaRPr lang="zh-CN" altLang="en-US" sz="160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0746105" y="986155"/>
            <a:ext cx="927735" cy="469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600"/>
              <a:t>哲学</a:t>
            </a:r>
            <a:endParaRPr lang="zh-CN" altLang="en-US" sz="1600"/>
          </a:p>
        </p:txBody>
      </p:sp>
      <p:sp>
        <p:nvSpPr>
          <p:cNvPr id="8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2440" y="1845310"/>
            <a:ext cx="252539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上帝创世、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原罪救赎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标题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72440" y="2261870"/>
            <a:ext cx="252539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三位一体、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道成肉身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标题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72440" y="2681605"/>
            <a:ext cx="252539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奇迹、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恩典、因信称义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标题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72440" y="3106420"/>
            <a:ext cx="252539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圣爱、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爱神爱人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标题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72440" y="3533140"/>
            <a:ext cx="260604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十字架复活、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代赎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2440" y="3981450"/>
            <a:ext cx="252539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末日审判、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天国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地狱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标题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72440" y="4834890"/>
            <a:ext cx="252476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使徒精神、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教会、仪式、诫命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标题 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72440" y="5287645"/>
            <a:ext cx="252539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团契、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灵性培养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标题 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72440" y="5730875"/>
            <a:ext cx="252666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福音传播、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政教关系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标题 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72440" y="4418330"/>
            <a:ext cx="252603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预定拣选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自由意志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标题 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410585" y="1654810"/>
            <a:ext cx="277876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宗教体验、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虔敬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标题 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410585" y="2058035"/>
            <a:ext cx="341312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形而上学冲动、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神秘直观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标题 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410585" y="2490470"/>
            <a:ext cx="246697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共情与圣爱（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Agape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标题 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410585" y="2915920"/>
            <a:ext cx="378904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历史启示、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历史目的论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末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世论、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罪与道德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标题 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3410585" y="3342640"/>
            <a:ext cx="361442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自由意志与预定论、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恶与苦难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标题 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3410585" y="3790950"/>
            <a:ext cx="290893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人的本质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人性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存在关系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标题 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3410585" y="4227830"/>
            <a:ext cx="334645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宗教语言（有限语言能否言说无限上帝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标题 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3410585" y="4657725"/>
            <a:ext cx="402082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政治神学与国家哲学（合法性、正义、共同体建构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标题 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3410585" y="5540375"/>
            <a:ext cx="361315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时间与永恒、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创世论、宇宙设计与现代科学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标题 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3410585" y="5947410"/>
            <a:ext cx="2778760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共同体救赎与和解（解放）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标题 3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3410585" y="5105400"/>
            <a:ext cx="3613785" cy="3683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不朽生死、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末日审判（生死观）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标题 3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7472680" y="5947410"/>
            <a:ext cx="1065530" cy="368300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本体论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——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标题 3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8467090" y="5947410"/>
            <a:ext cx="106553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标题 3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410700" y="5947410"/>
            <a:ext cx="106553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——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标题 3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10257790" y="5947410"/>
            <a:ext cx="813435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生活世界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标题 3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7472680" y="1654810"/>
            <a:ext cx="265303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命运、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三大秩序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标题 3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7472680" y="2518410"/>
            <a:ext cx="449453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理性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自由必然、先验范畴、先验自我、身心关系、主客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标题 3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7472680" y="2950210"/>
            <a:ext cx="420116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理性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意志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欲望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想象力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前意识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潜意识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标题 3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7472680" y="3382010"/>
            <a:ext cx="3453765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工具理性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价值理性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交往理性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标题 3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7472680" y="4245610"/>
            <a:ext cx="399415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权力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共识、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符合论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构造论、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实用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标题 3"/>
          <p:cNvSpPr>
            <a:spLocks noGrp="1"/>
          </p:cNvSpPr>
          <p:nvPr>
            <p:custDataLst>
              <p:tags r:id="rId31"/>
            </p:custDataLst>
          </p:nvPr>
        </p:nvSpPr>
        <p:spPr>
          <a:xfrm>
            <a:off x="7472680" y="4677410"/>
            <a:ext cx="399415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本真存在、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关系共同体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标题 3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7472680" y="5109210"/>
            <a:ext cx="2653665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主体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标题 3"/>
          <p:cNvSpPr>
            <a:spLocks noGrp="1"/>
          </p:cNvSpPr>
          <p:nvPr>
            <p:custDataLst>
              <p:tags r:id="rId33"/>
            </p:custDataLst>
          </p:nvPr>
        </p:nvSpPr>
        <p:spPr>
          <a:xfrm>
            <a:off x="7472680" y="5541010"/>
            <a:ext cx="385064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社会运行机制：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政治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伦理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实践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标题 3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7472680" y="2086610"/>
            <a:ext cx="3994785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本原、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本质、思维与存在、实体、观念、主善、德性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标题 3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7472680" y="3813810"/>
            <a:ext cx="3850640" cy="36830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54A7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 fontAlgn="auto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语言逻辑、文化符号、历史传统</a:t>
            </a:r>
            <a:endParaRPr 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7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1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7.xml><?xml version="1.0" encoding="utf-8"?>
<p:tagLst xmlns:p="http://schemas.openxmlformats.org/presentationml/2006/main">
  <p:tag name="KSO_WM_AICARD_INVALID" val="Invalid"/>
</p:tagLst>
</file>

<file path=ppt/tags/tag2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2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7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3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5.xml><?xml version="1.0" encoding="utf-8"?>
<p:tagLst xmlns:p="http://schemas.openxmlformats.org/presentationml/2006/main">
  <p:tag name="KSO_WM_AICARD_INVALID" val="Invalid"/>
</p:tagLst>
</file>

<file path=ppt/tags/tag4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7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4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1.xml><?xml version="1.0" encoding="utf-8"?>
<p:tagLst xmlns:p="http://schemas.openxmlformats.org/presentationml/2006/main">
  <p:tag name="KSO_WM_AICARD_INVALID" val="Invalid"/>
</p:tagLst>
</file>

<file path=ppt/tags/tag5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7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5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7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6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7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8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79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0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1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2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3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4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5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6.xml><?xml version="1.0" encoding="utf-8"?>
<p:tagLst xmlns:p="http://schemas.openxmlformats.org/presentationml/2006/main">
  <p:tag name="KSO_WM_DIAGRAM_VIRTUALLY_FRAME" val="{&quot;height&quot;:136.15,&quot;left&quot;:29.2,&quot;top&quot;:110.25,&quot;width&quot;:470.6}"/>
</p:tagLst>
</file>

<file path=ppt/tags/tag87.xml><?xml version="1.0" encoding="utf-8"?>
<p:tagLst xmlns:p="http://schemas.openxmlformats.org/presentationml/2006/main">
  <p:tag name="KSO_WM_AICARD_INVALID" val="Invalid"/>
</p:tagLst>
</file>

<file path=ppt/tags/tag88.xml><?xml version="1.0" encoding="utf-8"?>
<p:tagLst xmlns:p="http://schemas.openxmlformats.org/presentationml/2006/main">
  <p:tag name="commondata" val="eyJoZGlkIjoiNDM3YmUzODhiYTU1YWFkNTFhNDM4NjQ5M2M3NWNkMTUifQ=="/>
  <p:tag name="resource_record_key" val="{&quot;29&quot;:[50000076,50000031,50053104,50000199,50049413],&quot;65&quot;:[40492928],&quot;70&quot;:[3312594,3426356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</Words>
  <Application>WPS 演示</Application>
  <PresentationFormat>自定义</PresentationFormat>
  <Paragraphs>216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宇宙观演变（1）</vt:lpstr>
      <vt:lpstr>宇宙观演变（2）</vt:lpstr>
      <vt:lpstr>宇宙观演变（3）</vt:lpstr>
      <vt:lpstr>神学、哲学及其交叉领域核心问题图谱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钟欣-HG32118</dc:creator>
  <cp:lastModifiedBy>皇左文策</cp:lastModifiedBy>
  <cp:revision>431</cp:revision>
  <dcterms:created xsi:type="dcterms:W3CDTF">2023-04-20T03:20:00Z</dcterms:created>
  <dcterms:modified xsi:type="dcterms:W3CDTF">2026-07-23T06:55:36Z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41B5AD5E857C44E48231AB36249C0A2F_13</vt:lpwstr>
  </property>
  <property fmtid="{D5CDD505-2E9C-101B-9397-08002B2CF9AE}" pid="3" name="KSOProductBuildVer">
    <vt:lpwstr>2052-12.1.0.26895</vt:lpwstr>
  </property>
</Properties>
</file>